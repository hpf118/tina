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fields on every card — name, spot it, adapt — so learners compare types instead of re-reading layouts. Quiz the room: read a 'spot it' line, they name the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chunk names become the program's vocabulary — module names, survey sections, coaching guides. Naming is a design decision, not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of a good acronym frame: cover the tiles and ask the room to rebuild it from the letters alone. If they can't, the letters aren't carrying the content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non-examples teach more than the examples — each one names the neighboring category it belongs to instead. That's what makes the boundary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Exercise: everyone lists Monday's ten tasks, then places them. The room's collective bottom-right pile makes the delegation lesson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managers mark where each of their direct reports sits per task area. The spread — and the surprises — drive the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dots live with the room before revealing your scoring — disagreement about a cell is the most useful conversation this slide can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one-sentence rule is the whole template. If a bucket needs three rules, it's two buckets.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'sounds like' row converts abstractions into rehearsal lines — read them aloud in role-play pairs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group in the room to claim their circle's unique zone out loud. The silence around a zone is the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don'ts should be recognizable, not absurd — each one is something a well-meaning manager actually does. Recognition is what makes the room laugh, then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old-way lines in the room's own words — if the left column doesn't sound familiar, the right column won't sound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6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3.png"/><Relationship Id="rId6" Type="http://schemas.openxmlformats.org/officeDocument/2006/relationships/image" Target="../media/image-16-4.png"/><Relationship Id="rId7" Type="http://schemas.openxmlformats.org/officeDocument/2006/relationships/image" Target="../media/image-16-3.png"/><Relationship Id="rId8" Type="http://schemas.openxmlformats.org/officeDocument/2006/relationships/image" Target="../media/image-16-4.png"/><Relationship Id="rId9" Type="http://schemas.openxmlformats.org/officeDocument/2006/relationships/image" Target="../media/image-16-3.png"/><Relationship Id="rId10" Type="http://schemas.openxmlformats.org/officeDocument/2006/relationships/image" Target="../media/image-16-4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4300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02  · 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Bank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320040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layouts for introducing new information — name it, place it, contrast it, so working memory has somewhere to file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4434840"/>
            <a:ext cx="566928" cy="56692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7" name="Image 0" descr="/home/user/Tina/template-bank/assets/tag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055" y="45709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55648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Name &amp; Chunk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755648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grid · Topic breakdown · Acronym frame · Term card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62272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18304" y="4434840"/>
            <a:ext cx="566928" cy="566928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2" name="Image 1" descr="/home/user/Tina/template-bank/assets/arrowsh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67" y="45709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Sort &amp; Position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matrix · Spectrum · Attribute matrix · Sorting buckets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01584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8357616" y="4434840"/>
            <a:ext cx="566928" cy="566928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17" name="Image 2" descr="/home/user/Tina/template-bank/assets/column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679" y="45709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34272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Compare &amp; Contrast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034272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 · Venn · Do vs don't · Before vs after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60350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introducing new material — the categories come first, the details follow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needs a filing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 holds 3–5 chunks. Give learners the drawers before you hand them the papers.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38528"/>
            <a:ext cx="3639312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55064"/>
            <a:ext cx="566928" cy="56692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9" name="Image 0" descr="/home/user/Tina/template-bank/assets/tag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791127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35608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  ·  4 TEMPLATES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435608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Chunk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it a name.”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29992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material grouped into labeled buckets — types, chunks, letters, and terms with clean edges.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" y="3968496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the learner's first meeting with the material?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47274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" y="498348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grid · Topic breakdown · Acronym frame · Term card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25112" y="1481328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18" name="Shape 15"/>
          <p:cNvSpPr/>
          <p:nvPr/>
        </p:nvSpPr>
        <p:spPr>
          <a:xfrm>
            <a:off x="4325112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5B7699"/>
          </a:solidFill>
          <a:ln/>
        </p:spPr>
      </p:sp>
      <p:sp>
        <p:nvSpPr>
          <p:cNvPr id="19" name="Shape 16"/>
          <p:cNvSpPr/>
          <p:nvPr/>
        </p:nvSpPr>
        <p:spPr>
          <a:xfrm>
            <a:off x="4325112" y="1938528"/>
            <a:ext cx="3639312" cy="45720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0" name="Shape 17"/>
          <p:cNvSpPr/>
          <p:nvPr/>
        </p:nvSpPr>
        <p:spPr>
          <a:xfrm>
            <a:off x="4553712" y="1655064"/>
            <a:ext cx="566928" cy="566928"/>
          </a:xfrm>
          <a:prstGeom prst="ellipse">
            <a:avLst/>
          </a:prstGeom>
          <a:solidFill>
            <a:srgbClr val="6E87A8"/>
          </a:solidFill>
          <a:ln/>
        </p:spPr>
      </p:sp>
      <p:pic>
        <p:nvPicPr>
          <p:cNvPr id="21" name="Image 1" descr="/home/user/Tina/template-bank/assets/arrowsh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75" y="1791127"/>
            <a:ext cx="294803" cy="29480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57800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  ·  4 TEMPLATES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257800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Position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4581144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“Put it in its place.”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581144" y="29992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dimensions decide how each item is treated — and position on the slide does the teaching.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581144" y="3968496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knowing where it sits tell learners what to do with it?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4581144" y="47274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4581144" y="498348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matrix · Spectrum · Attribute matrix · Sorting buckets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147304" y="1481328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30" name="Shape 26"/>
          <p:cNvSpPr/>
          <p:nvPr/>
        </p:nvSpPr>
        <p:spPr>
          <a:xfrm>
            <a:off x="8147304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9E3B3B"/>
          </a:solidFill>
          <a:ln/>
        </p:spPr>
      </p:sp>
      <p:sp>
        <p:nvSpPr>
          <p:cNvPr id="31" name="Shape 27"/>
          <p:cNvSpPr/>
          <p:nvPr/>
        </p:nvSpPr>
        <p:spPr>
          <a:xfrm>
            <a:off x="8147304" y="1938528"/>
            <a:ext cx="3639312" cy="45720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2" name="Shape 28"/>
          <p:cNvSpPr/>
          <p:nvPr/>
        </p:nvSpPr>
        <p:spPr>
          <a:xfrm>
            <a:off x="8375904" y="1655064"/>
            <a:ext cx="566928" cy="566928"/>
          </a:xfrm>
          <a:prstGeom prst="ellipse">
            <a:avLst/>
          </a:prstGeom>
          <a:solidFill>
            <a:srgbClr val="AF5252"/>
          </a:solidFill>
          <a:ln/>
        </p:spPr>
      </p:sp>
      <p:pic>
        <p:nvPicPr>
          <p:cNvPr id="33" name="Image 2" descr="/home/user/Tina/template-bank/assets/column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967" y="1791127"/>
            <a:ext cx="294803" cy="294803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079992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F  ·  4 TEMPLATES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9079992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Contrast</a:t>
            </a:r>
            <a:endParaRPr lang="en-US" sz="1550" dirty="0"/>
          </a:p>
        </p:txBody>
      </p:sp>
      <p:sp>
        <p:nvSpPr>
          <p:cNvPr id="36" name="Text 31"/>
          <p:cNvSpPr txBox="1"/>
          <p:nvPr/>
        </p:nvSpPr>
        <p:spPr>
          <a:xfrm>
            <a:off x="8403336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“Hold them side by side.”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8403336" y="29992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things learners mix up — kept next to each other until the differences are impossible to miss.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8403336" y="3968496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apart, would learners confuse these?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8403336" y="47274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8403336" y="498348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 · Venn diagram · Do vs don't · Before vs after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502920" y="626364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3–5 groups, never more — if you need six, two of them are really 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445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Chunk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material has no mental home yet. Build one: name the types, chunk the topic, hang steps on letters, and draw hard edges around new terms.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3384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grid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40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78328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Category Grid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078328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per type — name, signs, what to do.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6432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boxe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91376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Topic Breakdown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91376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topic chunked into teachable groups.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fon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Acronym Frame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hung on letters people can carry.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tag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· Term Card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term defined by is, is not, and the edge case.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Grid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four communication styles you will meet in every meeting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NAME &amp; CHUNK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F3F4F7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755648"/>
            <a:ext cx="658368" cy="65836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0" descr="/home/user/Tina/template-bank/assets/char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2024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18488" y="17007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1618488" y="2029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· data-first · deliberate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618488" y="23957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IT: 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evidence; dislikes being rushed.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618488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ADAPT: 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numbers, give thinking time.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45352" y="1481328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F3F4F7"/>
          </a:solidFill>
          <a:ln/>
        </p:spPr>
      </p:sp>
      <p:sp>
        <p:nvSpPr>
          <p:cNvPr id="15" name="Shape 12"/>
          <p:cNvSpPr/>
          <p:nvPr/>
        </p:nvSpPr>
        <p:spPr>
          <a:xfrm>
            <a:off x="6501384" y="1755648"/>
            <a:ext cx="658368" cy="658368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16" name="Image 1" descr="/home/user/Tina/template-bank/assets/rocke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2024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360920" y="17007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550" dirty="0"/>
          </a:p>
        </p:txBody>
      </p:sp>
      <p:sp>
        <p:nvSpPr>
          <p:cNvPr id="18" name="Text 14"/>
          <p:cNvSpPr txBox="1"/>
          <p:nvPr/>
        </p:nvSpPr>
        <p:spPr>
          <a:xfrm>
            <a:off x="7360920" y="2029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· decisive · results-now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7360920" y="23957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IT: 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emails; interrupts to reach the point.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736092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ADAPT: 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bottom line, offer options.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2920" y="3877056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F3F4F7"/>
          </a:solidFill>
          <a:ln/>
        </p:spPr>
      </p:sp>
      <p:sp>
        <p:nvSpPr>
          <p:cNvPr id="22" name="Shape 18"/>
          <p:cNvSpPr/>
          <p:nvPr/>
        </p:nvSpPr>
        <p:spPr>
          <a:xfrm>
            <a:off x="758952" y="4151376"/>
            <a:ext cx="658368" cy="658368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23" name="Image 2" descr="/home/user/Tina/template-bank/assets/handshak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31596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618488" y="4096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Amiable</a:t>
            </a:r>
            <a:endParaRPr lang="en-US" sz="1550" dirty="0"/>
          </a:p>
        </p:txBody>
      </p:sp>
      <p:sp>
        <p:nvSpPr>
          <p:cNvPr id="25" name="Text 20"/>
          <p:cNvSpPr txBox="1"/>
          <p:nvPr/>
        </p:nvSpPr>
        <p:spPr>
          <a:xfrm>
            <a:off x="1618488" y="4425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· relationship-first · consensus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1618488" y="47914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IT: 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how others feel; avoids open conflict.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618488" y="5413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ADAPT: 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down; make it safe to disagree.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245352" y="3877056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F3F4F7"/>
          </a:solidFill>
          <a:ln/>
        </p:spPr>
      </p:sp>
      <p:sp>
        <p:nvSpPr>
          <p:cNvPr id="29" name="Shape 24"/>
          <p:cNvSpPr/>
          <p:nvPr/>
        </p:nvSpPr>
        <p:spPr>
          <a:xfrm>
            <a:off x="6501384" y="4151376"/>
            <a:ext cx="658368" cy="65836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30" name="Image 3" descr="/home/user/Tina/template-bank/assets/comments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315968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360920" y="4096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</a:t>
            </a:r>
            <a:endParaRPr lang="en-US" sz="1550" dirty="0"/>
          </a:p>
        </p:txBody>
      </p:sp>
      <p:sp>
        <p:nvSpPr>
          <p:cNvPr id="32" name="Text 26"/>
          <p:cNvSpPr txBox="1"/>
          <p:nvPr/>
        </p:nvSpPr>
        <p:spPr>
          <a:xfrm>
            <a:off x="7360920" y="4425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· big-picture · story-driven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7360920" y="47914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IT: 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out loud; jumps between topics.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7360920" y="5413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ADAPT: 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the vision; capture actions in writing.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6" name="Image 4" descr="/home/user/Tina/template-bank/assets/lightbulb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meet a set of types for the first time — one card per type: the name, the tell-tale signs, and what to do about 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Breakdown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everything a first-year manager must learn, chunked into three homes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NAME &amp; CHUNK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1499616" y="2651760"/>
            <a:ext cx="658368" cy="65836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9" name="Image 0" descr="/home/user/Tina/template-bank/assets/compas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281635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One as a Manager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087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skills → 3 chunks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 flipV="1">
            <a:off x="3154680" y="2125980"/>
            <a:ext cx="960120" cy="134874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3474720"/>
            <a:ext cx="960120" cy="278892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3474720"/>
            <a:ext cx="960120" cy="1906524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0" y="1417320"/>
            <a:ext cx="7571232" cy="1417320"/>
          </a:xfrm>
          <a:prstGeom prst="roundRect">
            <a:avLst>
              <a:gd name="adj" fmla="val 4516"/>
            </a:avLst>
          </a:prstGeom>
          <a:solidFill>
            <a:srgbClr val="F3F4F7"/>
          </a:solidFill>
          <a:ln/>
        </p:spPr>
      </p:sp>
      <p:sp>
        <p:nvSpPr>
          <p:cNvPr id="16" name="Shape 13"/>
          <p:cNvSpPr/>
          <p:nvPr/>
        </p:nvSpPr>
        <p:spPr>
          <a:xfrm>
            <a:off x="4343400" y="1842516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7" name="Image 1" descr="/home/user/Tina/template-bank/assets/clipboard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1984248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074920" y="1600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5074920" y="18013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Work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7635240" y="1563624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99832" y="15636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priorities &amp; goals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635240" y="1965960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99832" y="1965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useful meetings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635240" y="2368296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99832" y="23682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up honestly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114800" y="3044952"/>
            <a:ext cx="7571232" cy="1417320"/>
          </a:xfrm>
          <a:prstGeom prst="roundRect">
            <a:avLst>
              <a:gd name="adj" fmla="val 4516"/>
            </a:avLst>
          </a:prstGeom>
          <a:solidFill>
            <a:srgbClr val="F3F4F7"/>
          </a:solidFill>
          <a:ln/>
        </p:spPr>
      </p:sp>
      <p:sp>
        <p:nvSpPr>
          <p:cNvPr id="27" name="Shape 23"/>
          <p:cNvSpPr/>
          <p:nvPr/>
        </p:nvSpPr>
        <p:spPr>
          <a:xfrm>
            <a:off x="4343400" y="3470148"/>
            <a:ext cx="566928" cy="566928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28" name="Image 2" descr="/home/user/Tina/template-bank/assets/user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132" y="3611880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074920" y="3227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850" dirty="0"/>
          </a:p>
        </p:txBody>
      </p:sp>
      <p:sp>
        <p:nvSpPr>
          <p:cNvPr id="30" name="Text 25"/>
          <p:cNvSpPr txBox="1"/>
          <p:nvPr/>
        </p:nvSpPr>
        <p:spPr>
          <a:xfrm>
            <a:off x="5074920" y="34290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People</a:t>
            </a:r>
            <a:endParaRPr lang="en-US" sz="1450" dirty="0"/>
          </a:p>
        </p:txBody>
      </p:sp>
      <p:sp>
        <p:nvSpPr>
          <p:cNvPr id="31" name="Shape 26"/>
          <p:cNvSpPr/>
          <p:nvPr/>
        </p:nvSpPr>
        <p:spPr>
          <a:xfrm>
            <a:off x="7635240" y="3191256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799832" y="3191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1:1s that matter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7635240" y="3593592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799832" y="3593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recognition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7635240" y="3995928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799832" y="3995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that develops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114800" y="4672584"/>
            <a:ext cx="7571232" cy="1417320"/>
          </a:xfrm>
          <a:prstGeom prst="roundRect">
            <a:avLst>
              <a:gd name="adj" fmla="val 4516"/>
            </a:avLst>
          </a:prstGeom>
          <a:solidFill>
            <a:srgbClr val="F3F4F7"/>
          </a:solidFill>
          <a:ln/>
        </p:spPr>
      </p:sp>
      <p:sp>
        <p:nvSpPr>
          <p:cNvPr id="38" name="Shape 33"/>
          <p:cNvSpPr/>
          <p:nvPr/>
        </p:nvSpPr>
        <p:spPr>
          <a:xfrm>
            <a:off x="4343400" y="5097780"/>
            <a:ext cx="566928" cy="566928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39" name="Image 3" descr="/home/user/Tina/template-bank/assets/use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5239512"/>
            <a:ext cx="283464" cy="28346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5074920" y="4855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850" dirty="0"/>
          </a:p>
        </p:txBody>
      </p:sp>
      <p:sp>
        <p:nvSpPr>
          <p:cNvPr id="41" name="Text 35"/>
          <p:cNvSpPr txBox="1"/>
          <p:nvPr/>
        </p:nvSpPr>
        <p:spPr>
          <a:xfrm>
            <a:off x="5074920" y="5056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Yourself</a:t>
            </a:r>
            <a:endParaRPr lang="en-US" sz="1450" dirty="0"/>
          </a:p>
        </p:txBody>
      </p:sp>
      <p:sp>
        <p:nvSpPr>
          <p:cNvPr id="42" name="Shape 36"/>
          <p:cNvSpPr/>
          <p:nvPr/>
        </p:nvSpPr>
        <p:spPr>
          <a:xfrm>
            <a:off x="7635240" y="4818888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7799832" y="4818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energy budgets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7635240" y="5221224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799832" y="5221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help early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635240" y="5623560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7799832" y="5623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doer to enabler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502920" y="608076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one chunk per session, then close the loop: show all three chunks together and let learners place each skill.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50" name="Image 4" descr="/home/user/Tina/template-bank/assets/lightbulb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new topic would overwhelm — chunk it into 3–5 named groups, teach group by group, then reassemble.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Acronym Frame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SMART goals: five letters that survive without the slide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NAME &amp; CHUNK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88720" y="15544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145536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will change?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3703320"/>
            <a:ext cx="2002536" cy="658368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3703320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“Repeat orders,” not “loyalty”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19856" y="15544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3A578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19856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871216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3145536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we count it?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44368" y="3703320"/>
            <a:ext cx="2002536" cy="658368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035808" y="3703320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→ 25%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50992" y="15544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5B76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50992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5102352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3145536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actually reach it?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75504" y="3703320"/>
            <a:ext cx="2002536" cy="658368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66944" y="3703320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stretch — not a fantasy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82128" y="15544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8FA3B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82128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7333488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145536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and why us?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06640" y="3703320"/>
            <a:ext cx="2002536" cy="658368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0" y="3703320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to the growth priority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113264" y="15544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9E3B3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13264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9564624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9637776" y="3145536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when, checked how often?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637776" y="3703320"/>
            <a:ext cx="2002536" cy="658368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729216" y="3703320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Q4 kickoff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4800600"/>
            <a:ext cx="10908792" cy="1005840"/>
          </a:xfrm>
          <a:prstGeom prst="roundRect">
            <a:avLst>
              <a:gd name="adj" fmla="val 6364"/>
            </a:avLst>
          </a:prstGeom>
          <a:solidFill>
            <a:srgbClr val="DEE5F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4400" y="4956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TOGETHER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175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“Increase repeat orders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</a:t>
            </a:r>
            <a:pPr indent="0" marL="0">
              <a:buNone/>
            </a:pPr>
            <a:r>
              <a:rPr lang="en-US" sz="120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18% to 25% </a:t>
            </a:r>
            <a:pPr indent="0" marL="0">
              <a:buNone/>
            </a:pPr>
            <a:r>
              <a:rPr lang="en-US" sz="10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(M·A)</a:t>
            </a:r>
            <a:pPr indent="0" marL="0">
              <a:buNone/>
            </a:pPr>
            <a:r>
              <a:rPr lang="en-US" sz="120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enabling sales on the new bundle </a:t>
            </a:r>
            <a:pPr indent="0" marL="0">
              <a:buNone/>
            </a:pPr>
            <a:r>
              <a:rPr lang="en-US" sz="1000" b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pPr indent="0" marL="0">
              <a:buNone/>
            </a:pPr>
            <a:r>
              <a:rPr lang="en-US" sz="120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Q4 kickoff </a:t>
            </a:r>
            <a:pPr indent="0" marL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</a:t>
            </a:r>
            <a:pPr indent="0" marL="0">
              <a:buNone/>
            </a:pPr>
            <a:r>
              <a:rPr lang="en-US" sz="120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.”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03504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tile per letter, one question per tile — then always show the letters doing their job in a real sentence.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2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checklist must survive without the slide — hang the steps on letters people can carry in their heads.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Card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“near miss”: a term that only works if its edges are sharp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NAME &amp; CHUNK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17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417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unplanned event that could have caused injury or damage — but this time didn't.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5440680" cy="2606040"/>
          </a:xfrm>
          <a:prstGeom prst="roundRect">
            <a:avLst>
              <a:gd name="adj" fmla="val 2456"/>
            </a:avLst>
          </a:prstGeom>
          <a:solidFill>
            <a:srgbClr val="F3F4F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624328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2" name="Image 0" descr="/home/user/Tina/template-bank/assets/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24912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25880" y="262432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NEAR MISS</a:t>
            </a:r>
            <a:endParaRPr lang="en-US" sz="1300" dirty="0"/>
          </a:p>
        </p:txBody>
      </p:sp>
      <p:pic>
        <p:nvPicPr>
          <p:cNvPr id="14" name="Image 1" descr="/home/user/Tina/template-bank/assets/che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186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ladder slips — no one was on it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188720" y="34564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was possible, luck intervened</a:t>
            </a:r>
            <a:endParaRPr lang="en-US" sz="950" dirty="0"/>
          </a:p>
        </p:txBody>
      </p:sp>
      <p:pic>
        <p:nvPicPr>
          <p:cNvPr id="17" name="Image 2" descr="/home/user/Tina/template-bank/assets/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8872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Forklift brakes late; pedestrian steps back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188720" y="40782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from an injury</a:t>
            </a:r>
            <a:endParaRPr lang="en-US" sz="950" dirty="0"/>
          </a:p>
        </p:txBody>
      </p:sp>
      <p:pic>
        <p:nvPicPr>
          <p:cNvPr id="20" name="Image 3" descr="/home/user/Tina/template-bank/assets/check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6227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chemical delivered, caught before use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1188720" y="47000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happened; the harm didn't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245352" y="2423160"/>
            <a:ext cx="5440680" cy="2606040"/>
          </a:xfrm>
          <a:prstGeom prst="roundRect">
            <a:avLst>
              <a:gd name="adj" fmla="val 2456"/>
            </a:avLst>
          </a:prstGeom>
          <a:solidFill>
            <a:srgbClr val="F3F4F7"/>
          </a:solidFill>
          <a:ln/>
        </p:spPr>
      </p:sp>
      <p:sp>
        <p:nvSpPr>
          <p:cNvPr id="24" name="Shape 18"/>
          <p:cNvSpPr/>
          <p:nvPr/>
        </p:nvSpPr>
        <p:spPr>
          <a:xfrm>
            <a:off x="6519672" y="2624328"/>
            <a:ext cx="402336" cy="402336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25" name="Image 4" descr="/home/user/Tina/template-bank/assets/times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72491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68312" y="262432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</a:t>
            </a:r>
            <a:endParaRPr lang="en-US" sz="1300" dirty="0"/>
          </a:p>
        </p:txBody>
      </p:sp>
      <p:pic>
        <p:nvPicPr>
          <p:cNvPr id="27" name="Image 5" descr="/home/user/Tina/template-bank/assets/times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21868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931152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sprains an ankle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6931152" y="34564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occurred → that's an incident</a:t>
            </a:r>
            <a:endParaRPr lang="en-US" sz="950" dirty="0"/>
          </a:p>
        </p:txBody>
      </p:sp>
      <p:pic>
        <p:nvPicPr>
          <p:cNvPr id="30" name="Image 6" descr="/home/user/Tina/template-bank/assets/times-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3840480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31152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frayed cable found in inspection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6931152" y="40782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event yet → that's a hazard</a:t>
            </a:r>
            <a:endParaRPr lang="en-US" sz="950" dirty="0"/>
          </a:p>
        </p:txBody>
      </p:sp>
      <p:pic>
        <p:nvPicPr>
          <p:cNvPr id="33" name="Image 7" descr="/home/user/Tina/template-bank/assets/times-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4462272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31152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guard removed on purpose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6931152" y="47000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→ that's a violation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502920" y="5212080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E6ECF3"/>
          </a:solidFill>
          <a:ln/>
        </p:spPr>
      </p:sp>
      <p:sp>
        <p:nvSpPr>
          <p:cNvPr id="37" name="Text 27"/>
          <p:cNvSpPr txBox="1"/>
          <p:nvPr/>
        </p:nvSpPr>
        <p:spPr>
          <a:xfrm>
            <a:off x="777240" y="5349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TRICKY ONE</a:t>
            </a:r>
            <a:endParaRPr lang="en-US" sz="850" dirty="0"/>
          </a:p>
        </p:txBody>
      </p:sp>
      <p:sp>
        <p:nvSpPr>
          <p:cNvPr id="38" name="Text 28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spill is cleaned up before anyone walks through — near miss or hazard? Report it either way: the categories exist to trigger action, not to win arguments.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0" name="Image 8" descr="/home/user/Tina/template-bank/assets/lightbulb-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 will be misused unless its edges are drawn — define it by what it is, what it is not, and the tricky case in between.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7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Position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 item sits tells learners how to treat it. One axis or two, a scored grid, or buckets with rules — position does the teaching.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3384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matrix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40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78328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2×2 Matrix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078328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yes/no dimensions — the quadrant is the instruction.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6432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arrowsh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91376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Spectrum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91376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placed by degree along one line.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thlis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Attribute Matrix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scored on several attributes at once.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inbox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Sorting Buckets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fast, with one clear rule per bucket.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Matrix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urgent / important grid: where your week actually goes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SORT &amp; POSITION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444752"/>
            <a:ext cx="4297680" cy="2084832"/>
          </a:xfrm>
          <a:prstGeom prst="roundRect">
            <a:avLst>
              <a:gd name="adj" fmla="val 2632"/>
            </a:avLst>
          </a:prstGeom>
          <a:solidFill>
            <a:srgbClr val="DEE5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0482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· not urgent — strategy, development, relationships.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59689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time this week. This quadrant is where growth lives.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31152" y="1444752"/>
            <a:ext cx="4297680" cy="2084832"/>
          </a:xfrm>
          <a:prstGeom prst="roundRect">
            <a:avLst>
              <a:gd name="adj" fmla="val 2632"/>
            </a:avLst>
          </a:prstGeom>
          <a:solidFill>
            <a:srgbClr val="F1E5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05472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NOW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20482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· urgent — the crisis, today's deadline.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259689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yourself, immediately — then ask what put it here.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3694176"/>
            <a:ext cx="4297680" cy="2084832"/>
          </a:xfrm>
          <a:prstGeom prst="roundRect">
            <a:avLst>
              <a:gd name="adj" fmla="val 2632"/>
            </a:avLst>
          </a:prstGeom>
          <a:solidFill>
            <a:srgbClr val="ECEE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0" y="3877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4297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— busywork, most FYI email.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4846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politely. Unsubscribe. Let it go.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31152" y="3694176"/>
            <a:ext cx="4297680" cy="2084832"/>
          </a:xfrm>
          <a:prstGeom prst="roundRect">
            <a:avLst>
              <a:gd name="adj" fmla="val 2632"/>
            </a:avLst>
          </a:prstGeom>
          <a:solidFill>
            <a:srgbClr val="E6ECF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05472" y="3877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4297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· not important — interruptions, some meetings.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846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with clear success criteria — don't just forward 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V="1">
            <a:off x="2148840" y="1444752"/>
            <a:ext cx="0" cy="4334256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468880" y="6099048"/>
            <a:ext cx="8759952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 rot="16200000">
            <a:off x="-155448" y="3401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— does it move the goals?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837176" y="6163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— does it demand attention now?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10819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is living in DO NOW. The win is growing SCHEDULE — audit a real week against the grid.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29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yes/no dimensions decide the action — the quadrant a case lands in IS the instruction.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five levels of delegated authority: say the level out loud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SORT &amp; POSITION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10312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0" y="3657600"/>
            <a:ext cx="2103120" cy="310896"/>
          </a:xfrm>
          <a:prstGeom prst="rect">
            <a:avLst/>
          </a:prstGeom>
          <a:solidFill>
            <a:srgbClr val="3A5787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3657600"/>
            <a:ext cx="2103120" cy="310896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3657600"/>
            <a:ext cx="2103120" cy="310896"/>
          </a:xfrm>
          <a:prstGeom prst="rect">
            <a:avLst/>
          </a:prstGeom>
          <a:solidFill>
            <a:srgbClr val="8FA3BC"/>
          </a:solidFill>
          <a:ln/>
        </p:spPr>
      </p:sp>
      <p:sp>
        <p:nvSpPr>
          <p:cNvPr id="11" name="Shape 9"/>
          <p:cNvSpPr/>
          <p:nvPr/>
        </p:nvSpPr>
        <p:spPr>
          <a:xfrm>
            <a:off x="9235440" y="3657600"/>
            <a:ext cx="2103120" cy="310896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HOLDS THE DECISION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HOLDS THE DECISION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36776" y="3575304"/>
            <a:ext cx="475488" cy="475488"/>
          </a:xfrm>
          <a:prstGeom prst="ellipse">
            <a:avLst/>
          </a:prstGeom>
          <a:solidFill>
            <a:srgbClr val="1F386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36776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74520" y="3090672"/>
            <a:ext cx="0" cy="484632"/>
          </a:xfrm>
          <a:prstGeom prst="line">
            <a:avLst/>
          </a:prstGeom>
          <a:noFill/>
          <a:ln w="15875">
            <a:solidFill>
              <a:srgbClr val="D3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1947672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F3F4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" y="20574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as I say”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decide; you execute. For safety-critical or crisis work.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39896" y="3575304"/>
            <a:ext cx="475488" cy="475488"/>
          </a:xfrm>
          <a:prstGeom prst="ellipse">
            <a:avLst/>
          </a:prstGeom>
          <a:solidFill>
            <a:srgbClr val="3A5787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39896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77640" y="4206240"/>
            <a:ext cx="0" cy="329184"/>
          </a:xfrm>
          <a:prstGeom prst="line">
            <a:avLst/>
          </a:prstGeom>
          <a:noFill/>
          <a:ln w="15875">
            <a:solidFill>
              <a:srgbClr val="D3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4535424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F3F4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962656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explain”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962656" y="491947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decide — and I sell the why, so you learn the reasoning.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43016" y="3575304"/>
            <a:ext cx="475488" cy="475488"/>
          </a:xfrm>
          <a:prstGeom prst="ellipse">
            <a:avLst/>
          </a:prstGeom>
          <a:solidFill>
            <a:srgbClr val="5B769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43016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3090672"/>
            <a:ext cx="0" cy="484632"/>
          </a:xfrm>
          <a:prstGeom prst="line">
            <a:avLst/>
          </a:prstGeom>
          <a:noFill/>
          <a:ln w="15875">
            <a:solidFill>
              <a:srgbClr val="D3D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1947672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F3F4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65776" y="20574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“Let's talk first”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065776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recommend; I decide. The classic development stage.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946136" y="3575304"/>
            <a:ext cx="475488" cy="475488"/>
          </a:xfrm>
          <a:prstGeom prst="ellipse">
            <a:avLst/>
          </a:prstGeom>
          <a:solidFill>
            <a:srgbClr val="8FA3B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46136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83880" y="4206240"/>
            <a:ext cx="0" cy="329184"/>
          </a:xfrm>
          <a:prstGeom prst="line">
            <a:avLst/>
          </a:prstGeom>
          <a:noFill/>
          <a:ln w="15875">
            <a:solidFill>
              <a:srgbClr val="D3D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4535424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F3F4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68896" y="46451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“Decide, then tell me”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68896" y="491947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decide; keep me informed. Trust with a safety net.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049256" y="3575304"/>
            <a:ext cx="475488" cy="475488"/>
          </a:xfrm>
          <a:prstGeom prst="ellipse">
            <a:avLst/>
          </a:prstGeom>
          <a:solidFill>
            <a:srgbClr val="9E3B3B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49256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287000" y="3090672"/>
            <a:ext cx="0" cy="484632"/>
          </a:xfrm>
          <a:prstGeom prst="line">
            <a:avLst/>
          </a:prstGeom>
          <a:noFill/>
          <a:ln w="15875">
            <a:solidFill>
              <a:srgbClr val="D3D8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0" y="1947672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F3F4F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272016" y="20574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call”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9272016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it — outcome included. Full delegation.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144768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delegation failures are two people assuming different levels — the fix is saying the number out loud.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6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differ by degree, not kind — place them on one line so learners see the poles and every stop between.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Matrix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choosing a delivery method: no option wins every column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SORT &amp; POSITION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93592" y="1600200"/>
            <a:ext cx="1892808" cy="502920"/>
          </a:xfrm>
          <a:prstGeom prst="roundRect">
            <a:avLst>
              <a:gd name="adj" fmla="val 14545"/>
            </a:avLst>
          </a:prstGeom>
          <a:solidFill>
            <a:srgbClr val="5B76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60020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scale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32704" y="1600200"/>
            <a:ext cx="1892808" cy="502920"/>
          </a:xfrm>
          <a:prstGeom prst="roundRect">
            <a:avLst>
              <a:gd name="adj" fmla="val 14545"/>
            </a:avLst>
          </a:prstGeom>
          <a:solidFill>
            <a:srgbClr val="5B76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32704" y="160020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71816" y="1600200"/>
            <a:ext cx="1892808" cy="502920"/>
          </a:xfrm>
          <a:prstGeom prst="roundRect">
            <a:avLst>
              <a:gd name="adj" fmla="val 14545"/>
            </a:avLst>
          </a:prstGeom>
          <a:solidFill>
            <a:srgbClr val="5B76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71816" y="160020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depth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710928" y="1600200"/>
            <a:ext cx="1892808" cy="502920"/>
          </a:xfrm>
          <a:prstGeom prst="roundRect">
            <a:avLst>
              <a:gd name="adj" fmla="val 14545"/>
            </a:avLst>
          </a:prstGeom>
          <a:solidFill>
            <a:srgbClr val="5B76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710928" y="160020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launch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212848"/>
            <a:ext cx="11173968" cy="868680"/>
          </a:xfrm>
          <a:prstGeom prst="roundRect">
            <a:avLst>
              <a:gd name="adj" fmla="val 6316"/>
            </a:avLst>
          </a:prstGeom>
          <a:solidFill>
            <a:srgbClr val="F3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221284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Instructor-led workshop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55948" y="2564892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18" name="Shape 16"/>
          <p:cNvSpPr/>
          <p:nvPr/>
        </p:nvSpPr>
        <p:spPr>
          <a:xfrm>
            <a:off x="4448556" y="2564892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1164" y="2564892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564892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87668" y="2564892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0276" y="2564892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34172" y="2564892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Shape 22"/>
          <p:cNvSpPr/>
          <p:nvPr/>
        </p:nvSpPr>
        <p:spPr>
          <a:xfrm>
            <a:off x="8526780" y="2564892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5" name="Shape 23"/>
          <p:cNvSpPr/>
          <p:nvPr/>
        </p:nvSpPr>
        <p:spPr>
          <a:xfrm>
            <a:off x="8819388" y="2564892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73284" y="2564892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65892" y="2564892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58500" y="2564892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191256"/>
            <a:ext cx="11173968" cy="868680"/>
          </a:xfrm>
          <a:prstGeom prst="roundRect">
            <a:avLst>
              <a:gd name="adj" fmla="val 6316"/>
            </a:avLst>
          </a:prstGeom>
          <a:solidFill>
            <a:srgbClr val="FAFB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3191256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classroom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55948" y="3543300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32" name="Shape 30"/>
          <p:cNvSpPr/>
          <p:nvPr/>
        </p:nvSpPr>
        <p:spPr>
          <a:xfrm>
            <a:off x="4448556" y="3543300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33" name="Shape 31"/>
          <p:cNvSpPr/>
          <p:nvPr/>
        </p:nvSpPr>
        <p:spPr>
          <a:xfrm>
            <a:off x="4741164" y="3543300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5060" y="3543300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35" name="Shape 33"/>
          <p:cNvSpPr/>
          <p:nvPr/>
        </p:nvSpPr>
        <p:spPr>
          <a:xfrm>
            <a:off x="6487668" y="3543300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36" name="Shape 34"/>
          <p:cNvSpPr/>
          <p:nvPr/>
        </p:nvSpPr>
        <p:spPr>
          <a:xfrm>
            <a:off x="6780276" y="3543300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34172" y="3543300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38" name="Shape 36"/>
          <p:cNvSpPr/>
          <p:nvPr/>
        </p:nvSpPr>
        <p:spPr>
          <a:xfrm>
            <a:off x="8526780" y="3543300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39" name="Shape 37"/>
          <p:cNvSpPr/>
          <p:nvPr/>
        </p:nvSpPr>
        <p:spPr>
          <a:xfrm>
            <a:off x="8819388" y="3543300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73284" y="3543300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65892" y="3543300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42" name="Shape 40"/>
          <p:cNvSpPr/>
          <p:nvPr/>
        </p:nvSpPr>
        <p:spPr>
          <a:xfrm>
            <a:off x="10858500" y="3543300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4169664"/>
            <a:ext cx="11173968" cy="868680"/>
          </a:xfrm>
          <a:prstGeom prst="roundRect">
            <a:avLst>
              <a:gd name="adj" fmla="val 6316"/>
            </a:avLst>
          </a:prstGeom>
          <a:solidFill>
            <a:srgbClr val="F3F4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31520" y="4169664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e-learning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55948" y="4521708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6" name="Shape 44"/>
          <p:cNvSpPr/>
          <p:nvPr/>
        </p:nvSpPr>
        <p:spPr>
          <a:xfrm>
            <a:off x="4448556" y="4521708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7" name="Shape 45"/>
          <p:cNvSpPr/>
          <p:nvPr/>
        </p:nvSpPr>
        <p:spPr>
          <a:xfrm>
            <a:off x="4741164" y="4521708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8" name="Shape 46"/>
          <p:cNvSpPr/>
          <p:nvPr/>
        </p:nvSpPr>
        <p:spPr>
          <a:xfrm>
            <a:off x="6195060" y="4521708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9" name="Shape 47"/>
          <p:cNvSpPr/>
          <p:nvPr/>
        </p:nvSpPr>
        <p:spPr>
          <a:xfrm>
            <a:off x="6487668" y="4521708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0" name="Shape 48"/>
          <p:cNvSpPr/>
          <p:nvPr/>
        </p:nvSpPr>
        <p:spPr>
          <a:xfrm>
            <a:off x="6780276" y="4521708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1" name="Shape 49"/>
          <p:cNvSpPr/>
          <p:nvPr/>
        </p:nvSpPr>
        <p:spPr>
          <a:xfrm>
            <a:off x="8234172" y="4521708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52" name="Shape 50"/>
          <p:cNvSpPr/>
          <p:nvPr/>
        </p:nvSpPr>
        <p:spPr>
          <a:xfrm>
            <a:off x="8526780" y="4521708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19388" y="4521708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73284" y="4521708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55" name="Shape 53"/>
          <p:cNvSpPr/>
          <p:nvPr/>
        </p:nvSpPr>
        <p:spPr>
          <a:xfrm>
            <a:off x="10565892" y="4521708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858500" y="4521708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" y="5148072"/>
            <a:ext cx="11173968" cy="868680"/>
          </a:xfrm>
          <a:prstGeom prst="roundRect">
            <a:avLst>
              <a:gd name="adj" fmla="val 6316"/>
            </a:avLst>
          </a:prstGeom>
          <a:solidFill>
            <a:srgbClr val="FAFBFC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31520" y="514807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On-the-job coaching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155948" y="5500116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60" name="Shape 58"/>
          <p:cNvSpPr/>
          <p:nvPr/>
        </p:nvSpPr>
        <p:spPr>
          <a:xfrm>
            <a:off x="4448556" y="5500116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41164" y="5500116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95060" y="5500116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63" name="Shape 61"/>
          <p:cNvSpPr/>
          <p:nvPr/>
        </p:nvSpPr>
        <p:spPr>
          <a:xfrm>
            <a:off x="6487668" y="5500116"/>
            <a:ext cx="173736" cy="17373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64" name="Shape 62"/>
          <p:cNvSpPr/>
          <p:nvPr/>
        </p:nvSpPr>
        <p:spPr>
          <a:xfrm>
            <a:off x="6780276" y="5500116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34172" y="5500116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6" name="Shape 64"/>
          <p:cNvSpPr/>
          <p:nvPr/>
        </p:nvSpPr>
        <p:spPr>
          <a:xfrm>
            <a:off x="8526780" y="5500116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7" name="Shape 65"/>
          <p:cNvSpPr/>
          <p:nvPr/>
        </p:nvSpPr>
        <p:spPr>
          <a:xfrm>
            <a:off x="8819388" y="5500116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8" name="Shape 66"/>
          <p:cNvSpPr/>
          <p:nvPr/>
        </p:nvSpPr>
        <p:spPr>
          <a:xfrm>
            <a:off x="10273284" y="5500116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9" name="Shape 67"/>
          <p:cNvSpPr/>
          <p:nvPr/>
        </p:nvSpPr>
        <p:spPr>
          <a:xfrm>
            <a:off x="10565892" y="5500116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0" name="Shape 68"/>
          <p:cNvSpPr/>
          <p:nvPr/>
        </p:nvSpPr>
        <p:spPr>
          <a:xfrm>
            <a:off x="10858500" y="5500116"/>
            <a:ext cx="173736" cy="1737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1" name="Shape 69"/>
          <p:cNvSpPr/>
          <p:nvPr/>
        </p:nvSpPr>
        <p:spPr>
          <a:xfrm>
            <a:off x="4297680" y="6272784"/>
            <a:ext cx="146304" cy="14630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498848" y="62362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strong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40680" y="62727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1C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641848" y="62362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weak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6675120" y="62362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row sweeps the board — that is the lesson. Blend methods; don't crown one.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77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78" name="Text 75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must be weighed on several attributes at once — score them so trade-offs, not opinions, drive the choice.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Buckets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data classification: every document lands in exactly one bucket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SORT &amp; POSITION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71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TO SORT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1755648" cy="402336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5875">
            <a:solidFill>
              <a:srgbClr val="8FA3BC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0292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86584" y="1645920"/>
            <a:ext cx="1755648" cy="402336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5875">
            <a:solidFill>
              <a:srgbClr val="8FA3BC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2386584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0248" y="1645920"/>
            <a:ext cx="1755648" cy="402336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5875">
            <a:solidFill>
              <a:srgbClr val="8FA3BC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270248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53912" y="1645920"/>
            <a:ext cx="1755648" cy="402336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5875">
            <a:solidFill>
              <a:srgbClr val="8FA3BC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153912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37576" y="1645920"/>
            <a:ext cx="1755648" cy="402336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5875">
            <a:solidFill>
              <a:srgbClr val="8FA3B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037576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21240" y="1645920"/>
            <a:ext cx="1755648" cy="402336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5875">
            <a:solidFill>
              <a:srgbClr val="8FA3BC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992124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contract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2194560"/>
            <a:ext cx="0" cy="411480"/>
          </a:xfrm>
          <a:prstGeom prst="line">
            <a:avLst/>
          </a:prstGeom>
          <a:noFill/>
          <a:ln w="19050">
            <a:solidFill>
              <a:srgbClr val="AEB7C6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89904" y="2194560"/>
            <a:ext cx="0" cy="411480"/>
          </a:xfrm>
          <a:prstGeom prst="line">
            <a:avLst/>
          </a:prstGeom>
          <a:noFill/>
          <a:ln w="19050">
            <a:solidFill>
              <a:srgbClr val="AEB7C6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84080" y="2194560"/>
            <a:ext cx="0" cy="411480"/>
          </a:xfrm>
          <a:prstGeom prst="line">
            <a:avLst/>
          </a:prstGeom>
          <a:noFill/>
          <a:ln w="19050">
            <a:solidFill>
              <a:srgbClr val="AEB7C6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2920" y="2697480"/>
            <a:ext cx="3639312" cy="3063240"/>
          </a:xfrm>
          <a:prstGeom prst="roundRect">
            <a:avLst>
              <a:gd name="adj" fmla="val 2090"/>
            </a:avLst>
          </a:prstGeom>
          <a:solidFill>
            <a:srgbClr val="F3F4F7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2935224"/>
            <a:ext cx="603504" cy="603504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5" name="Image 0" descr="/home/user/Tina/template-bank/assets/glob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3086100"/>
            <a:ext cx="301752" cy="30175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508760" y="293522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" y="374904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758952" y="39959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sit on our website and cause no harm.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758952" y="480060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HERE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758952" y="504748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 · Job posting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325112" y="2697480"/>
            <a:ext cx="3639312" cy="3063240"/>
          </a:xfrm>
          <a:prstGeom prst="roundRect">
            <a:avLst>
              <a:gd name="adj" fmla="val 2090"/>
            </a:avLst>
          </a:prstGeom>
          <a:solidFill>
            <a:srgbClr val="F3F4F7"/>
          </a:solidFill>
          <a:ln/>
        </p:spPr>
      </p:sp>
      <p:sp>
        <p:nvSpPr>
          <p:cNvPr id="32" name="Shape 29"/>
          <p:cNvSpPr/>
          <p:nvPr/>
        </p:nvSpPr>
        <p:spPr>
          <a:xfrm>
            <a:off x="4581144" y="2935224"/>
            <a:ext cx="603504" cy="603504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33" name="Image 1" descr="/home/user/Tina/template-bank/assets/building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3086100"/>
            <a:ext cx="301752" cy="30175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330952" y="293522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4581144" y="374904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4581144" y="39959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any employee — but not for outsiders.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4581144" y="480060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HERE</a:t>
            </a:r>
            <a:endParaRPr lang="en-US" sz="850" dirty="0"/>
          </a:p>
        </p:txBody>
      </p:sp>
      <p:sp>
        <p:nvSpPr>
          <p:cNvPr id="38" name="Text 34"/>
          <p:cNvSpPr txBox="1"/>
          <p:nvPr/>
        </p:nvSpPr>
        <p:spPr>
          <a:xfrm>
            <a:off x="4581144" y="504748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· Product roadmap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8147304" y="2697480"/>
            <a:ext cx="3639312" cy="3063240"/>
          </a:xfrm>
          <a:prstGeom prst="roundRect">
            <a:avLst>
              <a:gd name="adj" fmla="val 2090"/>
            </a:avLst>
          </a:prstGeom>
          <a:solidFill>
            <a:srgbClr val="F3F4F7"/>
          </a:solidFill>
          <a:ln/>
        </p:spPr>
      </p:sp>
      <p:sp>
        <p:nvSpPr>
          <p:cNvPr id="40" name="Shape 36"/>
          <p:cNvSpPr/>
          <p:nvPr/>
        </p:nvSpPr>
        <p:spPr>
          <a:xfrm>
            <a:off x="8403336" y="2935224"/>
            <a:ext cx="603504" cy="603504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41" name="Image 2" descr="/home/user/Tina/template-bank/assets/lo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212" y="3086100"/>
            <a:ext cx="301752" cy="301752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9153144" y="293522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600" dirty="0"/>
          </a:p>
        </p:txBody>
      </p:sp>
      <p:sp>
        <p:nvSpPr>
          <p:cNvPr id="43" name="Text 38"/>
          <p:cNvSpPr txBox="1"/>
          <p:nvPr/>
        </p:nvSpPr>
        <p:spPr>
          <a:xfrm>
            <a:off x="8403336" y="374904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850" dirty="0"/>
          </a:p>
        </p:txBody>
      </p:sp>
      <p:sp>
        <p:nvSpPr>
          <p:cNvPr id="44" name="Text 39"/>
          <p:cNvSpPr txBox="1"/>
          <p:nvPr/>
        </p:nvSpPr>
        <p:spPr>
          <a:xfrm>
            <a:off x="8403336" y="39959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people only. A leak causes real damage.</a:t>
            </a:r>
            <a:endParaRPr lang="en-US" sz="1150" dirty="0"/>
          </a:p>
        </p:txBody>
      </p:sp>
      <p:sp>
        <p:nvSpPr>
          <p:cNvPr id="45" name="Text 40"/>
          <p:cNvSpPr txBox="1"/>
          <p:nvPr/>
        </p:nvSpPr>
        <p:spPr>
          <a:xfrm>
            <a:off x="8403336" y="480060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HERE</a:t>
            </a:r>
            <a:endParaRPr lang="en-US" sz="850" dirty="0"/>
          </a:p>
        </p:txBody>
      </p:sp>
      <p:sp>
        <p:nvSpPr>
          <p:cNvPr id="46" name="Text 41"/>
          <p:cNvSpPr txBox="1"/>
          <p:nvPr/>
        </p:nvSpPr>
        <p:spPr>
          <a:xfrm>
            <a:off x="8403336" y="504748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data · Customer contract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502920" y="603504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live: read an item, the room shouts a bucket, then test it against the rule — the rule settles ties, not seniority.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9" name="Image 3" descr="/home/user/Tina/template-bank/assets/lightbulb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must classify things fast on the job — give each bucket one memorable rule and let them practice sorting.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E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5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Contrast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lives between similar things. Hold them side by side — same attributes, same order, differences called out — until mixing them up becomes impossible.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3384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column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40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78328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Comparison Table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078328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frameworks, attribute by attribute.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6432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shape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91376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Venn Diagram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91376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shared, what is distinct, what falls between.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thumb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Do vs Don't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and bad practice, paired theme by theme.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exchang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Before vs After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 beside the new — change made concrete.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three conversation frameworks managers merge into mush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COMPARE &amp; CONTRAST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18104"/>
                <a:gridCol w="3118104"/>
                <a:gridCol w="311810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6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3B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Delivering feedback about a specific moment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 someone through their own problem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Interviewing for evidence of past 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 · Behavior ·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· Reality · Options · Will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 · Task · Action ·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talks most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— short, specific, then listen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 — you mostly 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 — you probe for the 'A'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Sounds like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“In Tuesday's review, when you cut Ana off, the room went quiet.”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options do you see? Which will you actually try?”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“Walk me through what YOU did — not the team.”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02920" y="603504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rows, same order for every column — the grid does the contrasting so the reader doesn't have to.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10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frameworks get mixed up — contrast them attribute by attribute, ending with what each one sounds like.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Venn Diagram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who owns employee development? All three circles — on purpose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COMPARE &amp; CONTRAST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10512" y="1353312"/>
            <a:ext cx="3145536" cy="3145536"/>
          </a:xfrm>
          <a:prstGeom prst="ellipse">
            <a:avLst/>
          </a:prstGeom>
          <a:solidFill>
            <a:srgbClr val="1F3864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22192" y="1353312"/>
            <a:ext cx="3145536" cy="3145536"/>
          </a:xfrm>
          <a:prstGeom prst="ellipse">
            <a:avLst/>
          </a:prstGeom>
          <a:solidFill>
            <a:srgbClr val="5B769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816352" y="2907792"/>
            <a:ext cx="3145536" cy="3145536"/>
          </a:xfrm>
          <a:prstGeom prst="ellipse">
            <a:avLst/>
          </a:prstGeom>
          <a:solidFill>
            <a:srgbClr val="9E3B3B">
              <a:alpha val="4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20240" y="1691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19385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 &amp; effort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691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19385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opportunity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5623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58704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budget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950208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886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8862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950208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16002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ZONES, NOT JUST THE CIRCLES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0" y="2057400"/>
            <a:ext cx="146304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0" y="2011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employee can supply ambition, honesty about goals, and practice hours.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0" y="3044952"/>
            <a:ext cx="146304" cy="64008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89520" y="29992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manager can supply stretch work, feedback, and time carved out of delivery.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4032504"/>
            <a:ext cx="146304" cy="64008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89520" y="398678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organization can supply budget, pathways, and systems that don't punish learning.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0" y="5020056"/>
            <a:ext cx="146304" cy="640080"/>
          </a:xfrm>
          <a:prstGeom prst="rect">
            <a:avLst/>
          </a:prstGeom>
          <a:solidFill>
            <a:srgbClr val="3A578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89520" y="497433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 — growth — exists only where all three show up in the same quarter.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144768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zone has no owner in your org, the diagram just found your retention problem.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1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overlap and everyone assumes someone else owns it — draw the overlaps and name what lives in each zone.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vs Don't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weekly 1:1, paired habit by habit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COMPARE &amp; CONTRAST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8" name="Image 0" descr="/home/user/Tina/template-bank/assets/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522476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4173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66560" y="1417320"/>
            <a:ext cx="420624" cy="420624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11" name="Image 1" descr="/home/user/Tina/template-bank/assets/time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152247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4173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13248" y="2276856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13248" y="2276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2920" y="2057400"/>
            <a:ext cx="4754880" cy="804672"/>
          </a:xfrm>
          <a:prstGeom prst="roundRect">
            <a:avLst>
              <a:gd name="adj" fmla="val 7955"/>
            </a:avLst>
          </a:prstGeom>
          <a:solidFill>
            <a:srgbClr val="DEE5F0"/>
          </a:solidFill>
          <a:ln/>
        </p:spPr>
      </p:sp>
      <p:pic>
        <p:nvPicPr>
          <p:cNvPr id="16" name="Image 2" descr="/home/user/Tina/template-bank/assets/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3172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205740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topics first — yours go last.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931152" y="2057400"/>
            <a:ext cx="4754880" cy="804672"/>
          </a:xfrm>
          <a:prstGeom prst="roundRect">
            <a:avLst>
              <a:gd name="adj" fmla="val 7955"/>
            </a:avLst>
          </a:prstGeom>
          <a:solidFill>
            <a:srgbClr val="F1E5E5"/>
          </a:solidFill>
          <a:ln/>
        </p:spPr>
      </p:sp>
      <p:pic>
        <p:nvPicPr>
          <p:cNvPr id="19" name="Image 3" descr="/home/user/Tina/template-bank/assets/times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33172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571232" y="205740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your status questions.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13248" y="3264408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413248" y="3264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RATIO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02920" y="3044952"/>
            <a:ext cx="4754880" cy="804672"/>
          </a:xfrm>
          <a:prstGeom prst="roundRect">
            <a:avLst>
              <a:gd name="adj" fmla="val 7955"/>
            </a:avLst>
          </a:prstGeom>
          <a:solidFill>
            <a:srgbClr val="DEE5F0"/>
          </a:solidFill>
          <a:ln/>
        </p:spPr>
      </p:sp>
      <p:pic>
        <p:nvPicPr>
          <p:cNvPr id="24" name="Image 4" descr="/home/user/Tina/template-bank/assets/check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31927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43000" y="304495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to listen 70% of the time.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931152" y="3044952"/>
            <a:ext cx="4754880" cy="804672"/>
          </a:xfrm>
          <a:prstGeom prst="roundRect">
            <a:avLst>
              <a:gd name="adj" fmla="val 7955"/>
            </a:avLst>
          </a:prstGeom>
          <a:solidFill>
            <a:srgbClr val="F1E5E5"/>
          </a:solidFill>
          <a:ln/>
        </p:spPr>
      </p:sp>
      <p:pic>
        <p:nvPicPr>
          <p:cNvPr id="27" name="Image 5" descr="/home/user/Tina/template-bank/assets/times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31927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571232" y="304495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into your project update.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413248" y="425196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5413248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502920" y="4032504"/>
            <a:ext cx="4754880" cy="804672"/>
          </a:xfrm>
          <a:prstGeom prst="roundRect">
            <a:avLst>
              <a:gd name="adj" fmla="val 7955"/>
            </a:avLst>
          </a:prstGeom>
          <a:solidFill>
            <a:srgbClr val="DEE5F0"/>
          </a:solidFill>
          <a:ln/>
        </p:spPr>
      </p:sp>
      <p:pic>
        <p:nvPicPr>
          <p:cNvPr id="32" name="Image 6" descr="/home/user/Tina/template-bank/assets/check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306824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143000" y="4032504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advising: “want ideas?”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931152" y="4032504"/>
            <a:ext cx="4754880" cy="804672"/>
          </a:xfrm>
          <a:prstGeom prst="roundRect">
            <a:avLst>
              <a:gd name="adj" fmla="val 7955"/>
            </a:avLst>
          </a:prstGeom>
          <a:solidFill>
            <a:srgbClr val="F1E5E5"/>
          </a:solidFill>
          <a:ln/>
        </p:spPr>
      </p:sp>
      <p:pic>
        <p:nvPicPr>
          <p:cNvPr id="35" name="Image 7" descr="/home/user/Tina/template-bank/assets/times-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4306824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571232" y="4032504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everything they bring you.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5413248" y="5239512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5413248" y="5239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850" dirty="0"/>
          </a:p>
        </p:txBody>
      </p:sp>
      <p:sp>
        <p:nvSpPr>
          <p:cNvPr id="39" name="Shape 29"/>
          <p:cNvSpPr/>
          <p:nvPr/>
        </p:nvSpPr>
        <p:spPr>
          <a:xfrm>
            <a:off x="502920" y="5020056"/>
            <a:ext cx="4754880" cy="804672"/>
          </a:xfrm>
          <a:prstGeom prst="roundRect">
            <a:avLst>
              <a:gd name="adj" fmla="val 7955"/>
            </a:avLst>
          </a:prstGeom>
          <a:solidFill>
            <a:srgbClr val="DEE5F0"/>
          </a:solidFill>
          <a:ln/>
        </p:spPr>
      </p:sp>
      <p:pic>
        <p:nvPicPr>
          <p:cNvPr id="40" name="Image 8" descr="/home/user/Tina/template-bank/assets/check-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294376"/>
            <a:ext cx="256032" cy="25603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143000" y="5020056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one noted action each.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6931152" y="5020056"/>
            <a:ext cx="4754880" cy="804672"/>
          </a:xfrm>
          <a:prstGeom prst="roundRect">
            <a:avLst>
              <a:gd name="adj" fmla="val 7955"/>
            </a:avLst>
          </a:prstGeom>
          <a:solidFill>
            <a:srgbClr val="F1E5E5"/>
          </a:solidFill>
          <a:ln/>
        </p:spPr>
      </p:sp>
      <p:pic>
        <p:nvPicPr>
          <p:cNvPr id="43" name="Image 9" descr="/home/user/Tina/template-bank/assets/times-r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8040" y="5294376"/>
            <a:ext cx="256032" cy="25603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571232" y="5020056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last week's notes vanish.</a:t>
            </a:r>
            <a:endParaRPr lang="en-US" sz="1150" dirty="0"/>
          </a:p>
        </p:txBody>
      </p:sp>
      <p:sp>
        <p:nvSpPr>
          <p:cNvPr id="45" name="Text 33"/>
          <p:cNvSpPr txBox="1"/>
          <p:nvPr/>
        </p:nvSpPr>
        <p:spPr>
          <a:xfrm>
            <a:off x="502920" y="6144768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do with its matching don't — unpaired lists read as platitudes; pairs read as choices.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7" name="Image 10" descr="/home/user/Tina/template-bank/assets/lightbulb-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and bad practice look similar from a distance — pair each do with its matching don't, theme by theme.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performance conversations: the old way beside the new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COMPARE &amp; CONTRAST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31152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EFF0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920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annual review, ranked and rated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32120" y="2112264"/>
            <a:ext cx="1143000" cy="347472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12" name="Shape 10"/>
          <p:cNvSpPr/>
          <p:nvPr/>
        </p:nvSpPr>
        <p:spPr>
          <a:xfrm>
            <a:off x="6931152" y="1920240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DEE5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05472" y="1920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check-ins, notes shared live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EFF0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1635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saved up for the big day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32120" y="3008376"/>
            <a:ext cx="1143000" cy="347472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17" name="Shape 15"/>
          <p:cNvSpPr/>
          <p:nvPr/>
        </p:nvSpPr>
        <p:spPr>
          <a:xfrm>
            <a:off x="6931152" y="2816352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DEE5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05472" y="281635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within 48 hours of the moment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712464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EFF0F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71246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writes; employee listens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32120" y="3904488"/>
            <a:ext cx="1143000" cy="347472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22" name="Shape 20"/>
          <p:cNvSpPr/>
          <p:nvPr/>
        </p:nvSpPr>
        <p:spPr>
          <a:xfrm>
            <a:off x="6931152" y="3712464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DEE5F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05472" y="371246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Employee's self-review starts the talk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608576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EFF0F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60857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lands as a surprise ending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32120" y="4800600"/>
            <a:ext cx="1143000" cy="347472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27" name="Shape 25"/>
          <p:cNvSpPr/>
          <p:nvPr/>
        </p:nvSpPr>
        <p:spPr>
          <a:xfrm>
            <a:off x="6931152" y="4608576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DEE5F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05472" y="460857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No-surprises rule — nothing new in the review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1680" y="562356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F3F4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194560" y="56235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56235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frequency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562356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F3F4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120640" y="56235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–40%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035040" y="56235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prep time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63840" y="562356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F3F4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0" y="56235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961120" y="56235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ratings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9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replaces old habits — put the old way beside the new so the shift is concrete, and back it with numbers.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ways to give information a home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it, place it, or contrast it — pick by what the learner must do with the categories.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1F386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37944"/>
            <a:ext cx="3639312" cy="35661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“NAME IT”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 · NAME &amp; CHUNK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4414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Category grid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706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per type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321868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Topic breakdown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34838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chunked into groups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39959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Acronym frame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42611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hung on letters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773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 Term card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50383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/ is not / the edge case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25112" y="1481328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325112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5B7699"/>
          </a:solidFill>
          <a:ln/>
        </p:spPr>
      </p:sp>
      <p:sp>
        <p:nvSpPr>
          <p:cNvPr id="20" name="Shape 18"/>
          <p:cNvSpPr/>
          <p:nvPr/>
        </p:nvSpPr>
        <p:spPr>
          <a:xfrm>
            <a:off x="4325112" y="1837944"/>
            <a:ext cx="3639312" cy="356616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81144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“PLACE IT”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 · SORT &amp; POSITION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24414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 2×2 matrix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81144" y="2706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quadrant is the instruction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81144" y="321868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 Spectrum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4838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along one line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39959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 Attribute matrix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2611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scored on attributes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81144" y="4773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 Sorting buckets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81144" y="50383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per bucket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47304" y="1481328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32" name="Shape 30"/>
          <p:cNvSpPr/>
          <p:nvPr/>
        </p:nvSpPr>
        <p:spPr>
          <a:xfrm>
            <a:off x="8147304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9E3B3B"/>
          </a:solidFill>
          <a:ln/>
        </p:spPr>
      </p:sp>
      <p:sp>
        <p:nvSpPr>
          <p:cNvPr id="33" name="Shape 31"/>
          <p:cNvSpPr/>
          <p:nvPr/>
        </p:nvSpPr>
        <p:spPr>
          <a:xfrm>
            <a:off x="8147304" y="1837944"/>
            <a:ext cx="3639312" cy="356616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03336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“CONTRAST IT”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403336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F · COMPARE &amp; CONTRAST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403336" y="24414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Comparison table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403336" y="2706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by attribute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403336" y="321868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Venn diagram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03336" y="34838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vs distinct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403336" y="39959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Do vs don't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403336" y="42611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habits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403336" y="4773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Before vs after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403336" y="50383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 beside new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080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always: 3–5 groups, the same fields on every card, and one slide per chunk when in doubt.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Categorical Template Bank</dc:title>
  <dc:subject>PptxGenJS Presentation</dc:subject>
  <dc:creator>L&amp;D Template Bank</dc:creator>
  <cp:lastModifiedBy>L&amp;D Template Bank</cp:lastModifiedBy>
  <cp:revision>1</cp:revision>
  <dcterms:created xsi:type="dcterms:W3CDTF">2026-08-30T12:01:00Z</dcterms:created>
  <dcterms:modified xsi:type="dcterms:W3CDTF">2026-08-30T12:01:00Z</dcterms:modified>
</cp:coreProperties>
</file>