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in the order of the physical walkaround, not by importance — the tour doubles as the checklist. Then hand out the same photo unmarked and have them place the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labels is the ceiling — past that, split by zone into two slides. Quiz by covering the label boxes and pointing at the dots.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zoom circle on the context image is doing quiet work: next time learners hold the real document, their eyes go to that region unprompted.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 through the corners in the order of the physical walkaround. Then show last month's damage photo and ask which corner would have caught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Shoot the photos in your actual room with the actual console. Users forgive bad lighting; they don't forgive a photo of hardware they don't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Re-shoot on every release. An outdated screenshot quietly teaches people the old UI — and erodes trust in everything else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Before-photos are gold: collect them the day BEFORE the initiative is announced, or you'll never get an honest one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Timestamps let learners jump straight to a moment on rewatch. Four frames is the sweet spot — a storyboard of twelve is just a slower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real photos from your own floor for both sides — the incorrect one especially. Recognition ('that's OUR aisle') is what turns a slide into a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the photo deliberately with your facilities team — five findable hazards, no fake-looking props. Keep an unmarked copy as the exercise slide and this one as the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learners' own submissions as next cohort's GOOD examples (with permission) — the ladder stays honest and the bar visibly rises.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photo carries what words can't (how tight 'tight wrap' looks); the criteria carry what photos can't (1.8 m, three turns). It takes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1.png"/><Relationship Id="rId5" Type="http://schemas.openxmlformats.org/officeDocument/2006/relationships/image" Target="../media/image-7-2.png"/><Relationship Id="rId6" Type="http://schemas.openxmlformats.org/officeDocument/2006/relationships/image" Target="../media/image-7-2.png"/><Relationship Id="rId7" Type="http://schemas.openxmlformats.org/officeDocument/2006/relationships/image" Target="../media/image-7-1.png"/><Relationship Id="rId8" Type="http://schemas.openxmlformats.org/officeDocument/2006/relationships/image" Target="../media/image-7-2.png"/><Relationship Id="rId9" Type="http://schemas.openxmlformats.org/officeDocument/2006/relationships/image" Target="../media/image-7-2.png"/><Relationship Id="rId10" Type="http://schemas.openxmlformats.org/officeDocument/2006/relationships/image" Target="../media/image-7-1.png"/><Relationship Id="rId11" Type="http://schemas.openxmlformats.org/officeDocument/2006/relationships/image" Target="../media/image-7-2.png"/><Relationship Id="rId12" Type="http://schemas.openxmlformats.org/officeDocument/2006/relationships/image" Target="../media/image-7-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1.png"/><Relationship Id="rId4" Type="http://schemas.openxmlformats.org/officeDocument/2006/relationships/image" Target="../media/image-12-2.png"/><Relationship Id="rId5" Type="http://schemas.openxmlformats.org/officeDocument/2006/relationships/image" Target="../media/image-12-1.png"/><Relationship Id="rId6" Type="http://schemas.openxmlformats.org/officeDocument/2006/relationships/image" Target="../media/image-12-2.png"/><Relationship Id="rId7" Type="http://schemas.openxmlformats.org/officeDocument/2006/relationships/image" Target="../media/image-12-1.png"/><Relationship Id="rId8" Type="http://schemas.openxmlformats.org/officeDocument/2006/relationships/image" Target="../media/image-12-2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3.png"/><Relationship Id="rId5" Type="http://schemas.openxmlformats.org/officeDocument/2006/relationships/image" Target="../media/image-14-3.png"/><Relationship Id="rId6" Type="http://schemas.openxmlformats.org/officeDocument/2006/relationships/image" Target="../media/image-14-6.png"/><Relationship Id="rId7" Type="http://schemas.openxmlformats.org/officeDocument/2006/relationships/image" Target="../media/image-14-2.png"/><Relationship Id="rId8" Type="http://schemas.openxmlformats.org/officeDocument/2006/relationships/image" Target="../media/image-14-8.png"/><Relationship Id="rId9" Type="http://schemas.openxmlformats.org/officeDocument/2006/relationships/image" Target="../media/image-14-8.png"/><Relationship Id="rId10" Type="http://schemas.openxmlformats.org/officeDocument/2006/relationships/image" Target="../media/image-14-8.png"/><Relationship Id="rId11" Type="http://schemas.openxmlformats.org/officeDocument/2006/relationships/image" Target="../media/image-1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2.png"/><Relationship Id="rId4" Type="http://schemas.openxmlformats.org/officeDocument/2006/relationships/image" Target="../media/image-17-2.png"/><Relationship Id="rId5" Type="http://schemas.openxmlformats.org/officeDocument/2006/relationships/image" Target="../media/image-17-2.png"/><Relationship Id="rId6" Type="http://schemas.openxmlformats.org/officeDocument/2006/relationships/image" Target="../media/image-17-2.png"/><Relationship Id="rId7" Type="http://schemas.openxmlformats.org/officeDocument/2006/relationships/image" Target="../media/image-17-7.png"/><Relationship Id="rId8" Type="http://schemas.openxmlformats.org/officeDocument/2006/relationships/image" Target="../media/image-17-7.png"/><Relationship Id="rId9" Type="http://schemas.openxmlformats.org/officeDocument/2006/relationships/image" Target="../media/image-17-7.png"/><Relationship Id="rId10" Type="http://schemas.openxmlformats.org/officeDocument/2006/relationships/image" Target="../media/image-1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43000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03  ·  DEEP DIVE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30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&amp; Visual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Bank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3200400"/>
            <a:ext cx="8897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layouts for the real thing — point at it, walk through it, and judge it against the standard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4434840"/>
            <a:ext cx="566928" cy="566928"/>
          </a:xfrm>
          <a:prstGeom prst="ellipse">
            <a:avLst/>
          </a:prstGeom>
          <a:solidFill>
            <a:srgbClr val="3A5787"/>
          </a:solidFill>
          <a:ln/>
        </p:spPr>
      </p:sp>
      <p:pic>
        <p:nvPicPr>
          <p:cNvPr id="7" name="Image 0" descr="/home/user/Tina/template-bank/assets/pin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055" y="4570903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55648" y="440740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· Point &amp; Name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755648" y="4736592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tour · Labeled parts · Zoom detail · Multi-view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462272" y="41605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718304" y="4434840"/>
            <a:ext cx="566928" cy="566928"/>
          </a:xfrm>
          <a:prstGeom prst="ellipse">
            <a:avLst/>
          </a:prstGeom>
          <a:solidFill>
            <a:srgbClr val="5B7699"/>
          </a:solidFill>
          <a:ln/>
        </p:spPr>
      </p:sp>
      <p:pic>
        <p:nvPicPr>
          <p:cNvPr id="12" name="Image 1" descr="/home/user/Tina/template-bank/assets/listol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367" y="457090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94960" y="440740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· Walk It Through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394960" y="4736592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steps · Screen flow · Before/during/after · Demo storyboard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101584" y="41605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8357616" y="4434840"/>
            <a:ext cx="566928" cy="566928"/>
          </a:xfrm>
          <a:prstGeom prst="ellipse">
            <a:avLst/>
          </a:prstGeom>
          <a:solidFill>
            <a:srgbClr val="9E3B3B"/>
          </a:solidFill>
          <a:ln/>
        </p:spPr>
      </p:sp>
      <p:pic>
        <p:nvPicPr>
          <p:cNvPr id="17" name="Image 2" descr="/home/user/Tina/template-bank/assets/clipcheck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679" y="4570903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34272" y="440740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Set the Standard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9034272" y="4736592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vs incorrect · Spot the hazards · Good-better-best · Acceptance card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60350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frame is a styled placeholder — drop in the REAL screenshot or photo and the layout does the rest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first — then stage the picture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learners must recognize or operate the real thing, only the real image teaches. Your job is staging: direct the eye, order the moments, define the standard.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3639312" cy="448056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81328"/>
            <a:ext cx="3639312" cy="914400"/>
          </a:xfrm>
          <a:prstGeom prst="roundRect">
            <a:avLst>
              <a:gd name="adj" fmla="val 7000"/>
            </a:avLst>
          </a:prstGeom>
          <a:solidFill>
            <a:srgbClr val="1F3864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938528"/>
            <a:ext cx="3639312" cy="4572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655064"/>
            <a:ext cx="566928" cy="566928"/>
          </a:xfrm>
          <a:prstGeom prst="ellipse">
            <a:avLst/>
          </a:prstGeom>
          <a:solidFill>
            <a:srgbClr val="3A5787"/>
          </a:solidFill>
          <a:ln/>
        </p:spPr>
      </p:sp>
      <p:pic>
        <p:nvPicPr>
          <p:cNvPr id="9" name="Image 0" descr="/home/user/Tina/template-bank/assets/pin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83" y="1791127"/>
            <a:ext cx="294803" cy="29480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35608" y="1645920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G  ·  4 TEMPLATES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435608" y="1865376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&amp; Name</a:t>
            </a:r>
            <a:endParaRPr lang="en-US" sz="1550" dirty="0"/>
          </a:p>
        </p:txBody>
      </p:sp>
      <p:sp>
        <p:nvSpPr>
          <p:cNvPr id="12" name="Text 9"/>
          <p:cNvSpPr txBox="1"/>
          <p:nvPr/>
        </p:nvSpPr>
        <p:spPr>
          <a:xfrm>
            <a:off x="758952" y="257860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me where.”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" y="2999232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and vocabulary — learners must find and name things on the real object or screen.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" y="3968496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YOURSELF:  </a:t>
            </a:r>
            <a:pPr indent="0" marL="0">
              <a:buNone/>
            </a:pPr>
            <a:r>
              <a:rPr lang="en-US" sz="1050" i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they locate it on the real thing right now?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" y="4727448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FAMILY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" y="4983480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tour · Labeled parts · Zoom detail · Multi-view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25112" y="1481328"/>
            <a:ext cx="3639312" cy="448056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18" name="Shape 15"/>
          <p:cNvSpPr/>
          <p:nvPr/>
        </p:nvSpPr>
        <p:spPr>
          <a:xfrm>
            <a:off x="4325112" y="1481328"/>
            <a:ext cx="3639312" cy="914400"/>
          </a:xfrm>
          <a:prstGeom prst="roundRect">
            <a:avLst>
              <a:gd name="adj" fmla="val 7000"/>
            </a:avLst>
          </a:prstGeom>
          <a:solidFill>
            <a:srgbClr val="5B7699"/>
          </a:solidFill>
          <a:ln/>
        </p:spPr>
      </p:sp>
      <p:sp>
        <p:nvSpPr>
          <p:cNvPr id="19" name="Shape 16"/>
          <p:cNvSpPr/>
          <p:nvPr/>
        </p:nvSpPr>
        <p:spPr>
          <a:xfrm>
            <a:off x="4325112" y="1938528"/>
            <a:ext cx="3639312" cy="457200"/>
          </a:xfrm>
          <a:prstGeom prst="rect">
            <a:avLst/>
          </a:prstGeom>
          <a:solidFill>
            <a:srgbClr val="5B7699"/>
          </a:solidFill>
          <a:ln/>
        </p:spPr>
      </p:sp>
      <p:sp>
        <p:nvSpPr>
          <p:cNvPr id="20" name="Shape 17"/>
          <p:cNvSpPr/>
          <p:nvPr/>
        </p:nvSpPr>
        <p:spPr>
          <a:xfrm>
            <a:off x="4553712" y="1655064"/>
            <a:ext cx="566928" cy="566928"/>
          </a:xfrm>
          <a:prstGeom prst="ellipse">
            <a:avLst/>
          </a:prstGeom>
          <a:solidFill>
            <a:srgbClr val="6E87A8"/>
          </a:solidFill>
          <a:ln/>
        </p:spPr>
      </p:sp>
      <p:pic>
        <p:nvPicPr>
          <p:cNvPr id="21" name="Image 1" descr="/home/user/Tina/template-bank/assets/listol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775" y="1791127"/>
            <a:ext cx="294803" cy="294803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257800" y="1645920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  ·  4 TEMPLATES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5257800" y="1865376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It Through</a:t>
            </a:r>
            <a:endParaRPr lang="en-US" sz="1550" dirty="0"/>
          </a:p>
        </p:txBody>
      </p:sp>
      <p:sp>
        <p:nvSpPr>
          <p:cNvPr id="24" name="Text 20"/>
          <p:cNvSpPr txBox="1"/>
          <p:nvPr/>
        </p:nvSpPr>
        <p:spPr>
          <a:xfrm>
            <a:off x="4581144" y="257860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me how.”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4581144" y="2999232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 order — one accurate image per moment, so the sequence rehearses itself.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4581144" y="3968496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YOURSELF:  </a:t>
            </a:r>
            <a:pPr indent="0" marL="0">
              <a:buNone/>
            </a:pPr>
            <a:r>
              <a:rPr lang="en-US" sz="1050" i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they do it, in order, without you in the room?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4581144" y="4727448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FAMILY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4581144" y="4983480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steps · Screen flow · Before/during/after · Demo storyboard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8147304" y="1481328"/>
            <a:ext cx="3639312" cy="448056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30" name="Shape 26"/>
          <p:cNvSpPr/>
          <p:nvPr/>
        </p:nvSpPr>
        <p:spPr>
          <a:xfrm>
            <a:off x="8147304" y="1481328"/>
            <a:ext cx="3639312" cy="914400"/>
          </a:xfrm>
          <a:prstGeom prst="roundRect">
            <a:avLst>
              <a:gd name="adj" fmla="val 7000"/>
            </a:avLst>
          </a:prstGeom>
          <a:solidFill>
            <a:srgbClr val="9E3B3B"/>
          </a:solidFill>
          <a:ln/>
        </p:spPr>
      </p:sp>
      <p:sp>
        <p:nvSpPr>
          <p:cNvPr id="31" name="Shape 27"/>
          <p:cNvSpPr/>
          <p:nvPr/>
        </p:nvSpPr>
        <p:spPr>
          <a:xfrm>
            <a:off x="8147304" y="1938528"/>
            <a:ext cx="3639312" cy="457200"/>
          </a:xfrm>
          <a:prstGeom prst="rect">
            <a:avLst/>
          </a:prstGeom>
          <a:solidFill>
            <a:srgbClr val="9E3B3B"/>
          </a:solidFill>
          <a:ln/>
        </p:spPr>
      </p:sp>
      <p:sp>
        <p:nvSpPr>
          <p:cNvPr id="32" name="Shape 28"/>
          <p:cNvSpPr/>
          <p:nvPr/>
        </p:nvSpPr>
        <p:spPr>
          <a:xfrm>
            <a:off x="8375904" y="1655064"/>
            <a:ext cx="566928" cy="566928"/>
          </a:xfrm>
          <a:prstGeom prst="ellipse">
            <a:avLst/>
          </a:prstGeom>
          <a:solidFill>
            <a:srgbClr val="AF5252"/>
          </a:solidFill>
          <a:ln/>
        </p:spPr>
      </p:sp>
      <p:pic>
        <p:nvPicPr>
          <p:cNvPr id="33" name="Image 2" descr="/home/user/Tina/template-bank/assets/clipcheck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967" y="1791127"/>
            <a:ext cx="294803" cy="294803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9079992" y="1645920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I  ·  4 TEMPLATES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9079992" y="1865376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Standard</a:t>
            </a:r>
            <a:endParaRPr lang="en-US" sz="1550" dirty="0"/>
          </a:p>
        </p:txBody>
      </p:sp>
      <p:sp>
        <p:nvSpPr>
          <p:cNvPr id="36" name="Text 31"/>
          <p:cNvSpPr txBox="1"/>
          <p:nvPr/>
        </p:nvSpPr>
        <p:spPr>
          <a:xfrm>
            <a:off x="8403336" y="257860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me the bar.”</a:t>
            </a:r>
            <a:endParaRPr lang="en-US" sz="1500" dirty="0"/>
          </a:p>
        </p:txBody>
      </p:sp>
      <p:sp>
        <p:nvSpPr>
          <p:cNvPr id="37" name="Text 32"/>
          <p:cNvSpPr txBox="1"/>
          <p:nvPr/>
        </p:nvSpPr>
        <p:spPr>
          <a:xfrm>
            <a:off x="8403336" y="2999232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against quality — right vs wrong, hazards found, work accepted or rejected.</a:t>
            </a:r>
            <a:endParaRPr 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8403336" y="3968496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YOURSELF:  </a:t>
            </a:r>
            <a:pPr indent="0" marL="0">
              <a:buNone/>
            </a:pPr>
            <a:r>
              <a:rPr lang="en-US" sz="1050" i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they tell done-right from done-wrong at a glance?</a:t>
            </a:r>
            <a:endParaRPr lang="en-US" sz="900" dirty="0"/>
          </a:p>
        </p:txBody>
      </p:sp>
      <p:sp>
        <p:nvSpPr>
          <p:cNvPr id="39" name="Text 34"/>
          <p:cNvSpPr txBox="1"/>
          <p:nvPr/>
        </p:nvSpPr>
        <p:spPr>
          <a:xfrm>
            <a:off x="8403336" y="4727448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FAMILY</a:t>
            </a: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8403336" y="4983480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vs incorrect · Spot the hazards · Good–better–best · Acceptance card</a:t>
            </a:r>
            <a:endParaRPr lang="en-US" sz="1050" dirty="0"/>
          </a:p>
        </p:txBody>
      </p:sp>
      <p:sp>
        <p:nvSpPr>
          <p:cNvPr id="41" name="Text 36"/>
          <p:cNvSpPr txBox="1"/>
          <p:nvPr/>
        </p:nvSpPr>
        <p:spPr>
          <a:xfrm>
            <a:off x="502920" y="626364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hard rule: real images only — a mock-up teaches learners to recognize the mock-up.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445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8686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2070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&amp; Name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9659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must find and name things on the real object or screen. Use the accurate image, then direct the eye — a numbered tour, part labels, a magnified detail, or every angle the job needs.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383384" y="3246120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7" name="Image 0" descr="/home/user/Tina/template-bank/assets/image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2840" y="3465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078328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· Annotated Tour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078328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callouts, in the order eyes should travel.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96432" y="3246120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1" name="Image 1" descr="/home/user/Tina/template-bank/assets/tag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888" y="34655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91376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· Labeled Parts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891376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attached to the real thing with leader lines.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383384" y="4681728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5" name="Image 2" descr="/home/user/Tina/template-bank/assets/zoomin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840" y="4901184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78328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· Zoom Detail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3078328" y="51572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for context, the part magnified.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196432" y="4681728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9" name="Image 3" descr="/home/user/Tina/template-bank/assets/cube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888" y="4901184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91376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· Multi-View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6891376" y="51572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real thing from every required angle.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G1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Tour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the forklift pre-shift check: five stops, in walking order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· POINT &amp; NAME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6492240" cy="4617720"/>
          </a:xfrm>
          <a:prstGeom prst="roundRect">
            <a:avLst>
              <a:gd name="adj" fmla="val 1188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8" name="Image 0" descr="/home/user/Tina/template-bank/assets/camera-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6140" y="3300984"/>
            <a:ext cx="685800" cy="6858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39547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the REAL truck — your fleet, your yard, current livery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371600" y="5120640"/>
            <a:ext cx="384048" cy="384048"/>
          </a:xfrm>
          <a:prstGeom prst="ellipse">
            <a:avLst/>
          </a:prstGeom>
          <a:solidFill>
            <a:srgbClr val="1F3864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37160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377440" y="2834640"/>
            <a:ext cx="384048" cy="384048"/>
          </a:xfrm>
          <a:prstGeom prst="ellipse">
            <a:avLst/>
          </a:prstGeom>
          <a:solidFill>
            <a:srgbClr val="3A5787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3774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46320" y="5394960"/>
            <a:ext cx="384048" cy="384048"/>
          </a:xfrm>
          <a:prstGeom prst="ellipse">
            <a:avLst/>
          </a:prstGeom>
          <a:solidFill>
            <a:srgbClr val="5B7699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846320" y="5394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931920" y="1828800"/>
            <a:ext cx="384048" cy="384048"/>
          </a:xfrm>
          <a:prstGeom prst="ellipse">
            <a:avLst/>
          </a:prstGeom>
          <a:solidFill>
            <a:srgbClr val="3A5787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393192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852160" y="3291840"/>
            <a:ext cx="384048" cy="384048"/>
          </a:xfrm>
          <a:prstGeom prst="ellipse">
            <a:avLst/>
          </a:prstGeom>
          <a:solidFill>
            <a:srgbClr val="9E3B3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8521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315200" y="1481328"/>
            <a:ext cx="347472" cy="347472"/>
          </a:xfrm>
          <a:prstGeom prst="ellipse">
            <a:avLst/>
          </a:prstGeom>
          <a:solidFill>
            <a:srgbClr val="1F3864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315200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14538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Forks &amp; heel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7790688" y="1728216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Cracks, bends, uneven tips — heel wear past the line fails the truck.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315200" y="2432304"/>
            <a:ext cx="347472" cy="347472"/>
          </a:xfrm>
          <a:prstGeom prst="ellipse">
            <a:avLst/>
          </a:prstGeom>
          <a:solidFill>
            <a:srgbClr val="3A5787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315200" y="2432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790688" y="24048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Mast, chains &amp; hoses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7790688" y="267919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Kinked chains, weeping hoses. Never reach through the mast.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315200" y="3383280"/>
            <a:ext cx="347472" cy="347472"/>
          </a:xfrm>
          <a:prstGeom prst="ellipse">
            <a:avLst/>
          </a:prstGeom>
          <a:solidFill>
            <a:srgbClr val="5B7699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731520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790688" y="3355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Tires &amp; wheel nuts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7790688" y="363016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Chunking, cords showing, a missing nut — any one parks it.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315200" y="4334256"/>
            <a:ext cx="347472" cy="347472"/>
          </a:xfrm>
          <a:prstGeom prst="ellipse">
            <a:avLst/>
          </a:prstGeom>
          <a:solidFill>
            <a:srgbClr val="3A5787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7315200" y="4334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7790688" y="43068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guard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7790688" y="4581144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 legs or cracked welds mean no protection when it matters.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315200" y="5285232"/>
            <a:ext cx="347472" cy="347472"/>
          </a:xfrm>
          <a:prstGeom prst="ellipse">
            <a:avLst/>
          </a:prstGeom>
          <a:solidFill>
            <a:srgbClr val="9E3B3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7315200" y="5285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7790688" y="52578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plate</a:t>
            </a:r>
            <a:endParaRPr lang="en-US" sz="1250" dirty="0"/>
          </a:p>
        </p:txBody>
      </p:sp>
      <p:sp>
        <p:nvSpPr>
          <p:cNvPr id="39" name="Text 36"/>
          <p:cNvSpPr txBox="1"/>
          <p:nvPr/>
        </p:nvSpPr>
        <p:spPr>
          <a:xfrm>
            <a:off x="7790688" y="553212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Legible capacity, matching attachments. No plate, no operation.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41" name="Image 1" descr="/home/user/Tina/template-bank/assets/lightbulb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must find things on the real object in a set order — number the tour so the eye walks the same route their feet will.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G2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Parts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the AED on the wall: six parts everyone should know by name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· POINT &amp; NAME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041648" y="1481328"/>
            <a:ext cx="4114800" cy="4526280"/>
          </a:xfrm>
          <a:prstGeom prst="roundRect">
            <a:avLst>
              <a:gd name="adj" fmla="val 1333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8" name="Image 0" descr="/home/user/Tina/template-bank/assets/camera-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6148" y="3255264"/>
            <a:ext cx="685800" cy="6858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178808" y="39090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YOUR model 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on YOUR wall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3063240" cy="960120"/>
          </a:xfrm>
          <a:prstGeom prst="roundRect">
            <a:avLst>
              <a:gd name="adj" fmla="val 6667"/>
            </a:avLst>
          </a:prstGeom>
          <a:solidFill>
            <a:srgbClr val="F3F4F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1520" y="18196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indicator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09397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blink = ready. Red or silent = report it today.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480560" y="1947672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4" name="Shape 11"/>
          <p:cNvSpPr/>
          <p:nvPr/>
        </p:nvSpPr>
        <p:spPr>
          <a:xfrm flipV="1">
            <a:off x="3566160" y="2011680"/>
            <a:ext cx="978408" cy="137160"/>
          </a:xfrm>
          <a:prstGeom prst="line">
            <a:avLst/>
          </a:prstGeom>
          <a:noFill/>
          <a:ln w="15875">
            <a:solidFill>
              <a:srgbClr val="AEB7C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246120"/>
            <a:ext cx="3063240" cy="960120"/>
          </a:xfrm>
          <a:prstGeom prst="roundRect">
            <a:avLst>
              <a:gd name="adj" fmla="val 6667"/>
            </a:avLst>
          </a:prstGeom>
          <a:solidFill>
            <a:srgbClr val="F3F4F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" y="33741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Pads cartridge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364845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and in date — expiry is on the front.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480560" y="3502152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9" name="Shape 16"/>
          <p:cNvSpPr/>
          <p:nvPr/>
        </p:nvSpPr>
        <p:spPr>
          <a:xfrm flipV="1">
            <a:off x="3566160" y="3566160"/>
            <a:ext cx="978408" cy="137160"/>
          </a:xfrm>
          <a:prstGeom prst="line">
            <a:avLst/>
          </a:prstGeom>
          <a:noFill/>
          <a:ln w="15875">
            <a:solidFill>
              <a:srgbClr val="AEB7C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" y="4800600"/>
            <a:ext cx="3063240" cy="960120"/>
          </a:xfrm>
          <a:prstGeom prst="roundRect">
            <a:avLst>
              <a:gd name="adj" fmla="val 6667"/>
            </a:avLst>
          </a:prstGeom>
          <a:solidFill>
            <a:srgbClr val="F3F4F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31520" y="49286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520293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sticker; it expires before the pads do.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480560" y="5056632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4" name="Shape 21"/>
          <p:cNvSpPr/>
          <p:nvPr/>
        </p:nvSpPr>
        <p:spPr>
          <a:xfrm flipV="1">
            <a:off x="3566160" y="5120640"/>
            <a:ext cx="978408" cy="137160"/>
          </a:xfrm>
          <a:prstGeom prst="line">
            <a:avLst/>
          </a:prstGeom>
          <a:noFill/>
          <a:ln w="15875">
            <a:solidFill>
              <a:srgbClr val="AEB7C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13648" y="1691640"/>
            <a:ext cx="3063240" cy="960120"/>
          </a:xfrm>
          <a:prstGeom prst="roundRect">
            <a:avLst>
              <a:gd name="adj" fmla="val 6667"/>
            </a:avLst>
          </a:prstGeom>
          <a:solidFill>
            <a:srgbClr val="F3F4F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842248" y="18196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button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842248" y="209397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 up only when a shock is advised.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589520" y="2130552"/>
            <a:ext cx="128016" cy="128016"/>
          </a:xfrm>
          <a:prstGeom prst="ellipse">
            <a:avLst/>
          </a:prstGeom>
          <a:solidFill>
            <a:srgbClr val="9E3B3B"/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7653528" y="2148840"/>
            <a:ext cx="960120" cy="45720"/>
          </a:xfrm>
          <a:prstGeom prst="line">
            <a:avLst/>
          </a:prstGeom>
          <a:noFill/>
          <a:ln w="15875">
            <a:solidFill>
              <a:srgbClr val="AEB7C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613648" y="3246120"/>
            <a:ext cx="3063240" cy="960120"/>
          </a:xfrm>
          <a:prstGeom prst="roundRect">
            <a:avLst>
              <a:gd name="adj" fmla="val 6667"/>
            </a:avLst>
          </a:prstGeom>
          <a:solidFill>
            <a:srgbClr val="F3F4F7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842248" y="33741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8842248" y="364845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Voice-guides every step — you cannot do it wrong quietly.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589520" y="3685032"/>
            <a:ext cx="128016" cy="128016"/>
          </a:xfrm>
          <a:prstGeom prst="ellipse">
            <a:avLst/>
          </a:prstGeom>
          <a:solidFill>
            <a:srgbClr val="9E3B3B"/>
          </a:solidFill>
          <a:ln/>
        </p:spPr>
      </p:sp>
      <p:sp>
        <p:nvSpPr>
          <p:cNvPr id="34" name="Shape 31"/>
          <p:cNvSpPr/>
          <p:nvPr/>
        </p:nvSpPr>
        <p:spPr>
          <a:xfrm flipH="1">
            <a:off x="7653528" y="3703320"/>
            <a:ext cx="960120" cy="45720"/>
          </a:xfrm>
          <a:prstGeom prst="line">
            <a:avLst/>
          </a:prstGeom>
          <a:noFill/>
          <a:ln w="15875">
            <a:solidFill>
              <a:srgbClr val="AEB7C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613648" y="4800600"/>
            <a:ext cx="3063240" cy="960120"/>
          </a:xfrm>
          <a:prstGeom prst="roundRect">
            <a:avLst>
              <a:gd name="adj" fmla="val 6667"/>
            </a:avLst>
          </a:prstGeom>
          <a:solidFill>
            <a:srgbClr val="F3F4F7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842248" y="49286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handle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842248" y="520293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it sounds the alarm and calls for help. Good.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7589520" y="5239512"/>
            <a:ext cx="128016" cy="128016"/>
          </a:xfrm>
          <a:prstGeom prst="ellipse">
            <a:avLst/>
          </a:prstGeom>
          <a:solidFill>
            <a:srgbClr val="9E3B3B"/>
          </a:solidFill>
          <a:ln/>
        </p:spPr>
      </p:sp>
      <p:sp>
        <p:nvSpPr>
          <p:cNvPr id="39" name="Shape 36"/>
          <p:cNvSpPr/>
          <p:nvPr/>
        </p:nvSpPr>
        <p:spPr>
          <a:xfrm flipH="1">
            <a:off x="7653528" y="5257800"/>
            <a:ext cx="960120" cy="45720"/>
          </a:xfrm>
          <a:prstGeom prst="line">
            <a:avLst/>
          </a:prstGeom>
          <a:noFill/>
          <a:ln w="15875">
            <a:solidFill>
              <a:srgbClr val="AEB7C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02920" y="6144768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teach names; the tour (G1) orders actions — different jobs, different templates.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42" name="Image 1" descr="/home/user/Tina/template-bank/assets/lightbulb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names ARE the content — attach vocabulary to the accurate image so words and thing arrive together.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G3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Detail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the safety data sheet: sixteen sections, one that matters in an emergency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· POINT &amp; NAME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2834640" cy="4023360"/>
          </a:xfrm>
          <a:prstGeom prst="roundRect">
            <a:avLst>
              <a:gd name="adj" fmla="val 1935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8" name="Image 0" descr="/home/user/Tina/template-bank/assets/image-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3003804"/>
            <a:ext cx="685800" cy="6858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3657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page 1 of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product's SDS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55778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— for context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234440" y="2606040"/>
            <a:ext cx="1371600" cy="914400"/>
          </a:xfrm>
          <a:prstGeom prst="ellipse">
            <a:avLst/>
          </a:prstGeom>
          <a:solidFill>
            <a:srgbClr val="9E3B3B">
              <a:alpha val="8000"/>
            </a:srgbClr>
          </a:solidFill>
          <a:ln w="25400">
            <a:solidFill>
              <a:srgbClr val="9E3B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2606040" y="1737360"/>
            <a:ext cx="1554480" cy="1005840"/>
          </a:xfrm>
          <a:prstGeom prst="line">
            <a:avLst/>
          </a:prstGeom>
          <a:noFill/>
          <a:ln w="15875">
            <a:solidFill>
              <a:srgbClr val="9E3B3B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2606040" y="3383280"/>
            <a:ext cx="1554480" cy="1691640"/>
          </a:xfrm>
          <a:prstGeom prst="line">
            <a:avLst/>
          </a:prstGeom>
          <a:noFill/>
          <a:ln w="15875">
            <a:solidFill>
              <a:srgbClr val="9E3B3B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4160520" y="1600200"/>
            <a:ext cx="749808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25400">
            <a:solidFill>
              <a:srgbClr val="9E3B3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43400" y="1783080"/>
            <a:ext cx="4023360" cy="3200400"/>
          </a:xfrm>
          <a:prstGeom prst="roundRect">
            <a:avLst>
              <a:gd name="adj" fmla="val 1714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6" name="Image 1" descr="/home/user/Tina/template-bank/assets/camera-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80" y="2894076"/>
            <a:ext cx="685800" cy="6858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480560" y="35478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Zoomed crop 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4, legible at room distance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1828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FIRST-AID MEASURES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503920" y="2231136"/>
            <a:ext cx="128016" cy="566928"/>
          </a:xfrm>
          <a:prstGeom prst="rect">
            <a:avLst/>
          </a:prstGeom>
          <a:solidFill>
            <a:srgbClr val="5B7699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732520" y="21945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8732520" y="24505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Rinse 15 minutes — know where the wash station is before you need it.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8503920" y="3145536"/>
            <a:ext cx="128016" cy="566928"/>
          </a:xfrm>
          <a:prstGeom prst="rect">
            <a:avLst/>
          </a:prstGeom>
          <a:solidFill>
            <a:srgbClr val="5B7699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732520" y="3108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8732520" y="33649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Contaminated clothing comes off first, then water.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8503920" y="4059936"/>
            <a:ext cx="128016" cy="566928"/>
          </a:xfrm>
          <a:prstGeom prst="rect">
            <a:avLst/>
          </a:prstGeom>
          <a:solidFill>
            <a:srgbClr val="9E3B3B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8732520" y="4023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8732520" y="42793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sheet travels with the casualty to the medic.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502920" y="5806440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whole once, then live in the zoom — never make a room squint at a full page.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30" name="Image 2" descr="/home/user/Tina/template-bank/assets/lightbulb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region carries the meaning — show the whole for orientation, then magnify the part that matters until it is legible from the back row.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G4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Multi-View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the pool van, four corners: one view always hides the damage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· POINT &amp; NAME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1F38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4813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075688"/>
            <a:ext cx="2697480" cy="2331720"/>
          </a:xfrm>
          <a:prstGeom prst="roundRect">
            <a:avLst>
              <a:gd name="adj" fmla="val 2353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0" name="Image 0" descr="/home/user/Tina/template-bank/assets/camera-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5219" y="2768803"/>
            <a:ext cx="652882" cy="65288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0080" y="34061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van,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angle</a:t>
            </a:r>
            <a:endParaRPr lang="en-US" sz="950" dirty="0"/>
          </a:p>
        </p:txBody>
      </p:sp>
      <p:pic>
        <p:nvPicPr>
          <p:cNvPr id="12" name="Image 1" descr="/home/user/Tina/template-bank/assets/check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461772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86968" y="459028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Lights, glass, wipers whole</a:t>
            </a:r>
            <a:endParaRPr lang="en-US" sz="950" dirty="0"/>
          </a:p>
        </p:txBody>
      </p:sp>
      <p:pic>
        <p:nvPicPr>
          <p:cNvPr id="14" name="Image 2" descr="/home/user/Tina/template-bank/assets/check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518464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86968" y="515721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present and clean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346704" y="1481328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3A5787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3346704" y="14813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SIDE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3346704" y="2075688"/>
            <a:ext cx="2697480" cy="2331720"/>
          </a:xfrm>
          <a:prstGeom prst="roundRect">
            <a:avLst>
              <a:gd name="adj" fmla="val 2353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9" name="Image 3" descr="/home/user/Tina/template-bank/assets/camera-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003" y="2768803"/>
            <a:ext cx="652882" cy="65288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483864" y="34061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van,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angle</a:t>
            </a:r>
            <a:endParaRPr lang="en-US" sz="950" dirty="0"/>
          </a:p>
        </p:txBody>
      </p:sp>
      <p:pic>
        <p:nvPicPr>
          <p:cNvPr id="21" name="Image 4" descr="/home/user/Tina/template-bank/assets/check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4617720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730752" y="459028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Tires: tread &amp; pressure look</a:t>
            </a:r>
            <a:endParaRPr lang="en-US" sz="950" dirty="0"/>
          </a:p>
        </p:txBody>
      </p:sp>
      <p:pic>
        <p:nvPicPr>
          <p:cNvPr id="23" name="Image 5" descr="/home/user/Tina/template-bank/assets/check-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568" y="5184648"/>
            <a:ext cx="219456" cy="219456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730752" y="515721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scrapes vs the sheet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6190488" y="1481328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5B7699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6190488" y="14813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6190488" y="2075688"/>
            <a:ext cx="2697480" cy="2331720"/>
          </a:xfrm>
          <a:prstGeom prst="roundRect">
            <a:avLst>
              <a:gd name="adj" fmla="val 2353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28" name="Image 6" descr="/home/user/Tina/template-bank/assets/camera-gr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2787" y="2768803"/>
            <a:ext cx="652882" cy="65288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327648" y="34061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van,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angle</a:t>
            </a:r>
            <a:endParaRPr lang="en-US" sz="950" dirty="0"/>
          </a:p>
        </p:txBody>
      </p:sp>
      <p:pic>
        <p:nvPicPr>
          <p:cNvPr id="30" name="Image 7" descr="/home/user/Tina/template-bank/assets/check-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352" y="4617720"/>
            <a:ext cx="219456" cy="219456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574536" y="459028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Doors latch and lock</a:t>
            </a:r>
            <a:endParaRPr lang="en-US" sz="950" dirty="0"/>
          </a:p>
        </p:txBody>
      </p:sp>
      <p:pic>
        <p:nvPicPr>
          <p:cNvPr id="32" name="Image 8" descr="/home/user/Tina/template-bank/assets/check-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352" y="5184648"/>
            <a:ext cx="219456" cy="219456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6574536" y="515721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&amp; brake lights</a:t>
            </a:r>
            <a:endParaRPr lang="en-US" sz="950" dirty="0"/>
          </a:p>
        </p:txBody>
      </p:sp>
      <p:sp>
        <p:nvSpPr>
          <p:cNvPr id="34" name="Shape 23"/>
          <p:cNvSpPr/>
          <p:nvPr/>
        </p:nvSpPr>
        <p:spPr>
          <a:xfrm>
            <a:off x="9034272" y="1481328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9E3B3B"/>
          </a:solidFill>
          <a:ln/>
        </p:spPr>
      </p:sp>
      <p:sp>
        <p:nvSpPr>
          <p:cNvPr id="35" name="Text 24"/>
          <p:cNvSpPr txBox="1"/>
          <p:nvPr/>
        </p:nvSpPr>
        <p:spPr>
          <a:xfrm>
            <a:off x="9034272" y="14813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SIDE</a:t>
            </a:r>
            <a:endParaRPr lang="en-US" sz="1150" dirty="0"/>
          </a:p>
        </p:txBody>
      </p:sp>
      <p:sp>
        <p:nvSpPr>
          <p:cNvPr id="36" name="Shape 25"/>
          <p:cNvSpPr/>
          <p:nvPr/>
        </p:nvSpPr>
        <p:spPr>
          <a:xfrm>
            <a:off x="9034272" y="2075688"/>
            <a:ext cx="2697480" cy="2331720"/>
          </a:xfrm>
          <a:prstGeom prst="roundRect">
            <a:avLst>
              <a:gd name="adj" fmla="val 2353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37" name="Image 9" descr="/home/user/Tina/template-bank/assets/camera-gra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6571" y="2768803"/>
            <a:ext cx="652882" cy="652882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9171432" y="34061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van,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angle</a:t>
            </a:r>
            <a:endParaRPr lang="en-US" sz="950" dirty="0"/>
          </a:p>
        </p:txBody>
      </p:sp>
      <p:pic>
        <p:nvPicPr>
          <p:cNvPr id="39" name="Image 10" descr="/home/user/Tina/template-bank/assets/check-nav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89136" y="4617720"/>
            <a:ext cx="219456" cy="219456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9418320" y="459028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intact and firm</a:t>
            </a:r>
            <a:endParaRPr lang="en-US" sz="950" dirty="0"/>
          </a:p>
        </p:txBody>
      </p:sp>
      <p:pic>
        <p:nvPicPr>
          <p:cNvPr id="41" name="Image 11" descr="/home/user/Tina/template-bank/assets/check-nav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89136" y="5184648"/>
            <a:ext cx="219456" cy="219456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9418320" y="515721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door runs free</a:t>
            </a:r>
            <a:endParaRPr lang="en-US" sz="950" dirty="0"/>
          </a:p>
        </p:txBody>
      </p:sp>
      <p:sp>
        <p:nvSpPr>
          <p:cNvPr id="43" name="Text 29"/>
          <p:cNvSpPr txBox="1"/>
          <p:nvPr/>
        </p:nvSpPr>
        <p:spPr>
          <a:xfrm>
            <a:off x="502920" y="6035040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vehicle, same day, same light — four honest angles beat one flattering one.</a:t>
            </a:r>
            <a:endParaRPr lang="en-US" sz="900" dirty="0"/>
          </a:p>
        </p:txBody>
      </p:sp>
      <p:sp>
        <p:nvSpPr>
          <p:cNvPr id="44" name="Shape 30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45" name="Image 12" descr="/home/user/Tina/template-bank/assets/lightbulb-nav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view hides half the story — show the same real thing from every angle the job actually requires.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B76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7E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8686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2070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It Through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9659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must perform it, in order. Give every moment its own accurate image — steps, screens, states, and demo frames — so the sequence rehearses itself before they ever touch the real thing.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383384" y="3246120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7" name="Image 0" descr="/home/user/Tina/template-bank/assets/camera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2840" y="3465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078328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· Photo Steps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078328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accurate photo per step, in strict order.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96432" y="3246120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1" name="Image 1" descr="/home/user/Tina/template-bank/assets/tv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888" y="34655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91376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· Screen Flow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891376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screenshot per decision, arrows carry the order.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383384" y="4681728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5" name="Image 2" descr="/home/user/Tina/template-bank/assets/exchange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840" y="4901184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78328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· Before / During / After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3078328" y="51572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scene, same angle, three moments.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196432" y="4681728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9" name="Image 3" descr="/home/user/Tina/template-bank/assets/film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888" y="4901184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91376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· Demo Storyboard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6891376" y="51572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video's defining frames, frozen for rehearsal.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H1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Steps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the hybrid meeting room: four photos between you and a clean start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5B76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· WALK IT THROUGH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2670048" cy="4434840"/>
          </a:xfrm>
          <a:prstGeom prst="roundRect">
            <a:avLst>
              <a:gd name="adj" fmla="val 2397"/>
            </a:avLst>
          </a:prstGeom>
          <a:solidFill>
            <a:srgbClr val="F3F4F7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618488"/>
            <a:ext cx="2395728" cy="1965960"/>
          </a:xfrm>
          <a:prstGeom prst="roundRect">
            <a:avLst>
              <a:gd name="adj" fmla="val 2791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9" name="Image 0" descr="/home/user/Tina/template-bank/assets/camera-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2710" y="2179930"/>
            <a:ext cx="550469" cy="55046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276606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of THIS step,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room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58952" y="1737360"/>
            <a:ext cx="475488" cy="475488"/>
          </a:xfrm>
          <a:prstGeom prst="ellipse">
            <a:avLst/>
          </a:prstGeom>
          <a:solidFill>
            <a:srgbClr val="5B76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" y="372160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the room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04088" y="4059936"/>
            <a:ext cx="2267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console awake; both displays should light within seconds.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127248" y="2441448"/>
            <a:ext cx="274320" cy="292608"/>
          </a:xfrm>
          <a:prstGeom prst="rightArrow">
            <a:avLst/>
          </a:prstGeom>
          <a:solidFill>
            <a:srgbClr val="8FA3BC"/>
          </a:solidFill>
          <a:ln/>
        </p:spPr>
      </p:sp>
      <p:sp>
        <p:nvSpPr>
          <p:cNvPr id="16" name="Shape 13"/>
          <p:cNvSpPr/>
          <p:nvPr/>
        </p:nvSpPr>
        <p:spPr>
          <a:xfrm>
            <a:off x="3342132" y="1481328"/>
            <a:ext cx="2670048" cy="4434840"/>
          </a:xfrm>
          <a:prstGeom prst="roundRect">
            <a:avLst>
              <a:gd name="adj" fmla="val 2397"/>
            </a:avLst>
          </a:prstGeom>
          <a:solidFill>
            <a:srgbClr val="F3F4F7"/>
          </a:solidFill>
          <a:ln/>
        </p:spPr>
      </p:sp>
      <p:sp>
        <p:nvSpPr>
          <p:cNvPr id="17" name="Shape 14"/>
          <p:cNvSpPr/>
          <p:nvPr/>
        </p:nvSpPr>
        <p:spPr>
          <a:xfrm>
            <a:off x="3479292" y="1618488"/>
            <a:ext cx="2395728" cy="1965960"/>
          </a:xfrm>
          <a:prstGeom prst="roundRect">
            <a:avLst>
              <a:gd name="adj" fmla="val 2791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8" name="Image 1" descr="/home/user/Tina/template-bank/assets/camera-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922" y="2179930"/>
            <a:ext cx="550469" cy="550469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616452" y="276606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of THIS step,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room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598164" y="1737360"/>
            <a:ext cx="475488" cy="475488"/>
          </a:xfrm>
          <a:prstGeom prst="ellipse">
            <a:avLst/>
          </a:prstGeom>
          <a:solidFill>
            <a:srgbClr val="5B76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598164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3543300" y="372160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share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3543300" y="4059936"/>
            <a:ext cx="2267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cable to the laptop — the room takes over camera, mic, and screen.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5966460" y="2441448"/>
            <a:ext cx="274320" cy="292608"/>
          </a:xfrm>
          <a:prstGeom prst="rightArrow">
            <a:avLst/>
          </a:prstGeom>
          <a:solidFill>
            <a:srgbClr val="8FA3BC"/>
          </a:solidFill>
          <a:ln/>
        </p:spPr>
      </p:sp>
      <p:sp>
        <p:nvSpPr>
          <p:cNvPr id="25" name="Shape 21"/>
          <p:cNvSpPr/>
          <p:nvPr/>
        </p:nvSpPr>
        <p:spPr>
          <a:xfrm>
            <a:off x="6181344" y="1481328"/>
            <a:ext cx="2670048" cy="4434840"/>
          </a:xfrm>
          <a:prstGeom prst="roundRect">
            <a:avLst>
              <a:gd name="adj" fmla="val 2397"/>
            </a:avLst>
          </a:prstGeom>
          <a:solidFill>
            <a:srgbClr val="F3F4F7"/>
          </a:solidFill>
          <a:ln/>
        </p:spPr>
      </p:sp>
      <p:sp>
        <p:nvSpPr>
          <p:cNvPr id="26" name="Shape 22"/>
          <p:cNvSpPr/>
          <p:nvPr/>
        </p:nvSpPr>
        <p:spPr>
          <a:xfrm>
            <a:off x="6318504" y="1618488"/>
            <a:ext cx="2395728" cy="1965960"/>
          </a:xfrm>
          <a:prstGeom prst="roundRect">
            <a:avLst>
              <a:gd name="adj" fmla="val 2791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27" name="Image 2" descr="/home/user/Tina/template-bank/assets/camera-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134" y="2179930"/>
            <a:ext cx="550469" cy="550469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455664" y="276606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of THIS step,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room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6437376" y="1737360"/>
            <a:ext cx="475488" cy="475488"/>
          </a:xfrm>
          <a:prstGeom prst="ellipse">
            <a:avLst/>
          </a:prstGeom>
          <a:solidFill>
            <a:srgbClr val="9E3B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437376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6382512" y="372160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check</a:t>
            </a:r>
            <a:endParaRPr lang="en-US" sz="1350" dirty="0"/>
          </a:p>
        </p:txBody>
      </p:sp>
      <p:sp>
        <p:nvSpPr>
          <p:cNvPr id="32" name="Text 27"/>
          <p:cNvSpPr txBox="1"/>
          <p:nvPr/>
        </p:nvSpPr>
        <p:spPr>
          <a:xfrm>
            <a:off x="6382512" y="4059936"/>
            <a:ext cx="2267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test number. Hear the far end; have them hear you.</a:t>
            </a:r>
            <a:endParaRPr lang="en-US" sz="1050" dirty="0"/>
          </a:p>
        </p:txBody>
      </p:sp>
      <p:sp>
        <p:nvSpPr>
          <p:cNvPr id="33" name="Text 28"/>
          <p:cNvSpPr txBox="1"/>
          <p:nvPr/>
        </p:nvSpPr>
        <p:spPr>
          <a:xfrm>
            <a:off x="6382512" y="513892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 </a:t>
            </a:r>
            <a:pPr indent="0" marL="0">
              <a:buNone/>
            </a:pPr>
            <a:r>
              <a:rPr lang="en-US" sz="950" i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BEFORE guests join — not during introductions.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8805672" y="2441448"/>
            <a:ext cx="274320" cy="292608"/>
          </a:xfrm>
          <a:prstGeom prst="rightArrow">
            <a:avLst/>
          </a:prstGeom>
          <a:solidFill>
            <a:srgbClr val="8FA3BC"/>
          </a:solidFill>
          <a:ln/>
        </p:spPr>
      </p:sp>
      <p:sp>
        <p:nvSpPr>
          <p:cNvPr id="35" name="Shape 30"/>
          <p:cNvSpPr/>
          <p:nvPr/>
        </p:nvSpPr>
        <p:spPr>
          <a:xfrm>
            <a:off x="9020556" y="1481328"/>
            <a:ext cx="2670048" cy="4434840"/>
          </a:xfrm>
          <a:prstGeom prst="roundRect">
            <a:avLst>
              <a:gd name="adj" fmla="val 2397"/>
            </a:avLst>
          </a:prstGeom>
          <a:solidFill>
            <a:srgbClr val="F3F4F7"/>
          </a:solidFill>
          <a:ln/>
        </p:spPr>
      </p:sp>
      <p:sp>
        <p:nvSpPr>
          <p:cNvPr id="36" name="Shape 31"/>
          <p:cNvSpPr/>
          <p:nvPr/>
        </p:nvSpPr>
        <p:spPr>
          <a:xfrm>
            <a:off x="9157716" y="1618488"/>
            <a:ext cx="2395728" cy="1965960"/>
          </a:xfrm>
          <a:prstGeom prst="roundRect">
            <a:avLst>
              <a:gd name="adj" fmla="val 2791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37" name="Image 3" descr="/home/user/Tina/template-bank/assets/camera-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0346" y="2179930"/>
            <a:ext cx="550469" cy="550469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9294876" y="276606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of THIS step,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room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9276588" y="1737360"/>
            <a:ext cx="475488" cy="475488"/>
          </a:xfrm>
          <a:prstGeom prst="ellipse">
            <a:avLst/>
          </a:prstGeom>
          <a:solidFill>
            <a:srgbClr val="5B76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9276588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1" name="Text 35"/>
          <p:cNvSpPr txBox="1"/>
          <p:nvPr/>
        </p:nvSpPr>
        <p:spPr>
          <a:xfrm>
            <a:off x="9221724" y="372160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for the next team</a:t>
            </a:r>
            <a:endParaRPr lang="en-US" sz="1350" dirty="0"/>
          </a:p>
        </p:txBody>
      </p:sp>
      <p:sp>
        <p:nvSpPr>
          <p:cNvPr id="42" name="Text 36"/>
          <p:cNvSpPr txBox="1"/>
          <p:nvPr/>
        </p:nvSpPr>
        <p:spPr>
          <a:xfrm>
            <a:off x="9221724" y="4059936"/>
            <a:ext cx="2267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 docked, displays off, chairs back. Thirty seconds of civilization.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44" name="Image 4" descr="/home/user/Tina/template-bank/assets/lightbulb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procedure must be performed exactly — one accurate photo per step, in strict order, cautions attached to the step they protect.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H2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approving an expense report: three screens, one decision each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5B76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· WALK IT THROUGH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520440" cy="420624"/>
          </a:xfrm>
          <a:prstGeom prst="roundRect">
            <a:avLst>
              <a:gd name="adj" fmla="val 17391"/>
            </a:avLst>
          </a:prstGeom>
          <a:solidFill>
            <a:srgbClr val="1F38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50876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· The queue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05740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0" name="Image 0" descr="/home/user/Tina/template-bank/assets/image-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0" y="2734056"/>
            <a:ext cx="640080" cy="6400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0080" y="336499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the REAL screen 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release, real (anonymized) data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67512" y="2221992"/>
            <a:ext cx="347472" cy="347472"/>
          </a:xfrm>
          <a:prstGeom prst="ellipse">
            <a:avLst/>
          </a:prstGeom>
          <a:solidFill>
            <a:srgbClr val="1F3864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67512" y="2221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9496" y="4572000"/>
            <a:ext cx="109728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58952" y="4526280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oldest first — SLA clock runs per report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39496" y="5285232"/>
            <a:ext cx="109728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58952" y="5239512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flag = policy exception, read it before the receipts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041648" y="2971800"/>
            <a:ext cx="256032" cy="310896"/>
          </a:xfrm>
          <a:prstGeom prst="rightArrow">
            <a:avLst/>
          </a:prstGeom>
          <a:solidFill>
            <a:srgbClr val="8FA3BC"/>
          </a:solidFill>
          <a:ln/>
        </p:spPr>
      </p:sp>
      <p:sp>
        <p:nvSpPr>
          <p:cNvPr id="19" name="Shape 16"/>
          <p:cNvSpPr/>
          <p:nvPr/>
        </p:nvSpPr>
        <p:spPr>
          <a:xfrm>
            <a:off x="4315968" y="1508760"/>
            <a:ext cx="3520440" cy="420624"/>
          </a:xfrm>
          <a:prstGeom prst="roundRect">
            <a:avLst>
              <a:gd name="adj" fmla="val 17391"/>
            </a:avLst>
          </a:prstGeom>
          <a:solidFill>
            <a:srgbClr val="5B769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315968" y="150876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· The report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315968" y="205740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22" name="Image 1" descr="/home/user/Tina/template-bank/assets/image-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148" y="2734056"/>
            <a:ext cx="640080" cy="64008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453128" y="336499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the REAL screen 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release, real (anonymized) data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480560" y="2221992"/>
            <a:ext cx="347472" cy="347472"/>
          </a:xfrm>
          <a:prstGeom prst="ellipse">
            <a:avLst/>
          </a:prstGeom>
          <a:solidFill>
            <a:srgbClr val="5B7699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4480560" y="2221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352544" y="4572000"/>
            <a:ext cx="109728" cy="502920"/>
          </a:xfrm>
          <a:prstGeom prst="rect">
            <a:avLst/>
          </a:prstGeom>
          <a:solidFill>
            <a:srgbClr val="5B7699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572000" y="4526280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matches amount, date, and merchant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4352544" y="5285232"/>
            <a:ext cx="109728" cy="502920"/>
          </a:xfrm>
          <a:prstGeom prst="rect">
            <a:avLst/>
          </a:prstGeom>
          <a:solidFill>
            <a:srgbClr val="5B7699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4572000" y="5239512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Per-diem lines are auto-checked — skip to the exceptions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7854696" y="2971800"/>
            <a:ext cx="256032" cy="310896"/>
          </a:xfrm>
          <a:prstGeom prst="rightArrow">
            <a:avLst/>
          </a:prstGeom>
          <a:solidFill>
            <a:srgbClr val="8FA3BC"/>
          </a:solidFill>
          <a:ln/>
        </p:spPr>
      </p:sp>
      <p:sp>
        <p:nvSpPr>
          <p:cNvPr id="31" name="Shape 27"/>
          <p:cNvSpPr/>
          <p:nvPr/>
        </p:nvSpPr>
        <p:spPr>
          <a:xfrm>
            <a:off x="8129016" y="1508760"/>
            <a:ext cx="3520440" cy="420624"/>
          </a:xfrm>
          <a:prstGeom prst="roundRect">
            <a:avLst>
              <a:gd name="adj" fmla="val 17391"/>
            </a:avLst>
          </a:prstGeom>
          <a:solidFill>
            <a:srgbClr val="9E3B3B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8129016" y="150876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 · The decision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8129016" y="205740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34" name="Image 2" descr="/home/user/Tina/template-bank/assets/image-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196" y="2734056"/>
            <a:ext cx="640080" cy="64008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266176" y="336499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the REAL screen 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release, real (anonymized) data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8293608" y="2221992"/>
            <a:ext cx="347472" cy="347472"/>
          </a:xfrm>
          <a:prstGeom prst="ellipse">
            <a:avLst/>
          </a:prstGeom>
          <a:solidFill>
            <a:srgbClr val="9E3B3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37" name="Text 32"/>
          <p:cNvSpPr txBox="1"/>
          <p:nvPr/>
        </p:nvSpPr>
        <p:spPr>
          <a:xfrm>
            <a:off x="8293608" y="2221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8165592" y="4572000"/>
            <a:ext cx="109728" cy="502920"/>
          </a:xfrm>
          <a:prstGeom prst="rect">
            <a:avLst/>
          </a:prstGeom>
          <a:solidFill>
            <a:srgbClr val="9E3B3B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8385048" y="4526280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or return WITH a note they can act on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8165592" y="5285232"/>
            <a:ext cx="109728" cy="502920"/>
          </a:xfrm>
          <a:prstGeom prst="rect">
            <a:avLst/>
          </a:prstGeom>
          <a:solidFill>
            <a:srgbClr val="9E3B3B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8385048" y="5239512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approve “just to unblock” — that is the audit finding</a:t>
            </a:r>
            <a:endParaRPr lang="en-US" sz="950" dirty="0"/>
          </a:p>
        </p:txBody>
      </p:sp>
      <p:sp>
        <p:nvSpPr>
          <p:cNvPr id="42" name="Text 37"/>
          <p:cNvSpPr txBox="1"/>
          <p:nvPr/>
        </p:nvSpPr>
        <p:spPr>
          <a:xfrm>
            <a:off x="502920" y="6053328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decision per screen — if a screenshot needs a lecture, the flow needs another screen.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44" name="Image 3" descr="/home/user/Tina/template-bank/assets/lightbulb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lives in software — one real screenshot per decision point, with arrows carrying the order.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H3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During / After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the 5S workstation reset: same bench, same angle, three moments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5B76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· WALK IT THROUGH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1417320" cy="402336"/>
          </a:xfrm>
          <a:prstGeom prst="roundRect">
            <a:avLst>
              <a:gd name="adj" fmla="val 18182"/>
            </a:avLst>
          </a:prstGeom>
          <a:solidFill>
            <a:srgbClr val="9E3B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50876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15087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clutter hides problems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057400"/>
            <a:ext cx="3566160" cy="2377440"/>
          </a:xfrm>
          <a:prstGeom prst="roundRect">
            <a:avLst>
              <a:gd name="adj" fmla="val 2308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1" name="Image 0" descr="/home/user/Tina/template-bank/assets/camera-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3158" y="2766974"/>
            <a:ext cx="665683" cy="665683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40080" y="34107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bench, SAME angle 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1 of 3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39496" y="4663440"/>
            <a:ext cx="109728" cy="457200"/>
          </a:xfrm>
          <a:prstGeom prst="rect">
            <a:avLst/>
          </a:prstGeom>
          <a:solidFill>
            <a:srgbClr val="9E3B3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58952" y="4617720"/>
            <a:ext cx="3255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buried — the missing torque wrench isn't even missed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39496" y="5321808"/>
            <a:ext cx="109728" cy="457200"/>
          </a:xfrm>
          <a:prstGeom prst="rect">
            <a:avLst/>
          </a:prstGeom>
          <a:solidFill>
            <a:srgbClr val="9E3B3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58952" y="5276088"/>
            <a:ext cx="3255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 and cups where parts should be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069080" y="3063240"/>
            <a:ext cx="237744" cy="292608"/>
          </a:xfrm>
          <a:prstGeom prst="rightArrow">
            <a:avLst/>
          </a:prstGeom>
          <a:solidFill>
            <a:srgbClr val="8FA3BC"/>
          </a:solidFill>
          <a:ln/>
        </p:spPr>
      </p:sp>
      <p:sp>
        <p:nvSpPr>
          <p:cNvPr id="18" name="Shape 15"/>
          <p:cNvSpPr/>
          <p:nvPr/>
        </p:nvSpPr>
        <p:spPr>
          <a:xfrm>
            <a:off x="4306824" y="1508760"/>
            <a:ext cx="1417320" cy="402336"/>
          </a:xfrm>
          <a:prstGeom prst="roundRect">
            <a:avLst>
              <a:gd name="adj" fmla="val 18182"/>
            </a:avLst>
          </a:prstGeom>
          <a:solidFill>
            <a:srgbClr val="5B769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306824" y="150876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861304" y="15087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sort, then label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306824" y="2057400"/>
            <a:ext cx="3566160" cy="2377440"/>
          </a:xfrm>
          <a:prstGeom prst="roundRect">
            <a:avLst>
              <a:gd name="adj" fmla="val 2308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22" name="Image 1" descr="/home/user/Tina/template-bank/assets/camera-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062" y="2766974"/>
            <a:ext cx="665683" cy="66568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443984" y="34107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bench, SAME angle 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2 of 3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343400" y="4663440"/>
            <a:ext cx="109728" cy="457200"/>
          </a:xfrm>
          <a:prstGeom prst="rect">
            <a:avLst/>
          </a:prstGeom>
          <a:solidFill>
            <a:srgbClr val="5B7699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562856" y="4617720"/>
            <a:ext cx="3255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out, sorted: keep / move / bin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343400" y="5321808"/>
            <a:ext cx="109728" cy="457200"/>
          </a:xfrm>
          <a:prstGeom prst="rect">
            <a:avLst/>
          </a:prstGeom>
          <a:solidFill>
            <a:srgbClr val="5B7699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562856" y="5276088"/>
            <a:ext cx="3255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Shadow-board outlines drawn for what stays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7872984" y="3063240"/>
            <a:ext cx="237744" cy="292608"/>
          </a:xfrm>
          <a:prstGeom prst="rightArrow">
            <a:avLst/>
          </a:prstGeom>
          <a:solidFill>
            <a:srgbClr val="8FA3BC"/>
          </a:solidFill>
          <a:ln/>
        </p:spPr>
      </p:sp>
      <p:sp>
        <p:nvSpPr>
          <p:cNvPr id="29" name="Shape 25"/>
          <p:cNvSpPr/>
          <p:nvPr/>
        </p:nvSpPr>
        <p:spPr>
          <a:xfrm>
            <a:off x="8110728" y="1508760"/>
            <a:ext cx="1417320" cy="402336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8110728" y="150876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9665208" y="15087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for everything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8110728" y="2057400"/>
            <a:ext cx="3566160" cy="2377440"/>
          </a:xfrm>
          <a:prstGeom prst="roundRect">
            <a:avLst>
              <a:gd name="adj" fmla="val 2308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33" name="Image 2" descr="/home/user/Tina/template-bank/assets/camera-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0966" y="2766974"/>
            <a:ext cx="665683" cy="665683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8247888" y="34107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bench, SAME angle 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3 of 3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8147304" y="4663440"/>
            <a:ext cx="109728" cy="4572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8366760" y="4617720"/>
            <a:ext cx="3255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glance shows what's missing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8147304" y="5321808"/>
            <a:ext cx="109728" cy="4572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8366760" y="5276088"/>
            <a:ext cx="3255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takes 90 seconds at shift end</a:t>
            </a:r>
            <a:endParaRPr lang="en-US" sz="950" dirty="0"/>
          </a:p>
        </p:txBody>
      </p:sp>
      <p:sp>
        <p:nvSpPr>
          <p:cNvPr id="39" name="Text 34"/>
          <p:cNvSpPr txBox="1"/>
          <p:nvPr/>
        </p:nvSpPr>
        <p:spPr>
          <a:xfrm>
            <a:off x="502920" y="6108192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tripod position is the template — shoot all three from one spot and the comparison makes itself.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41" name="Image 3" descr="/home/user/Tina/template-bank/assets/lightbulb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 itself is the lesson — same scene, same angle, three moments, differences called out under each.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H4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Storyboard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the sales-demo video: four moments worth freezing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5B76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· WALK IT THROUGH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2670048" cy="4297680"/>
          </a:xfrm>
          <a:prstGeom prst="roundRect">
            <a:avLst>
              <a:gd name="adj" fmla="val 2397"/>
            </a:avLst>
          </a:prstGeom>
          <a:solidFill>
            <a:srgbClr val="F3F4F7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618488"/>
            <a:ext cx="2395728" cy="1828800"/>
          </a:xfrm>
          <a:prstGeom prst="roundRect">
            <a:avLst>
              <a:gd name="adj" fmla="val 3000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9" name="Image 0" descr="/home/user/Tina/template-bank/assets/image-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2130552"/>
            <a:ext cx="512064" cy="51206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269748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still 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moment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58952" y="1755648"/>
            <a:ext cx="777240" cy="365760"/>
          </a:xfrm>
          <a:prstGeom prst="roundRect">
            <a:avLst>
              <a:gd name="adj" fmla="val 25000"/>
            </a:avLst>
          </a:prstGeom>
          <a:solidFill>
            <a:srgbClr val="1F3864"/>
          </a:solidFill>
          <a:ln/>
        </p:spPr>
      </p:sp>
      <p:pic>
        <p:nvPicPr>
          <p:cNvPr id="12" name="Image 1" descr="/home/user/Tina/template-bank/assets/play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847088"/>
            <a:ext cx="182880" cy="1828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33272" y="17556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704088" y="358444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cold open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04088" y="3950208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FOR:  </a:t>
            </a:r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stated in the customer's words — not ours.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127248" y="2395728"/>
            <a:ext cx="274320" cy="292608"/>
          </a:xfrm>
          <a:prstGeom prst="rightArrow">
            <a:avLst/>
          </a:prstGeom>
          <a:solidFill>
            <a:srgbClr val="8FA3BC"/>
          </a:solidFill>
          <a:ln/>
        </p:spPr>
      </p:sp>
      <p:sp>
        <p:nvSpPr>
          <p:cNvPr id="17" name="Shape 13"/>
          <p:cNvSpPr/>
          <p:nvPr/>
        </p:nvSpPr>
        <p:spPr>
          <a:xfrm>
            <a:off x="3342132" y="1481328"/>
            <a:ext cx="2670048" cy="4297680"/>
          </a:xfrm>
          <a:prstGeom prst="roundRect">
            <a:avLst>
              <a:gd name="adj" fmla="val 2397"/>
            </a:avLst>
          </a:prstGeom>
          <a:solidFill>
            <a:srgbClr val="F3F4F7"/>
          </a:solidFill>
          <a:ln/>
        </p:spPr>
      </p:sp>
      <p:sp>
        <p:nvSpPr>
          <p:cNvPr id="18" name="Shape 14"/>
          <p:cNvSpPr/>
          <p:nvPr/>
        </p:nvSpPr>
        <p:spPr>
          <a:xfrm>
            <a:off x="3479292" y="1618488"/>
            <a:ext cx="2395728" cy="1828800"/>
          </a:xfrm>
          <a:prstGeom prst="roundRect">
            <a:avLst>
              <a:gd name="adj" fmla="val 3000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9" name="Image 2" descr="/home/user/Tina/template-bank/assets/image-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124" y="2130552"/>
            <a:ext cx="512064" cy="51206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616452" y="269748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still 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moment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598164" y="1755648"/>
            <a:ext cx="777240" cy="365760"/>
          </a:xfrm>
          <a:prstGeom prst="roundRect">
            <a:avLst>
              <a:gd name="adj" fmla="val 25000"/>
            </a:avLst>
          </a:prstGeom>
          <a:solidFill>
            <a:srgbClr val="1F3864"/>
          </a:solidFill>
          <a:ln/>
        </p:spPr>
      </p:sp>
      <p:pic>
        <p:nvPicPr>
          <p:cNvPr id="22" name="Image 3" descr="/home/user/Tina/template-bank/assets/play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1316" y="1847088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3872484" y="17556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3543300" y="358444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value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3543300" y="3950208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FOR:  </a:t>
            </a:r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90 seconds to a visible result. Count them.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5966460" y="2395728"/>
            <a:ext cx="274320" cy="292608"/>
          </a:xfrm>
          <a:prstGeom prst="rightArrow">
            <a:avLst/>
          </a:prstGeom>
          <a:solidFill>
            <a:srgbClr val="8FA3BC"/>
          </a:solidFill>
          <a:ln/>
        </p:spPr>
      </p:sp>
      <p:sp>
        <p:nvSpPr>
          <p:cNvPr id="27" name="Shape 21"/>
          <p:cNvSpPr/>
          <p:nvPr/>
        </p:nvSpPr>
        <p:spPr>
          <a:xfrm>
            <a:off x="6181344" y="1481328"/>
            <a:ext cx="2670048" cy="4297680"/>
          </a:xfrm>
          <a:prstGeom prst="roundRect">
            <a:avLst>
              <a:gd name="adj" fmla="val 2397"/>
            </a:avLst>
          </a:prstGeom>
          <a:solidFill>
            <a:srgbClr val="F3F4F7"/>
          </a:solidFill>
          <a:ln/>
        </p:spPr>
      </p:sp>
      <p:sp>
        <p:nvSpPr>
          <p:cNvPr id="28" name="Shape 22"/>
          <p:cNvSpPr/>
          <p:nvPr/>
        </p:nvSpPr>
        <p:spPr>
          <a:xfrm>
            <a:off x="6318504" y="1618488"/>
            <a:ext cx="2395728" cy="1828800"/>
          </a:xfrm>
          <a:prstGeom prst="roundRect">
            <a:avLst>
              <a:gd name="adj" fmla="val 3000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29" name="Image 4" descr="/home/user/Tina/template-bank/assets/image-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336" y="2130552"/>
            <a:ext cx="512064" cy="51206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455664" y="269748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still 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moment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6437376" y="1755648"/>
            <a:ext cx="777240" cy="365760"/>
          </a:xfrm>
          <a:prstGeom prst="roundRect">
            <a:avLst>
              <a:gd name="adj" fmla="val 25000"/>
            </a:avLst>
          </a:prstGeom>
          <a:solidFill>
            <a:srgbClr val="1F3864"/>
          </a:solidFill>
          <a:ln/>
        </p:spPr>
      </p:sp>
      <p:pic>
        <p:nvPicPr>
          <p:cNvPr id="32" name="Image 5" descr="/home/user/Tina/template-bank/assets/play-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1847088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711696" y="17556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3:45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6382512" y="358444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objection</a:t>
            </a:r>
            <a:endParaRPr lang="en-US" sz="1350" dirty="0"/>
          </a:p>
        </p:txBody>
      </p:sp>
      <p:sp>
        <p:nvSpPr>
          <p:cNvPr id="35" name="Text 27"/>
          <p:cNvSpPr txBox="1"/>
          <p:nvPr/>
        </p:nvSpPr>
        <p:spPr>
          <a:xfrm>
            <a:off x="6382512" y="3950208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FOR:  </a:t>
            </a:r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pause before answering — that beat is the technique.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8805672" y="2395728"/>
            <a:ext cx="274320" cy="292608"/>
          </a:xfrm>
          <a:prstGeom prst="rightArrow">
            <a:avLst/>
          </a:prstGeom>
          <a:solidFill>
            <a:srgbClr val="8FA3BC"/>
          </a:solidFill>
          <a:ln/>
        </p:spPr>
      </p:sp>
      <p:sp>
        <p:nvSpPr>
          <p:cNvPr id="37" name="Shape 29"/>
          <p:cNvSpPr/>
          <p:nvPr/>
        </p:nvSpPr>
        <p:spPr>
          <a:xfrm>
            <a:off x="9020556" y="1481328"/>
            <a:ext cx="2670048" cy="4297680"/>
          </a:xfrm>
          <a:prstGeom prst="roundRect">
            <a:avLst>
              <a:gd name="adj" fmla="val 2397"/>
            </a:avLst>
          </a:prstGeom>
          <a:solidFill>
            <a:srgbClr val="F3F4F7"/>
          </a:solidFill>
          <a:ln/>
        </p:spPr>
      </p:sp>
      <p:sp>
        <p:nvSpPr>
          <p:cNvPr id="38" name="Shape 30"/>
          <p:cNvSpPr/>
          <p:nvPr/>
        </p:nvSpPr>
        <p:spPr>
          <a:xfrm>
            <a:off x="9157716" y="1618488"/>
            <a:ext cx="2395728" cy="1828800"/>
          </a:xfrm>
          <a:prstGeom prst="roundRect">
            <a:avLst>
              <a:gd name="adj" fmla="val 3000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39" name="Image 6" descr="/home/user/Tina/template-bank/assets/image-gr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9548" y="2130552"/>
            <a:ext cx="512064" cy="512064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9294876" y="269748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still 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moment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9276588" y="1755648"/>
            <a:ext cx="777240" cy="365760"/>
          </a:xfrm>
          <a:prstGeom prst="roundRect">
            <a:avLst>
              <a:gd name="adj" fmla="val 25000"/>
            </a:avLst>
          </a:prstGeom>
          <a:solidFill>
            <a:srgbClr val="1F3864"/>
          </a:solidFill>
          <a:ln/>
        </p:spPr>
      </p:sp>
      <p:pic>
        <p:nvPicPr>
          <p:cNvPr id="42" name="Image 7" descr="/home/user/Tina/template-bank/assets/play-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9740" y="1847088"/>
            <a:ext cx="182880" cy="18288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550908" y="17556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5:10</a:t>
            </a:r>
            <a:endParaRPr lang="en-US" sz="1050" dirty="0"/>
          </a:p>
        </p:txBody>
      </p:sp>
      <p:sp>
        <p:nvSpPr>
          <p:cNvPr id="44" name="Text 34"/>
          <p:cNvSpPr txBox="1"/>
          <p:nvPr/>
        </p:nvSpPr>
        <p:spPr>
          <a:xfrm>
            <a:off x="9221724" y="358444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</a:t>
            </a:r>
            <a:endParaRPr lang="en-US" sz="1350" dirty="0"/>
          </a:p>
        </p:txBody>
      </p:sp>
      <p:sp>
        <p:nvSpPr>
          <p:cNvPr id="45" name="Text 35"/>
          <p:cNvSpPr txBox="1"/>
          <p:nvPr/>
        </p:nvSpPr>
        <p:spPr>
          <a:xfrm>
            <a:off x="9221724" y="3950208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FOR:  </a:t>
            </a:r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 is specific and dated, never “we'll follow up.”</a:t>
            </a:r>
            <a:endParaRPr lang="en-US" sz="900" dirty="0"/>
          </a:p>
        </p:txBody>
      </p:sp>
      <p:sp>
        <p:nvSpPr>
          <p:cNvPr id="46" name="Text 36"/>
          <p:cNvSpPr txBox="1"/>
          <p:nvPr/>
        </p:nvSpPr>
        <p:spPr>
          <a:xfrm>
            <a:off x="502920" y="5989320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clip once, then teach from the storyboard — frozen frames can be studied; a stream cannot.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48" name="Image 8" descr="/home/user/Tina/template-bank/assets/lightbulb-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video carries the skill — freeze its defining frames so learners can rehearse and review without scrubbing.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9E3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B5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8686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I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2070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Standard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9659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must judge the real thing. Show right beside wrong, hide hazards to hunt, rank real examples, and turn acceptance into a picture with criteria — the accurate image IS the standard.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383384" y="3246120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7" name="Image 0" descr="/home/user/Tina/template-bank/assets/check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2840" y="3465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078328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 · Correct vs Incorrect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078328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versions, differences called out.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96432" y="3246120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1" name="Image 1" descr="/home/user/Tina/template-bank/assets/warn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888" y="34655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91376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 · Spot the Hazards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891376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photo, problems hidden in plain sight.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383384" y="4681728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5" name="Image 2" descr="/home/user/Tina/template-bank/assets/medal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840" y="4901184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78328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· Good · Better · Best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3078328" y="51572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 ranked, upgrades named.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196432" y="4681728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9" name="Image 3" descr="/home/user/Tina/template-bank/assets/ruler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888" y="4901184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91376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I4 · Acceptance Card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6891376" y="51572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photo plus pass/fail criteria.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I1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vs Incorrect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pallet stacking: the difference between shipped and spilled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SET THE STANDARD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8" name="Image 0" descr="/home/user/Tina/template-bank/assets/check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59562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" y="1481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02920" y="2075688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1" name="Image 1" descr="/home/user/Tina/template-bank/assets/camera-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220" y="2752344"/>
            <a:ext cx="640080" cy="6400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0080" y="338328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a load your best packer built</a:t>
            </a:r>
            <a:endParaRPr lang="en-US" sz="950" dirty="0"/>
          </a:p>
        </p:txBody>
      </p:sp>
      <p:pic>
        <p:nvPicPr>
          <p:cNvPr id="13" name="Image 2" descr="/home/user/Tina/template-bank/assets/check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9028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41832" y="454456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boxes low — the load pyramids upward</a:t>
            </a:r>
            <a:endParaRPr lang="en-US" sz="1100" dirty="0"/>
          </a:p>
        </p:txBody>
      </p:sp>
      <p:pic>
        <p:nvPicPr>
          <p:cNvPr id="15" name="Image 3" descr="/home/user/Tina/template-bank/assets/check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102352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41832" y="5056632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starts anchored to the pallet, three full turns</a:t>
            </a:r>
            <a:endParaRPr lang="en-US" sz="1100" dirty="0"/>
          </a:p>
        </p:txBody>
      </p:sp>
      <p:pic>
        <p:nvPicPr>
          <p:cNvPr id="17" name="Image 4" descr="/home/user/Tina/template-bank/assets/check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614416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41832" y="5568696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past the pallet edge, any side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6245352" y="1481328"/>
            <a:ext cx="457200" cy="457200"/>
          </a:xfrm>
          <a:prstGeom prst="ellipse">
            <a:avLst/>
          </a:prstGeom>
          <a:solidFill>
            <a:srgbClr val="9E3B3B"/>
          </a:solidFill>
          <a:ln/>
        </p:spPr>
      </p:sp>
      <p:pic>
        <p:nvPicPr>
          <p:cNvPr id="20" name="Image 5" descr="/home/user/Tina/template-bank/assets/times-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9652" y="1595628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839712" y="1481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</a:t>
            </a:r>
            <a:endParaRPr lang="en-US" sz="1700" dirty="0"/>
          </a:p>
        </p:txBody>
      </p:sp>
      <p:sp>
        <p:nvSpPr>
          <p:cNvPr id="22" name="Shape 14"/>
          <p:cNvSpPr/>
          <p:nvPr/>
        </p:nvSpPr>
        <p:spPr>
          <a:xfrm>
            <a:off x="6245352" y="2075688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23" name="Image 6" descr="/home/user/Tina/template-bank/assets/camera-gr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5652" y="2752344"/>
            <a:ext cx="640080" cy="64008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382512" y="338328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the load before last month's spill</a:t>
            </a:r>
            <a:endParaRPr lang="en-US" sz="950" dirty="0"/>
          </a:p>
        </p:txBody>
      </p:sp>
      <p:pic>
        <p:nvPicPr>
          <p:cNvPr id="25" name="Image 7" descr="/home/user/Tina/template-bank/assets/times-r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4590288"/>
            <a:ext cx="256032" cy="256032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6684264" y="454456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riding on light — the crush is already happening</a:t>
            </a:r>
            <a:endParaRPr lang="en-US" sz="1100" dirty="0"/>
          </a:p>
        </p:txBody>
      </p:sp>
      <p:pic>
        <p:nvPicPr>
          <p:cNvPr id="27" name="Image 8" descr="/home/user/Tina/template-bank/assets/times-r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072" y="5102352"/>
            <a:ext cx="256032" cy="256032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6684264" y="5056632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stops halfway; the top layer is loose freight</a:t>
            </a:r>
            <a:endParaRPr lang="en-US" sz="1100" dirty="0"/>
          </a:p>
        </p:txBody>
      </p:sp>
      <p:pic>
        <p:nvPicPr>
          <p:cNvPr id="29" name="Image 9" descr="/home/user/Tina/template-bank/assets/times-r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1072" y="5614416"/>
            <a:ext cx="256032" cy="256032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6684264" y="5568696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Overhang past the edge — the next fork will clip it</a:t>
            </a:r>
            <a:endParaRPr lang="en-US" sz="1100" dirty="0"/>
          </a:p>
        </p:txBody>
      </p:sp>
      <p:sp>
        <p:nvSpPr>
          <p:cNvPr id="31" name="Shape 19"/>
          <p:cNvSpPr/>
          <p:nvPr/>
        </p:nvSpPr>
        <p:spPr>
          <a:xfrm>
            <a:off x="6094476" y="1554480"/>
            <a:ext cx="0" cy="4480560"/>
          </a:xfrm>
          <a:prstGeom prst="line">
            <a:avLst/>
          </a:prstGeom>
          <a:noFill/>
          <a:ln w="12700">
            <a:solidFill>
              <a:srgbClr val="D3D8E0"/>
            </a:solidFill>
            <a:prstDash val="dash"/>
          </a:ln>
        </p:spPr>
      </p:sp>
      <p:sp>
        <p:nvSpPr>
          <p:cNvPr id="32" name="Shape 20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33" name="Image 10" descr="/home/user/Tina/template-bank/assets/lightbulb-nav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must tell right from wrong at a glance — show both versions side by side and call out exactly what differs.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I2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Hazards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the office fire-safety walk: five problems hiding in one photo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SET THE STANDARD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6492240" cy="4617720"/>
          </a:xfrm>
          <a:prstGeom prst="roundRect">
            <a:avLst>
              <a:gd name="adj" fmla="val 1188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8" name="Image 0" descr="/home/user/Tina/template-bank/assets/camera-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6140" y="3300984"/>
            <a:ext cx="685800" cy="6858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39547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a REAL corridor or office photo — stage the five hazards yourself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280160" y="2011680"/>
            <a:ext cx="384048" cy="384048"/>
          </a:xfrm>
          <a:prstGeom prst="ellipse">
            <a:avLst/>
          </a:prstGeom>
          <a:solidFill>
            <a:srgbClr val="9E3B3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28016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394960" y="2377440"/>
            <a:ext cx="384048" cy="384048"/>
          </a:xfrm>
          <a:prstGeom prst="ellipse">
            <a:avLst/>
          </a:prstGeom>
          <a:solidFill>
            <a:srgbClr val="9E3B3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39496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468880" y="4617720"/>
            <a:ext cx="384048" cy="384048"/>
          </a:xfrm>
          <a:prstGeom prst="ellipse">
            <a:avLst/>
          </a:prstGeom>
          <a:solidFill>
            <a:srgbClr val="9E3B3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246888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0" y="4846320"/>
            <a:ext cx="384048" cy="384048"/>
          </a:xfrm>
          <a:prstGeom prst="ellipse">
            <a:avLst/>
          </a:prstGeom>
          <a:solidFill>
            <a:srgbClr val="9E3B3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66928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554480" y="5440680"/>
            <a:ext cx="384048" cy="384048"/>
          </a:xfrm>
          <a:prstGeom prst="ellipse">
            <a:avLst/>
          </a:prstGeom>
          <a:solidFill>
            <a:srgbClr val="9E3B3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1554480" y="5440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0" y="141732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PROBLEMS — reveal after the hunt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315200" y="1783080"/>
            <a:ext cx="329184" cy="329184"/>
          </a:xfrm>
          <a:prstGeom prst="ellipse">
            <a:avLst/>
          </a:prstGeom>
          <a:solidFill>
            <a:srgbClr val="9E3B3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315200" y="1783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0" y="1755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in front of the fire exit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7772400" y="20208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“just for today” — for three weeks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315200" y="2679192"/>
            <a:ext cx="329184" cy="329184"/>
          </a:xfrm>
          <a:prstGeom prst="ellipse">
            <a:avLst/>
          </a:prstGeom>
          <a:solidFill>
            <a:srgbClr val="9E3B3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7315200" y="2679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0" y="2651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Daisy-chained power strips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7772400" y="2916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socket, six devices, warm plug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315200" y="3575304"/>
            <a:ext cx="329184" cy="329184"/>
          </a:xfrm>
          <a:prstGeom prst="ellipse">
            <a:avLst/>
          </a:prstGeom>
          <a:solidFill>
            <a:srgbClr val="9E3B3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7315200" y="3575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772400" y="3547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door propped open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7772400" y="3813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extinguisher, for irony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315200" y="4471416"/>
            <a:ext cx="329184" cy="329184"/>
          </a:xfrm>
          <a:prstGeom prst="ellipse">
            <a:avLst/>
          </a:prstGeom>
          <a:solidFill>
            <a:srgbClr val="9E3B3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7315200" y="4471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7772400" y="44439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to the ceiling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7772400" y="4709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sprinkler needs 45 cm of clearance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7315200" y="5367528"/>
            <a:ext cx="329184" cy="329184"/>
          </a:xfrm>
          <a:prstGeom prst="ellipse">
            <a:avLst/>
          </a:prstGeom>
          <a:solidFill>
            <a:srgbClr val="9E3B3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7315200" y="5367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772400" y="53400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E-bike battery charging overnight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7772400" y="56052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unattended lithium is a fire plan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502920" y="6217920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room: show the photo clean first and let the hunt run two minutes — markers and answers come after.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43" name="Image 1" descr="/home/user/Tina/template-bank/assets/lightbulb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44" name="Text 40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hazards hide in plain sight — let learners hunt the real photo before you reveal the markers; found beats told.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I3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· Better · Best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photographing a defect: the evidence ladder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SET THE STANDARD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1371600" cy="402336"/>
          </a:xfrm>
          <a:prstGeom prst="roundRect">
            <a:avLst>
              <a:gd name="adj" fmla="val 18182"/>
            </a:avLst>
          </a:prstGeom>
          <a:solidFill>
            <a:srgbClr val="8FA3B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50876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50876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057400"/>
            <a:ext cx="3566160" cy="2240280"/>
          </a:xfrm>
          <a:prstGeom prst="roundRect">
            <a:avLst>
              <a:gd name="adj" fmla="val 2449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1" name="Image 0" descr="/home/user/Tina/template-bank/assets/camera-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2361" y="2717597"/>
            <a:ext cx="627278" cy="62727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40080" y="33421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photo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this quality rung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39496" y="4526280"/>
            <a:ext cx="109728" cy="384048"/>
          </a:xfrm>
          <a:prstGeom prst="rect">
            <a:avLst/>
          </a:prstGeom>
          <a:solidFill>
            <a:srgbClr val="8FA3B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58952" y="4480560"/>
            <a:ext cx="3255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focus, defect visible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39496" y="5056632"/>
            <a:ext cx="109728" cy="384048"/>
          </a:xfrm>
          <a:prstGeom prst="rect">
            <a:avLst/>
          </a:prstGeom>
          <a:solidFill>
            <a:srgbClr val="8FA3B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58952" y="5010912"/>
            <a:ext cx="3255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nothing for scale, no context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539496" y="5577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CLIMB —  </a:t>
            </a:r>
            <a:pPr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a coin or ruler for scale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069080" y="2971800"/>
            <a:ext cx="237744" cy="292608"/>
          </a:xfrm>
          <a:prstGeom prst="rightArrow">
            <a:avLst/>
          </a:prstGeom>
          <a:solidFill>
            <a:srgbClr val="8FA3BC"/>
          </a:solidFill>
          <a:ln/>
        </p:spPr>
      </p:sp>
      <p:sp>
        <p:nvSpPr>
          <p:cNvPr id="19" name="Shape 16"/>
          <p:cNvSpPr/>
          <p:nvPr/>
        </p:nvSpPr>
        <p:spPr>
          <a:xfrm>
            <a:off x="4306824" y="1508760"/>
            <a:ext cx="1371600" cy="402336"/>
          </a:xfrm>
          <a:prstGeom prst="roundRect">
            <a:avLst>
              <a:gd name="adj" fmla="val 18182"/>
            </a:avLst>
          </a:prstGeom>
          <a:solidFill>
            <a:srgbClr val="5B769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306824" y="150876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815584" y="150876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306824" y="2057400"/>
            <a:ext cx="3566160" cy="2240280"/>
          </a:xfrm>
          <a:prstGeom prst="roundRect">
            <a:avLst>
              <a:gd name="adj" fmla="val 2449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23" name="Image 1" descr="/home/user/Tina/template-bank/assets/camera-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265" y="2717597"/>
            <a:ext cx="627278" cy="62727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443984" y="33421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photo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this quality rung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343400" y="4526280"/>
            <a:ext cx="109728" cy="384048"/>
          </a:xfrm>
          <a:prstGeom prst="rect">
            <a:avLst/>
          </a:prstGeom>
          <a:solidFill>
            <a:srgbClr val="5B7699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4562856" y="4480560"/>
            <a:ext cx="3255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reference in frame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343400" y="5056632"/>
            <a:ext cx="109728" cy="384048"/>
          </a:xfrm>
          <a:prstGeom prst="rect">
            <a:avLst/>
          </a:prstGeom>
          <a:solidFill>
            <a:srgbClr val="5B7699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4562856" y="5010912"/>
            <a:ext cx="3255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number readable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4343400" y="5577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CLIMB —  </a:t>
            </a:r>
            <a:pPr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a second, wide shot for location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7872984" y="2971800"/>
            <a:ext cx="237744" cy="292608"/>
          </a:xfrm>
          <a:prstGeom prst="rightArrow">
            <a:avLst/>
          </a:prstGeom>
          <a:solidFill>
            <a:srgbClr val="8FA3BC"/>
          </a:solidFill>
          <a:ln/>
        </p:spPr>
      </p:sp>
      <p:sp>
        <p:nvSpPr>
          <p:cNvPr id="31" name="Shape 27"/>
          <p:cNvSpPr/>
          <p:nvPr/>
        </p:nvSpPr>
        <p:spPr>
          <a:xfrm>
            <a:off x="8110728" y="1508760"/>
            <a:ext cx="1371600" cy="402336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8110728" y="150876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9619488" y="150876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8110728" y="2057400"/>
            <a:ext cx="3566160" cy="2240280"/>
          </a:xfrm>
          <a:prstGeom prst="roundRect">
            <a:avLst>
              <a:gd name="adj" fmla="val 2449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35" name="Image 2" descr="/home/user/Tina/template-bank/assets/camera-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0169" y="2717597"/>
            <a:ext cx="627278" cy="627278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8247888" y="33421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photo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this quality rung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8147304" y="4526280"/>
            <a:ext cx="109728" cy="38404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8366760" y="4480560"/>
            <a:ext cx="3255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+ close-up pair, same defect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8147304" y="5056632"/>
            <a:ext cx="109728" cy="38404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8366760" y="5010912"/>
            <a:ext cx="3255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Label, timestamp, and batch in frame</a:t>
            </a:r>
            <a:endParaRPr lang="en-US" sz="950" dirty="0"/>
          </a:p>
        </p:txBody>
      </p:sp>
      <p:sp>
        <p:nvSpPr>
          <p:cNvPr id="41" name="Text 36"/>
          <p:cNvSpPr txBox="1"/>
          <p:nvPr/>
        </p:nvSpPr>
        <p:spPr>
          <a:xfrm>
            <a:off x="8147304" y="5577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 —  </a:t>
            </a:r>
            <a:pPr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survives the supplier dispute</a:t>
            </a:r>
            <a:endParaRPr lang="en-US" sz="850" dirty="0"/>
          </a:p>
        </p:txBody>
      </p:sp>
      <p:sp>
        <p:nvSpPr>
          <p:cNvPr id="42" name="Shape 37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43" name="Image 3" descr="/home/user/Tina/template-bank/assets/lightbulb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a ladder, not a switch — rank real examples and name the one upgrade between each rung.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I4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Card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“ready to ship”: one reference photo, criteria anyone can apply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SET THE STANDARD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5852160" cy="4526280"/>
          </a:xfrm>
          <a:prstGeom prst="roundRect">
            <a:avLst>
              <a:gd name="adj" fmla="val 1212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8" name="Image 0" descr="/home/user/Tina/template-bank/assets/camera-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6100" y="3255264"/>
            <a:ext cx="685800" cy="6858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39090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— replace with a photo of your flagship pallet, shot straight-on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77240" y="1755648"/>
            <a:ext cx="2103120" cy="402336"/>
          </a:xfrm>
          <a:prstGeom prst="roundRect">
            <a:avLst>
              <a:gd name="adj" fmla="val 22727"/>
            </a:avLst>
          </a:prstGeom>
          <a:solidFill>
            <a:srgbClr val="1F386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" y="175564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720840" y="14813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— all five, every time</a:t>
            </a:r>
            <a:endParaRPr lang="en-US" sz="1200" dirty="0"/>
          </a:p>
        </p:txBody>
      </p:sp>
      <p:pic>
        <p:nvPicPr>
          <p:cNvPr id="13" name="Image 1" descr="/home/user/Tina/template-bank/assets/check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6537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86600" y="18288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anchored to the pallet, three full turns minimum</a:t>
            </a:r>
            <a:endParaRPr lang="en-US" sz="1050" dirty="0"/>
          </a:p>
        </p:txBody>
      </p:sp>
      <p:pic>
        <p:nvPicPr>
          <p:cNvPr id="15" name="Image 2" descr="/home/user/Tina/template-bank/assets/check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37744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86600" y="2340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on two adjacent sides, scannable at arm's length</a:t>
            </a:r>
            <a:endParaRPr lang="en-US" sz="1050" dirty="0"/>
          </a:p>
        </p:txBody>
      </p:sp>
      <p:pic>
        <p:nvPicPr>
          <p:cNvPr id="17" name="Image 3" descr="/home/user/Tina/template-bank/assets/check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88950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86600" y="285292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under 1.8 m — nothing above the top of the wrap</a:t>
            </a:r>
            <a:endParaRPr lang="en-US" sz="1050" dirty="0"/>
          </a:p>
        </p:txBody>
      </p:sp>
      <p:pic>
        <p:nvPicPr>
          <p:cNvPr id="19" name="Image 4" descr="/home/user/Tina/template-bank/assets/check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3401568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086600" y="336499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boards on any load marked fragile</a:t>
            </a:r>
            <a:endParaRPr lang="en-US" sz="1050" dirty="0"/>
          </a:p>
        </p:txBody>
      </p:sp>
      <p:pic>
        <p:nvPicPr>
          <p:cNvPr id="21" name="Image 5" descr="/home/user/Tina/template-bank/assets/check-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3913632"/>
            <a:ext cx="237744" cy="23774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086600" y="38770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overhang — run a palm down every edge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6720840" y="4526280"/>
            <a:ext cx="4937760" cy="1481328"/>
          </a:xfrm>
          <a:prstGeom prst="roundRect">
            <a:avLst>
              <a:gd name="adj" fmla="val 4321"/>
            </a:avLst>
          </a:prstGeom>
          <a:solidFill>
            <a:srgbClr val="F1E5E5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6995160" y="468172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AUTO-REJECT — no discussion</a:t>
            </a:r>
            <a:endParaRPr lang="en-US" sz="1000" dirty="0"/>
          </a:p>
        </p:txBody>
      </p:sp>
      <p:pic>
        <p:nvPicPr>
          <p:cNvPr id="25" name="Image 6" descr="/home/user/Tina/template-bank/assets/times-r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5160" y="4992624"/>
            <a:ext cx="201168" cy="201168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296912" y="495604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visible lean</a:t>
            </a:r>
            <a:endParaRPr lang="en-US" sz="1000" dirty="0"/>
          </a:p>
        </p:txBody>
      </p:sp>
      <p:pic>
        <p:nvPicPr>
          <p:cNvPr id="27" name="Image 7" descr="/home/user/Tina/template-bank/assets/times-r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5160" y="5321808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7296912" y="528523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crushed or wet box anywhere in the stack</a:t>
            </a:r>
            <a:endParaRPr lang="en-US" sz="1000" dirty="0"/>
          </a:p>
        </p:txBody>
      </p:sp>
      <p:pic>
        <p:nvPicPr>
          <p:cNvPr id="29" name="Image 8" descr="/home/user/Tina/template-bank/assets/times-r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5160" y="5650992"/>
            <a:ext cx="201168" cy="201168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7296912" y="561441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label missing where the manifest requires one</a:t>
            </a:r>
            <a:endParaRPr lang="en-US" sz="1000" dirty="0"/>
          </a:p>
        </p:txBody>
      </p:sp>
      <p:sp>
        <p:nvSpPr>
          <p:cNvPr id="31" name="Text 20"/>
          <p:cNvSpPr txBox="1"/>
          <p:nvPr/>
        </p:nvSpPr>
        <p:spPr>
          <a:xfrm>
            <a:off x="502920" y="6172200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Laminate this card at the station — the deck version trains; the station version decides.</a:t>
            </a:r>
            <a:endParaRPr lang="en-US" sz="900" dirty="0"/>
          </a:p>
        </p:txBody>
      </p:sp>
      <p:sp>
        <p:nvSpPr>
          <p:cNvPr id="32" name="Shape 21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33" name="Image 9" descr="/home/user/Tina/template-bank/assets/lightbulb-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is a judgment call today — turn it into a reference picture plus criteria that any trained eye applies the same way.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ways to stage the real thing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it, walk through it, or judge it — pick by what the learner must do with the image.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3639312" cy="420624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81328"/>
            <a:ext cx="3639312" cy="713232"/>
          </a:xfrm>
          <a:prstGeom prst="roundRect">
            <a:avLst>
              <a:gd name="adj" fmla="val 8974"/>
            </a:avLst>
          </a:prstGeom>
          <a:solidFill>
            <a:srgbClr val="1F3864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837944"/>
            <a:ext cx="3639312" cy="35661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" y="1572768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ME WHERE”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190195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G · POINT &amp; NAME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244144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 Annotated tour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270662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stops, in order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321868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 Labeled parts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" y="348386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on the real thing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" y="39959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 Zoom detail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" y="426110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for context, part magnified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" y="477316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 Multi-view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" y="503834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angle the job needs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25112" y="1481328"/>
            <a:ext cx="3639312" cy="420624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19" name="Shape 17"/>
          <p:cNvSpPr/>
          <p:nvPr/>
        </p:nvSpPr>
        <p:spPr>
          <a:xfrm>
            <a:off x="4325112" y="1481328"/>
            <a:ext cx="3639312" cy="713232"/>
          </a:xfrm>
          <a:prstGeom prst="roundRect">
            <a:avLst>
              <a:gd name="adj" fmla="val 8974"/>
            </a:avLst>
          </a:prstGeom>
          <a:solidFill>
            <a:srgbClr val="5B7699"/>
          </a:solidFill>
          <a:ln/>
        </p:spPr>
      </p:sp>
      <p:sp>
        <p:nvSpPr>
          <p:cNvPr id="20" name="Shape 18"/>
          <p:cNvSpPr/>
          <p:nvPr/>
        </p:nvSpPr>
        <p:spPr>
          <a:xfrm>
            <a:off x="4325112" y="1837944"/>
            <a:ext cx="3639312" cy="356616"/>
          </a:xfrm>
          <a:prstGeom prst="rect">
            <a:avLst/>
          </a:prstGeom>
          <a:solidFill>
            <a:srgbClr val="5B76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81144" y="1572768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ME HOW”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81144" y="190195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 · WALK IT THROUGH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244144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 Photo steps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81144" y="270662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photo per step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81144" y="321868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 Screen flow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348386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screenshot per decision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81144" y="39959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 Before/during/after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81144" y="426110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angle, three moments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81144" y="477316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 Demo storyboard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81144" y="503834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video's frames, frozen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47304" y="1481328"/>
            <a:ext cx="3639312" cy="420624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32" name="Shape 30"/>
          <p:cNvSpPr/>
          <p:nvPr/>
        </p:nvSpPr>
        <p:spPr>
          <a:xfrm>
            <a:off x="8147304" y="1481328"/>
            <a:ext cx="3639312" cy="713232"/>
          </a:xfrm>
          <a:prstGeom prst="roundRect">
            <a:avLst>
              <a:gd name="adj" fmla="val 8974"/>
            </a:avLst>
          </a:prstGeom>
          <a:solidFill>
            <a:srgbClr val="9E3B3B"/>
          </a:solidFill>
          <a:ln/>
        </p:spPr>
      </p:sp>
      <p:sp>
        <p:nvSpPr>
          <p:cNvPr id="33" name="Shape 31"/>
          <p:cNvSpPr/>
          <p:nvPr/>
        </p:nvSpPr>
        <p:spPr>
          <a:xfrm>
            <a:off x="8147304" y="1837944"/>
            <a:ext cx="3639312" cy="356616"/>
          </a:xfrm>
          <a:prstGeom prst="rect">
            <a:avLst/>
          </a:prstGeom>
          <a:solidFill>
            <a:srgbClr val="9E3B3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403336" y="1572768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ME THE BAR”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403336" y="190195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I · SET THE STANDARD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8403336" y="244144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  Correct vs incorrect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403336" y="270662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both, differences named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403336" y="321868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  Spot the hazards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403336" y="348386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first, reveal after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403336" y="39959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 Good · better · best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403336" y="426110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ladder of real examples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403336" y="477316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I4  Acceptance card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403336" y="503834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photo + criteria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502920" y="608076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golden rule: if accuracy doesn't matter, don't use a photo — use a diagram from Category 01.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Concrete &amp; Visual Template Bank</dc:title>
  <dc:subject>PptxGenJS Presentation</dc:subject>
  <dc:creator>L&amp;D Template Bank</dc:creator>
  <cp:lastModifiedBy>L&amp;D Template Bank</cp:lastModifiedBy>
  <cp:revision>1</cp:revision>
  <dcterms:created xsi:type="dcterms:W3CDTF">2026-08-30T13:21:50Z</dcterms:created>
  <dcterms:modified xsi:type="dcterms:W3CDTF">2026-08-30T13:21:50Z</dcterms:modified>
</cp:coreProperties>
</file>