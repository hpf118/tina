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3.png"/><Relationship Id="rId5" Type="http://schemas.openxmlformats.org/officeDocument/2006/relationships/image" Target="../media/image-17-3.png"/><Relationship Id="rId6" Type="http://schemas.openxmlformats.org/officeDocument/2006/relationships/image" Target="../media/image-17-6.png"/><Relationship Id="rId7" Type="http://schemas.openxmlformats.org/officeDocument/2006/relationships/image" Target="../media/image-17-2.png"/><Relationship Id="rId8" Type="http://schemas.openxmlformats.org/officeDocument/2006/relationships/image" Target="../media/image-17-8.png"/><Relationship Id="rId9" Type="http://schemas.openxmlformats.org/officeDocument/2006/relationships/image" Target="../media/image-17-8.png"/><Relationship Id="rId10" Type="http://schemas.openxmlformats.org/officeDocument/2006/relationships/image" Target="../media/image-17-8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3444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L&amp;D  ·  INSTRUCTIONAL DESIGN TOOLKIT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Slide Template Bank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251460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visual to the knowledge type — reusable slide patterns for adult training in large organizations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4251960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7" name="Image 0" descr="/home/user/Tina/template-bank/assets/diagra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55" y="43880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5648" y="4224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Logical &amp; Structural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455371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 · Process map · Flowchart · Hierarchy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39776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4251960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2" name="Image 1" descr="/home/user/Tina/template-bank/assets/gri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438802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4224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Categorical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55371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 · 2×2 matrix · Comparison · Breakdown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397764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425196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7" name="Image 2" descr="/home/user/Tina/template-bank/assets/camera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438802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34272" y="4224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Concrete &amp; Visual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34272" y="455371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 · Layers · Photo steps · Right vs wrong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59893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reusable layouts  ·  built for instructor-led and virtual corporate training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bank, three kinds of knowledge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training slide starts with one question: what kind of knowledge is this? The answer picks the template family.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4348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3639312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55064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diagra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91127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Structural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96896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about how things connect, flow, and depend on each other. The structure IS the content.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35661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95528" y="3822192"/>
            <a:ext cx="3090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51206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Systems, workflows, decisions, org &amp; curriculum structures.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25112" y="1481328"/>
            <a:ext cx="3639312" cy="44348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325112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5B7699"/>
          </a:solidFill>
          <a:ln/>
        </p:spPr>
      </p:sp>
      <p:sp>
        <p:nvSpPr>
          <p:cNvPr id="18" name="Shape 15"/>
          <p:cNvSpPr/>
          <p:nvPr/>
        </p:nvSpPr>
        <p:spPr>
          <a:xfrm>
            <a:off x="4325112" y="1938528"/>
            <a:ext cx="3639312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9" name="Shape 16"/>
          <p:cNvSpPr/>
          <p:nvPr/>
        </p:nvSpPr>
        <p:spPr>
          <a:xfrm>
            <a:off x="4553712" y="1655064"/>
            <a:ext cx="566928" cy="566928"/>
          </a:xfrm>
          <a:prstGeom prst="ellipse">
            <a:avLst/>
          </a:prstGeom>
          <a:solidFill>
            <a:srgbClr val="6E87A8"/>
          </a:solidFill>
          <a:ln/>
        </p:spPr>
      </p:sp>
      <p:pic>
        <p:nvPicPr>
          <p:cNvPr id="20" name="Image 1" descr="/home/user/Tina/template-bank/assets/grid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1791127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2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5257800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650" dirty="0"/>
          </a:p>
        </p:txBody>
      </p:sp>
      <p:sp>
        <p:nvSpPr>
          <p:cNvPr id="23" name="Text 19"/>
          <p:cNvSpPr txBox="1"/>
          <p:nvPr/>
        </p:nvSpPr>
        <p:spPr>
          <a:xfrm>
            <a:off x="4581144" y="2596896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broken into named groups, so working memory has somewhere to file each detail.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581144" y="35661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3822192"/>
            <a:ext cx="3090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breakdown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51206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new material; sorting, contrasting, chunking.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147304" y="1481328"/>
            <a:ext cx="3639312" cy="44348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28" name="Shape 24"/>
          <p:cNvSpPr/>
          <p:nvPr/>
        </p:nvSpPr>
        <p:spPr>
          <a:xfrm>
            <a:off x="8147304" y="1481328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9E3B3B"/>
          </a:solidFill>
          <a:ln/>
        </p:spPr>
      </p:sp>
      <p:sp>
        <p:nvSpPr>
          <p:cNvPr id="29" name="Shape 25"/>
          <p:cNvSpPr/>
          <p:nvPr/>
        </p:nvSpPr>
        <p:spPr>
          <a:xfrm>
            <a:off x="8147304" y="1938528"/>
            <a:ext cx="3639312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0" name="Shape 26"/>
          <p:cNvSpPr/>
          <p:nvPr/>
        </p:nvSpPr>
        <p:spPr>
          <a:xfrm>
            <a:off x="8375904" y="1655064"/>
            <a:ext cx="566928" cy="566928"/>
          </a:xfrm>
          <a:prstGeom prst="ellipse">
            <a:avLst/>
          </a:prstGeom>
          <a:solidFill>
            <a:srgbClr val="AF5252"/>
          </a:solidFill>
          <a:ln/>
        </p:spPr>
      </p:sp>
      <p:pic>
        <p:nvPicPr>
          <p:cNvPr id="31" name="Image 2" descr="/home/user/Tina/template-bank/assets/camera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791127"/>
            <a:ext cx="294803" cy="29480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079992" y="164592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3</a:t>
            </a:r>
            <a:endParaRPr lang="en-US" sz="950" dirty="0"/>
          </a:p>
        </p:txBody>
      </p:sp>
      <p:sp>
        <p:nvSpPr>
          <p:cNvPr id="33" name="Text 28"/>
          <p:cNvSpPr txBox="1"/>
          <p:nvPr/>
        </p:nvSpPr>
        <p:spPr>
          <a:xfrm>
            <a:off x="9079992" y="1865376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&amp; Visual</a:t>
            </a:r>
            <a:endParaRPr lang="en-US" sz="1650" dirty="0"/>
          </a:p>
        </p:txBody>
      </p:sp>
      <p:sp>
        <p:nvSpPr>
          <p:cNvPr id="34" name="Text 29"/>
          <p:cNvSpPr txBox="1"/>
          <p:nvPr/>
        </p:nvSpPr>
        <p:spPr>
          <a:xfrm>
            <a:off x="8403336" y="2596896"/>
            <a:ext cx="31272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that needs an accurate picture of the real thing — staged in a logical layer, order, or contrast.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403336" y="35661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8439912" y="3822192"/>
            <a:ext cx="30906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diagram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step sequence</a:t>
            </a:r>
            <a:endParaRPr lang="en-US" sz="11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8403336" y="51206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IT WHEN: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tours, equipment, physical procedures, safety.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502920" y="626364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 for every template:  the layout carries the logic — decoration never competes with meaning.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8368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4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960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132588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 Structural Knowledge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2697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learners must grasp how ideas, steps, and roles connect. Prioritize maps of relationships over lists of facts.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diagra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982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related ideas, with the relationships labeled.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0712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1" descr="/home/user/Tina/template-bank/assets/rout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43982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in sequence, with owners and hand-offs.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7" name="Image 2" descr="/home/user/Tina/template-bank/assets/branch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43982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04304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branches learners must rehearse.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34856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2" name="Image 3" descr="/home/user/Tina/template-bank/assets/sitemap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439826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66376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866376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63456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nests inside what, from program to module.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1.1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how the pieces of continuous performance management relate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LOGICAL &amp; STRUCTURAL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 flipV="1">
            <a:off x="2217420" y="2034540"/>
            <a:ext cx="3886200" cy="176022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103620" y="2034540"/>
            <a:ext cx="3794760" cy="176022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805940" y="3726180"/>
            <a:ext cx="4297680" cy="685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103620" y="3726180"/>
            <a:ext cx="4206240" cy="685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2217420" y="3794760"/>
            <a:ext cx="3886200" cy="162306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03620" y="3794760"/>
            <a:ext cx="3794760" cy="162306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98280" y="2377440"/>
            <a:ext cx="868680" cy="1005840"/>
          </a:xfrm>
          <a:prstGeom prst="line">
            <a:avLst/>
          </a:prstGeom>
          <a:noFill/>
          <a:ln w="15875">
            <a:solidFill>
              <a:srgbClr val="8FA3BC"/>
            </a:solidFill>
            <a:prstDash val="dash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468880" y="2286000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targets for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286000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measured by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3419856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steered by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3419856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325112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325112"/>
            <a:ext cx="13716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rolls up into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51560" y="169164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Setting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732520" y="169164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23960" y="16916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38328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Conversations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44000" y="338328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5440" y="33832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51560" y="507492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14300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Reward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732520" y="507492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F3F4F7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2396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Summary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92040" y="3337560"/>
            <a:ext cx="2423160" cy="914400"/>
          </a:xfrm>
          <a:prstGeom prst="roundRect">
            <a:avLst>
              <a:gd name="adj" fmla="val 9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983480" y="33375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Cycle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0" y="58978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concepts   ·   labeled lines = relationships   ·   dashed = cross-link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need the big picture of how the parts of a system influence each other — before any single part is taught in depth.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1.2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new-hire onboarding journey, stage by stage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LOGICAL &amp; STRUCTURAL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2377440" cy="868680"/>
          </a:xfrm>
          <a:prstGeom prst="chevron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&amp; Paperwork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−21 to −14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0632" y="1554480"/>
            <a:ext cx="2377440" cy="868680"/>
          </a:xfrm>
          <a:prstGeom prst="chevron">
            <a:avLst/>
          </a:prstGeom>
          <a:solidFill>
            <a:srgbClr val="3A57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63240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Pre-Boarding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−14 to 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38344" y="1554480"/>
            <a:ext cx="2377440" cy="868680"/>
          </a:xfrm>
          <a:prstGeom prst="chevron">
            <a:avLst/>
          </a:prstGeom>
          <a:solidFill>
            <a:srgbClr val="5B76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30952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Orientation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06056" y="1554480"/>
            <a:ext cx="2377440" cy="868680"/>
          </a:xfrm>
          <a:prstGeom prst="chevron">
            <a:avLst/>
          </a:prstGeom>
          <a:solidFill>
            <a:srgbClr val="8FA3B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98664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Ramp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98664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6–90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573768" y="1554480"/>
            <a:ext cx="2377440" cy="868680"/>
          </a:xfrm>
          <a:prstGeom prst="chevron">
            <a:avLst/>
          </a:prstGeom>
          <a:solidFill>
            <a:srgbClr val="9E3B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66376" y="16276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Productive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866376" y="2066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90+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0352" y="2743200"/>
            <a:ext cx="2212848" cy="278892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23" name="Shape 21"/>
          <p:cNvSpPr/>
          <p:nvPr/>
        </p:nvSpPr>
        <p:spPr>
          <a:xfrm>
            <a:off x="1636776" y="2423160"/>
            <a:ext cx="0" cy="32004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2944368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signed &amp; filed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check done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date confirmed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" y="4965192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9651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Recruiting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98064" y="2743200"/>
            <a:ext cx="2212848" cy="278892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28" name="Shape 26"/>
          <p:cNvSpPr/>
          <p:nvPr/>
        </p:nvSpPr>
        <p:spPr>
          <a:xfrm>
            <a:off x="3904488" y="2423160"/>
            <a:ext cx="0" cy="32004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80944" y="2944368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laptop ready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pack sent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assigned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80944" y="4965192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3A578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80944" y="49651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HR Ops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65776" y="2743200"/>
            <a:ext cx="2212848" cy="278892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2200" y="2423160"/>
            <a:ext cx="0" cy="32004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48656" y="2944368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values intro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basics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248656" y="4965192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769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48656" y="49651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People Team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33488" y="2743200"/>
            <a:ext cx="2212848" cy="278892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38" name="Shape 36"/>
          <p:cNvSpPr/>
          <p:nvPr/>
        </p:nvSpPr>
        <p:spPr>
          <a:xfrm>
            <a:off x="8439912" y="2423160"/>
            <a:ext cx="0" cy="32004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16368" y="2944368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goals agreed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1:1 cadence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deliverable shipped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516368" y="4965192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8FA3B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16368" y="49651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Manager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601200" y="2743200"/>
            <a:ext cx="2212848" cy="2788920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07624" y="2423160"/>
            <a:ext cx="0" cy="32004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84080" y="2944368"/>
            <a:ext cx="1865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review held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plan set</a:t>
            </a:r>
            <a:endParaRPr lang="en-US" sz="1050" dirty="0"/>
          </a:p>
          <a:p>
            <a:pPr marL="114300" indent="-1143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 phase closed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784080" y="4965192"/>
            <a:ext cx="1847088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84080" y="49651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Manager + HRBP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02920" y="580644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chevron per stage · one owner per stage · 3 bullets max — if a stage needs more, it is two stages.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9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is a sequence with a clear direction, stages, and hand-offs between owners.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1.3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with Decision Points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handling a customer escalation, branch by branch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LOGICAL &amp; STRUCTURAL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91640" cy="685800"/>
          </a:xfrm>
          <a:prstGeom prst="roundRect">
            <a:avLst>
              <a:gd name="adj" fmla="val 21333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" y="169164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logged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customer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1691640"/>
            <a:ext cx="1828800" cy="685800"/>
          </a:xfrm>
          <a:prstGeom prst="rect">
            <a:avLst/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69164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triage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diagnosis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1417320"/>
            <a:ext cx="2103120" cy="1234440"/>
          </a:xfrm>
          <a:prstGeom prst="diamond">
            <a:avLst/>
          </a:prstGeom>
          <a:solidFill>
            <a:srgbClr val="F1E5E5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141732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Tier 1?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1691640"/>
            <a:ext cx="1828800" cy="685800"/>
          </a:xfrm>
          <a:prstGeom prst="rect">
            <a:avLst/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27264" y="169164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149840" y="1691640"/>
            <a:ext cx="1645920" cy="685800"/>
          </a:xfrm>
          <a:prstGeom prst="roundRect">
            <a:avLst>
              <a:gd name="adj" fmla="val 21333"/>
            </a:avLst>
          </a:prstGeom>
          <a:solidFill>
            <a:srgbClr val="1F38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04704" y="169164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loop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customer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57800" y="3337560"/>
            <a:ext cx="1828800" cy="640080"/>
          </a:xfrm>
          <a:prstGeom prst="rect">
            <a:avLst/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12664" y="33375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queue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4343400"/>
            <a:ext cx="2103120" cy="1234440"/>
          </a:xfrm>
          <a:prstGeom prst="diamond">
            <a:avLst/>
          </a:prstGeom>
          <a:solidFill>
            <a:srgbClr val="F1E5E5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434340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risk?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4617720"/>
            <a:ext cx="1828800" cy="685800"/>
          </a:xfrm>
          <a:prstGeom prst="rect">
            <a:avLst/>
          </a:prstGeom>
          <a:solidFill>
            <a:srgbClr val="F1E5E5"/>
          </a:solidFill>
          <a:ln w="15875">
            <a:solidFill>
              <a:srgbClr val="9E3B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27264" y="46177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incident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49840" y="4617720"/>
            <a:ext cx="1645920" cy="685800"/>
          </a:xfrm>
          <a:prstGeom prst="roundRect">
            <a:avLst>
              <a:gd name="adj" fmla="val 21333"/>
            </a:avLst>
          </a:prstGeom>
          <a:solidFill>
            <a:srgbClr val="9E3B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04704" y="461772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 owns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0" y="4617720"/>
            <a:ext cx="1828800" cy="685800"/>
          </a:xfrm>
          <a:prstGeom prst="rect">
            <a:avLst/>
          </a:prstGeom>
          <a:solidFill>
            <a:srgbClr val="F3F4F7"/>
          </a:solidFill>
          <a:ln w="15875">
            <a:solidFill>
              <a:srgbClr val="5B76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98064" y="461772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resolves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SLA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617720"/>
            <a:ext cx="1691640" cy="685800"/>
          </a:xfrm>
          <a:prstGeom prst="roundRect">
            <a:avLst>
              <a:gd name="adj" fmla="val 21333"/>
            </a:avLst>
          </a:prstGeom>
          <a:solidFill>
            <a:srgbClr val="1F386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03504" y="4617720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loop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customer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40280" y="2034540"/>
            <a:ext cx="50292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0" y="203454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23760" y="203454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03454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172200" y="2651760"/>
            <a:ext cx="0" cy="68580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72200" y="3977640"/>
            <a:ext cx="0" cy="36576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223760" y="496062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601200" y="496062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>
            <a:off x="4572000" y="4960620"/>
            <a:ext cx="54864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>
            <a:off x="2240280" y="4960620"/>
            <a:ext cx="502920" cy="0"/>
          </a:xfrm>
          <a:prstGeom prst="line">
            <a:avLst/>
          </a:prstGeom>
          <a:noFill/>
          <a:ln w="19050">
            <a:solidFill>
              <a:srgbClr val="8792A5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360920" y="1847088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2907792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475488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617720" y="4754880"/>
            <a:ext cx="45720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91840" y="5943600"/>
            <a:ext cx="457200" cy="237744"/>
          </a:xfrm>
          <a:prstGeom prst="roundRect">
            <a:avLst>
              <a:gd name="adj" fmla="val 38462"/>
            </a:avLst>
          </a:prstGeom>
          <a:solidFill>
            <a:srgbClr val="1F386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822192" y="5943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5943600"/>
            <a:ext cx="457200" cy="237744"/>
          </a:xfrm>
          <a:prstGeom prst="rect">
            <a:avLst/>
          </a:prstGeom>
          <a:solidFill>
            <a:srgbClr val="F3F4F7"/>
          </a:solidFill>
          <a:ln w="12700">
            <a:solidFill>
              <a:srgbClr val="5B769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376672" y="59436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17920" y="5907024"/>
            <a:ext cx="365760" cy="310896"/>
          </a:xfrm>
          <a:prstGeom prst="diamond">
            <a:avLst/>
          </a:prstGeom>
          <a:solidFill>
            <a:srgbClr val="F1E5E5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656832" y="5943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7498080" y="59436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 left to right, decisions branch down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51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2" name="Text 49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action depends on decisions — make every branch visible so learners rehearse the judgment, not just the happy path.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1.4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curriculum architecture: what nests inside what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LOGICAL &amp; STRUCTURAL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0358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3708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 flipH="1">
            <a:off x="2788920" y="2194560"/>
            <a:ext cx="3305556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2194560"/>
            <a:ext cx="4572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4476" y="2194560"/>
            <a:ext cx="3305556" cy="64008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9048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0032" y="3547872"/>
            <a:ext cx="0" cy="612648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37176" y="1481328"/>
            <a:ext cx="2514600" cy="713232"/>
          </a:xfrm>
          <a:prstGeom prst="roundRect">
            <a:avLst>
              <a:gd name="adj" fmla="val 10256"/>
            </a:avLst>
          </a:prstGeom>
          <a:solidFill>
            <a:srgbClr val="1F386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37176" y="1563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Academy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836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development program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00200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5B769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0020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Self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contributors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600200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801368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Self-awareness &amp; feedback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productivity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Influencing without authority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10328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5B76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0328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Teams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4910328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&amp; front-line managers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10328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11496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conversations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&amp; development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effective 1:1s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11312" y="283464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5B769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11312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the Business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heads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11312" y="4160520"/>
            <a:ext cx="2377440" cy="1600200"/>
          </a:xfrm>
          <a:prstGeom prst="roundRect">
            <a:avLst>
              <a:gd name="adj" fmla="val 3429"/>
            </a:avLst>
          </a:prstGeom>
          <a:solidFill>
            <a:srgbClr val="F3F4F7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0" y="4370832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into priorities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acumen</a:t>
            </a:r>
            <a:endParaRPr lang="en-US" sz="1050" dirty="0"/>
          </a:p>
          <a:p>
            <a:pPr marL="114300" indent="-1143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through change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" y="594360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maximum on one slide — deeper structures get one slide per branch.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6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nests — programs into courses, functions into teams — and learners must know what belongs where.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8368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960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132588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Information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2697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introducing new material. Name the groups first — 3 to 5 of them — so learners have somewhere to file every detail that follows.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gri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982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groups with a definition and an example each.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0712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1" descr="/home/user/Tina/template-bank/assets/matrix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43982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sorted by two dimensions — position teaches.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7" name="Image 2" descr="/home/user/Tina/template-bank/assets/column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43982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04304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things contrasted attribute by attribute.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34856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2" name="Image 3" descr="/home/user/Tina/template-bank/assets/balanc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439826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66376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866376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Breakdown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63456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topic chunked into teachable groups.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four ways we deliver learning, and when each earns its cost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CATEGORICAL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758952" y="1755648"/>
            <a:ext cx="658368" cy="65836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9" name="Image 0" descr="/home/user/Tina/template-bank/assets/chalkboar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024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18488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 Workshop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618488" y="20665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facilitator works a room through practice, discussion, and feedback in real time.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618488" y="28529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skills that need live practice — negotiation, feedback conversations.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45352" y="1481328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1384" y="1755648"/>
            <a:ext cx="658368" cy="65836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5" name="Image 1" descr="/home/user/Tina/template-bank/assets/laptop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2024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60920" y="1719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7360920" y="20665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sessions with breakouts, polls, and shared exercises across locations.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360920" y="28529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teams learning together without travel — rollouts, cohort programs.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02920" y="3877056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20" name="Shape 16"/>
          <p:cNvSpPr/>
          <p:nvPr/>
        </p:nvSpPr>
        <p:spPr>
          <a:xfrm>
            <a:off x="758952" y="4151376"/>
            <a:ext cx="658368" cy="65836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21" name="Image 2" descr="/home/user/Tina/template-bank/assets/book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159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18488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E-Learning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618488" y="44622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learners complete on their own schedule, with checks for understanding.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1618488" y="524865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knowledge at scale — compliance, product basics, onboarding theory.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245352" y="3877056"/>
            <a:ext cx="5440680" cy="2212848"/>
          </a:xfrm>
          <a:prstGeom prst="roundRect">
            <a:avLst>
              <a:gd name="adj" fmla="val 2893"/>
            </a:avLst>
          </a:prstGeom>
          <a:solidFill>
            <a:srgbClr val="F3F4F7"/>
          </a:solidFill>
          <a:ln/>
        </p:spPr>
      </p:sp>
      <p:sp>
        <p:nvSpPr>
          <p:cNvPr id="26" name="Shape 21"/>
          <p:cNvSpPr/>
          <p:nvPr/>
        </p:nvSpPr>
        <p:spPr>
          <a:xfrm>
            <a:off x="6501384" y="4151376"/>
            <a:ext cx="658368" cy="65836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7" name="Image 3" descr="/home/user/Tina/template-bank/assets/handshak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431596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36092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On-the-Job Coaching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360920" y="446227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or expert guides real work — observe, attempt, feedback, retry.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7360920" y="524865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 </a:t>
            </a:r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the job — the step every other method exists to set up.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2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introduce new material — give each group a name, a one-line definition, and one concrete example. Keep it to 3–5 groups.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Matrix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skill / will matrix: matching your coaching style to the person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CATEGORICAL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481328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E6ECF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6824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will · low skill — keen but green.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51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practice, short feedback loops, early wins.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31152" y="1481328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DEE5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05472" y="16824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will · high skill — your engine room.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205472" y="2651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goals, autonomy, visibility. Stay out of the way.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74904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F1E5E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43200" y="3950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will · low skill — diagnose the cause first.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49194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standards, close check-ins, honest conversation.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31152" y="374904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E8E4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05472" y="3950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5F5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205472" y="43708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will · high skill — able but disengaged.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9194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to purpose, new challenge, remove blockers.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flipV="1">
            <a:off x="2148840" y="1481328"/>
            <a:ext cx="0" cy="4370832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468880" y="6172200"/>
            <a:ext cx="8759952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 rot="16200000">
            <a:off x="-155448" y="3456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— motivation &amp; commitment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837176" y="6236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— capability &amp; experience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8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sort everything that matters — place each case on the grid so position itself does the teaching.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three conversations managers mix up: coaching, mentoring, managing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CATEGORICAL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18104"/>
                <a:gridCol w="3118104"/>
                <a:gridCol w="3118104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Mentoring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6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3B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Unlock the person's own thinking on a current challenge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experience to grow the person over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work toward the team's goals and standards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horizon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situation, this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arc — quarters to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week's priorities and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drives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learner — coach asks, learner decides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— mentor offers, mentee chooses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manager — sets expectations, checks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Sounds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have you tried? What would good look like?”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“When I faced this, here is what I learned…”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i="1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need this by Friday — here is the standard.”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" y="589788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only the attributes learners actually confuse — four rows beat ten.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10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confuse similar things — put them side by side and contrast them attribute by attribute, ending with what each “sounds like”.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2.4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Breakdown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chunking security awareness into three teachable groups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CATEGORICAL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1499616" y="2651760"/>
            <a:ext cx="658368" cy="65836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shield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28163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Awareness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087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behaviors → 3 groups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 flipV="1">
            <a:off x="3154680" y="2125980"/>
            <a:ext cx="960120" cy="1348740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3474720"/>
            <a:ext cx="960120" cy="278892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474720"/>
            <a:ext cx="960120" cy="1906524"/>
          </a:xfrm>
          <a:prstGeom prst="line">
            <a:avLst/>
          </a:prstGeom>
          <a:noFill/>
          <a:ln w="19050">
            <a:solidFill>
              <a:srgbClr val="AE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1417320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842516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7" name="Image 1" descr="/home/user/Tina/template-bank/assets/key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1984248"/>
            <a:ext cx="283464" cy="28346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074920" y="16002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850" dirty="0"/>
          </a:p>
        </p:txBody>
      </p:sp>
      <p:sp>
        <p:nvSpPr>
          <p:cNvPr id="19" name="Text 15"/>
          <p:cNvSpPr txBox="1"/>
          <p:nvPr/>
        </p:nvSpPr>
        <p:spPr>
          <a:xfrm>
            <a:off x="5074920" y="1801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Access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635240" y="1563624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99832" y="1563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Passphrases &amp; MFA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7635240" y="1965960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99832" y="1965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red flags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635240" y="2368296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799832" y="23682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calls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114800" y="3044952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27" name="Shape 23"/>
          <p:cNvSpPr/>
          <p:nvPr/>
        </p:nvSpPr>
        <p:spPr>
          <a:xfrm>
            <a:off x="4343400" y="3470148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28" name="Image 2" descr="/home/user/Tina/template-bank/assets/databas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132" y="3611880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074920" y="32278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850" dirty="0"/>
          </a:p>
        </p:txBody>
      </p:sp>
      <p:sp>
        <p:nvSpPr>
          <p:cNvPr id="30" name="Text 25"/>
          <p:cNvSpPr txBox="1"/>
          <p:nvPr/>
        </p:nvSpPr>
        <p:spPr>
          <a:xfrm>
            <a:off x="5074920" y="3429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7635240" y="3191256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799832" y="3191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labels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635240" y="3593592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799832" y="35935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storage rules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635240" y="3995928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7799832" y="3995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Clean-desk basics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114800" y="4672584"/>
            <a:ext cx="7571232" cy="1417320"/>
          </a:xfrm>
          <a:prstGeom prst="roundRect">
            <a:avLst>
              <a:gd name="adj" fmla="val 4516"/>
            </a:avLst>
          </a:prstGeom>
          <a:solidFill>
            <a:srgbClr val="F3F4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343400" y="509778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39" name="Image 3" descr="/home/user/Tina/template-bank/assets/mobil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132" y="5239512"/>
            <a:ext cx="283464" cy="28346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5074920" y="48554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5074920" y="5056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Devices</a:t>
            </a:r>
            <a:endParaRPr lang="en-US" sz="1500" dirty="0"/>
          </a:p>
        </p:txBody>
      </p:sp>
      <p:sp>
        <p:nvSpPr>
          <p:cNvPr id="42" name="Shape 36"/>
          <p:cNvSpPr/>
          <p:nvPr/>
        </p:nvSpPr>
        <p:spPr>
          <a:xfrm>
            <a:off x="7635240" y="4818888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7799832" y="4818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&amp; patching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635240" y="5221224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799832" y="52212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Wi-Fi &amp; travel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635240" y="5623560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7799832" y="5623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Lost-device reporting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502920" y="608076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group by group, then reassemble: end by showing all three groups on one summary visual.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50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topic would overwhelm — break it into 3–5 named chunks, teach chunk by chunk, then synthesize.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58368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5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4480560" y="960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480560" y="132588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&amp; Visual Information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26974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accuracy matters. Show the real thing — the actual screen, machine, or posture — but stage it in layers, sequences, and contrasts.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imag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3982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accurate picture with a numbered guided tour.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10712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2" name="Image 1" descr="/home/user/Tina/template-bank/assets/layer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43982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42232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4142232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Diagram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639312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options ranked in logical layers.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72784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7" name="Image 2" descr="/home/user/Tina/template-bank/assets/listol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439826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04304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7004304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Sequence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01384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accurate photo per step, in strict order.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134856" y="4160520"/>
            <a:ext cx="2679192" cy="1783080"/>
          </a:xfrm>
          <a:prstGeom prst="roundRect">
            <a:avLst>
              <a:gd name="adj" fmla="val 3590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2" name="Image 3" descr="/home/user/Tina/template-bank/assets/check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439826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66376" y="4379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866376" y="4617720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363456" y="5093208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side by side, differences called out.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3.1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Image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guided tour of the CRM home screen, in reading order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CONCRETE &amp; VISUAL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6583680" cy="4617720"/>
          </a:xfrm>
          <a:prstGeom prst="roundRect">
            <a:avLst>
              <a:gd name="adj" fmla="val 118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image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3259836"/>
            <a:ext cx="731520" cy="7315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3991356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the REAL screenshot — full resolution, current release, no mock-ups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234440" y="1965960"/>
            <a:ext cx="402336" cy="402336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123444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2286000"/>
            <a:ext cx="402336" cy="402336"/>
          </a:xfrm>
          <a:prstGeom prst="ellipse">
            <a:avLst/>
          </a:prstGeom>
          <a:solidFill>
            <a:srgbClr val="5B7699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21208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0" y="4663440"/>
            <a:ext cx="402336" cy="402336"/>
          </a:xfrm>
          <a:prstGeom prst="ellipse">
            <a:avLst/>
          </a:prstGeom>
          <a:solidFill>
            <a:srgbClr val="3A5787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28600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06440" y="5212080"/>
            <a:ext cx="402336" cy="402336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5400000">
              <a:srgbClr val="9AA3B2">
                <a:alpha val="4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8064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52360" y="1572768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52360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0" y="154533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955280" y="184708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open deal by stage. Start your day here — anything stuck 14+ days is flagged.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52360" y="2743200"/>
            <a:ext cx="365760" cy="365760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4523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955280" y="27157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queue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955280" y="30175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follow-ups, auto-sorted by deal value. Work top to bottom.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452360" y="3913632"/>
            <a:ext cx="365760" cy="365760"/>
          </a:xfrm>
          <a:prstGeom prst="ellipse">
            <a:avLst/>
          </a:prstGeom>
          <a:solidFill>
            <a:srgbClr val="3A578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52360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0" y="38862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955280" y="4187952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means no contact in 30 days — call before it churns, not after.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452360" y="5084064"/>
            <a:ext cx="365760" cy="365760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52360" y="5084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955280" y="50566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center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955280" y="535838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replies and escalations. The 24-hour response clock starts here.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5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recognize the real thing on the job — use the accurate image, and number the tour in the order they should read it.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3.2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the hierarchy of hazard controls: concrete measures, ranked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CONCRETE &amp; VISUAL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60120" y="150876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1508760"/>
            <a:ext cx="5669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Eliminate the hazard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80160" y="2404872"/>
            <a:ext cx="5394960" cy="786384"/>
          </a:xfrm>
          <a:prstGeom prst="roundRect">
            <a:avLst>
              <a:gd name="adj" fmla="val 6977"/>
            </a:avLst>
          </a:prstGeom>
          <a:solidFill>
            <a:srgbClr val="3A578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63040" y="240487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Substitute the risk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3300984"/>
            <a:ext cx="4754880" cy="786384"/>
          </a:xfrm>
          <a:prstGeom prst="roundRect">
            <a:avLst>
              <a:gd name="adj" fmla="val 6977"/>
            </a:avLst>
          </a:prstGeom>
          <a:solidFill>
            <a:srgbClr val="5B76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83080" y="330098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Engineering controls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4197096"/>
            <a:ext cx="4114800" cy="786384"/>
          </a:xfrm>
          <a:prstGeom prst="roundRect">
            <a:avLst>
              <a:gd name="adj" fmla="val 6977"/>
            </a:avLst>
          </a:prstGeom>
          <a:solidFill>
            <a:srgbClr val="8FA3B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103120" y="419709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Administrative controls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40280" y="5093208"/>
            <a:ext cx="3474720" cy="786384"/>
          </a:xfrm>
          <a:prstGeom prst="roundRect">
            <a:avLst>
              <a:gd name="adj" fmla="val 6977"/>
            </a:avLst>
          </a:prstGeom>
          <a:solidFill>
            <a:srgbClr val="9E3B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23160" y="509320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PPE — last line of defense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flipV="1">
            <a:off x="658368" y="1508760"/>
            <a:ext cx="0" cy="4370832"/>
          </a:xfrm>
          <a:prstGeom prst="line">
            <a:avLst/>
          </a:prstGeom>
          <a:noFill/>
          <a:ln w="28575">
            <a:solidFill>
              <a:srgbClr val="1F386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 rot="16200000">
            <a:off x="-1207008" y="242316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EFFECTIVE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-1207008" y="4709160"/>
            <a:ext cx="3145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EFFECTIVE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28016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LOOKS LIKE ON OUR FLOOR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52360" y="1655064"/>
            <a:ext cx="146304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26680" y="158191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pallet transfer so no one lifts at height.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52360" y="2551176"/>
            <a:ext cx="146304" cy="502920"/>
          </a:xfrm>
          <a:prstGeom prst="rect">
            <a:avLst/>
          </a:prstGeom>
          <a:solidFill>
            <a:srgbClr val="3A578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26680" y="2478024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solvent for a non-flammable cleaner.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3447288"/>
            <a:ext cx="146304" cy="50292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26680" y="3374136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rails and light curtains at the press.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52360" y="4343400"/>
            <a:ext cx="146304" cy="502920"/>
          </a:xfrm>
          <a:prstGeom prst="rect">
            <a:avLst/>
          </a:prstGeom>
          <a:solidFill>
            <a:srgbClr val="8FA3B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726680" y="4270248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schedules, permits, floor markings.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5239512"/>
            <a:ext cx="146304" cy="50292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26680" y="516636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Gloves, goggles, hearing protection — worn, not stored.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2" name="Image 0" descr="/home/user/Tina/template-bank/assets/lightbulb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measures stack in a logical order — rank them in layers so learners see priority, not just a flat list.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3.3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Step Sequence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lockout / tagout: isolating the conveyor before maintenance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CONCRETE &amp; VISUAL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9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141982"/>
            <a:ext cx="589788" cy="5897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80263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equipment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8952" y="1737360"/>
            <a:ext cx="475488" cy="47548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 shut down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the maintenance window, then stop the line from the main control panel.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27248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16" name="Shape 13"/>
          <p:cNvSpPr/>
          <p:nvPr/>
        </p:nvSpPr>
        <p:spPr>
          <a:xfrm>
            <a:off x="3342132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3479292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8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262" y="2141982"/>
            <a:ext cx="589788" cy="58978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62172" y="280263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equipment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598164" y="1737360"/>
            <a:ext cx="475488" cy="47548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598164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3543300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the energy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3543300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disconnect switch to OFF and release any stored pressure in the system.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66460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25" name="Shape 21"/>
          <p:cNvSpPr/>
          <p:nvPr/>
        </p:nvSpPr>
        <p:spPr>
          <a:xfrm>
            <a:off x="6181344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26" name="Shape 22"/>
          <p:cNvSpPr/>
          <p:nvPr/>
        </p:nvSpPr>
        <p:spPr>
          <a:xfrm>
            <a:off x="6318504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7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474" y="2141982"/>
            <a:ext cx="589788" cy="58978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501384" y="280263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equipment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37376" y="1737360"/>
            <a:ext cx="475488" cy="475488"/>
          </a:xfrm>
          <a:prstGeom prst="ellipse">
            <a:avLst/>
          </a:prstGeom>
          <a:solidFill>
            <a:srgbClr val="1F386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437376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382512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&amp; tag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6382512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your personal lock and a signed, dated tag. One worker, one lock, one key.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8805672" y="2441448"/>
            <a:ext cx="274320" cy="292608"/>
          </a:xfrm>
          <a:prstGeom prst="rightArrow">
            <a:avLst/>
          </a:prstGeom>
          <a:solidFill>
            <a:srgbClr val="8FA3BC"/>
          </a:solidFill>
          <a:ln/>
        </p:spPr>
      </p:sp>
      <p:sp>
        <p:nvSpPr>
          <p:cNvPr id="34" name="Shape 29"/>
          <p:cNvSpPr/>
          <p:nvPr/>
        </p:nvSpPr>
        <p:spPr>
          <a:xfrm>
            <a:off x="9020556" y="1481328"/>
            <a:ext cx="2670048" cy="4434840"/>
          </a:xfrm>
          <a:prstGeom prst="roundRect">
            <a:avLst>
              <a:gd name="adj" fmla="val 2397"/>
            </a:avLst>
          </a:prstGeom>
          <a:solidFill>
            <a:srgbClr val="F3F4F7"/>
          </a:solidFill>
          <a:ln/>
        </p:spPr>
      </p:sp>
      <p:sp>
        <p:nvSpPr>
          <p:cNvPr id="35" name="Shape 30"/>
          <p:cNvSpPr/>
          <p:nvPr/>
        </p:nvSpPr>
        <p:spPr>
          <a:xfrm>
            <a:off x="9157716" y="1618488"/>
            <a:ext cx="2395728" cy="1965960"/>
          </a:xfrm>
          <a:prstGeom prst="roundRect">
            <a:avLst>
              <a:gd name="adj" fmla="val 2791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6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2141982"/>
            <a:ext cx="589788" cy="589788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340596" y="2802636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of THIS step,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equipment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276588" y="1737360"/>
            <a:ext cx="475488" cy="475488"/>
          </a:xfrm>
          <a:prstGeom prst="ellipse">
            <a:avLst/>
          </a:prstGeom>
          <a:solidFill>
            <a:srgbClr val="9E3B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276588" y="1737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9221724" y="3721608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work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9221724" y="4059936"/>
            <a:ext cx="2267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 restart to prove isolation. Only a failed start clears you to begin.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9221724" y="51389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 </a:t>
            </a:r>
            <a:pPr indent="0" marL="0">
              <a:buNone/>
            </a:pPr>
            <a:r>
              <a:rPr lang="en-US" sz="950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try-start must FAIL before any work begins.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4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procedure must be performed exactly — one accurate photo per step, in strict order, with cautions attached to the step they protect.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3.4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vs Incorrect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workstation ergonomics: spot the difference before your back does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CONCRETE &amp; VISUAL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0" descr="/home/user/Tina/template-bank/assets/che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59562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207568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1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711196"/>
            <a:ext cx="685800" cy="6858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341985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the SAME desk, set up right</a:t>
            </a:r>
            <a:endParaRPr lang="en-US" sz="1000" dirty="0"/>
          </a:p>
        </p:txBody>
      </p:sp>
      <p:pic>
        <p:nvPicPr>
          <p:cNvPr id="13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811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41832" y="4544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at eye level, one arm's length away</a:t>
            </a:r>
            <a:endParaRPr lang="en-US" sz="1150" dirty="0"/>
          </a:p>
        </p:txBody>
      </p:sp>
      <p:pic>
        <p:nvPicPr>
          <p:cNvPr id="15" name="Image 3" descr="/home/user/Tina/template-bank/assets/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56632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41832" y="5020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Elbows at 90°, wrists neutral on the desk</a:t>
            </a:r>
            <a:endParaRPr lang="en-US" sz="1150" dirty="0"/>
          </a:p>
        </p:txBody>
      </p:sp>
      <p:pic>
        <p:nvPicPr>
          <p:cNvPr id="17" name="Image 4" descr="/home/user/Tina/template-bank/assets/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32120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41832" y="5495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 flat, lower back supported by the chair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245352" y="1481328"/>
            <a:ext cx="457200" cy="45720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0" name="Image 5" descr="/home/user/Tina/template-bank/assets/times-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1595628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39712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700" dirty="0"/>
          </a:p>
        </p:txBody>
      </p:sp>
      <p:sp>
        <p:nvSpPr>
          <p:cNvPr id="22" name="Shape 14"/>
          <p:cNvSpPr/>
          <p:nvPr/>
        </p:nvSpPr>
        <p:spPr>
          <a:xfrm>
            <a:off x="6245352" y="2075688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3" name="Image 6" descr="/home/user/Tina/template-bank/assets/camera-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2" y="2711196"/>
            <a:ext cx="685800" cy="68580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428232" y="341985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the habit we are un-teaching</a:t>
            </a:r>
            <a:endParaRPr lang="en-US" sz="1000" dirty="0"/>
          </a:p>
        </p:txBody>
      </p:sp>
      <p:pic>
        <p:nvPicPr>
          <p:cNvPr id="25" name="Image 7" descr="/home/user/Tina/template-bank/assets/times-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4581144"/>
            <a:ext cx="256032" cy="25603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6684264" y="4544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flat on the desk — neck bent for hours</a:t>
            </a:r>
            <a:endParaRPr lang="en-US" sz="1150" dirty="0"/>
          </a:p>
        </p:txBody>
      </p:sp>
      <p:pic>
        <p:nvPicPr>
          <p:cNvPr id="27" name="Image 8" descr="/home/user/Tina/template-bank/assets/times-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5056632"/>
            <a:ext cx="256032" cy="25603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684264" y="5020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Wrists cocked upward on the keyboard edge</a:t>
            </a:r>
            <a:endParaRPr lang="en-US" sz="1150" dirty="0"/>
          </a:p>
        </p:txBody>
      </p:sp>
      <p:pic>
        <p:nvPicPr>
          <p:cNvPr id="29" name="Image 9" descr="/home/user/Tina/template-bank/assets/times-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072" y="5532120"/>
            <a:ext cx="256032" cy="256032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684264" y="5495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Perched forward, feet hooked on chair legs</a:t>
            </a:r>
            <a:endParaRPr lang="en-US" sz="1150" dirty="0"/>
          </a:p>
        </p:txBody>
      </p:sp>
      <p:sp>
        <p:nvSpPr>
          <p:cNvPr id="31" name="Shape 19"/>
          <p:cNvSpPr/>
          <p:nvPr/>
        </p:nvSpPr>
        <p:spPr>
          <a:xfrm>
            <a:off x="6094476" y="1554480"/>
            <a:ext cx="0" cy="4434840"/>
          </a:xfrm>
          <a:prstGeom prst="line">
            <a:avLst/>
          </a:prstGeom>
          <a:noFill/>
          <a:ln w="12700">
            <a:solidFill>
              <a:srgbClr val="D3D8E0"/>
            </a:solidFill>
            <a:prstDash val="dash"/>
          </a:ln>
        </p:spPr>
      </p:sp>
      <p:sp>
        <p:nvSpPr>
          <p:cNvPr id="32" name="Shape 20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3" name="Image 10" descr="/home/user/Tina/template-bank/assets/lightbulb-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must tell right from wrong at a glance — show both versions side by side and call out exactly what differs.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fast: from content to template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knowledge type first — then the template picks itself.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81328"/>
          <a:ext cx="7086600" cy="914400"/>
        </p:xfrm>
        <a:graphic>
          <a:graphicData uri="http://schemas.openxmlformats.org/drawingml/2006/table">
            <a:tbl>
              <a:tblPr/>
              <a:tblGrid>
                <a:gridCol w="3977640"/>
                <a:gridCol w="3108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THE CONTENT IS…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parts of a system relate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 Concept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sequence with stages and hand-offs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 Process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judgment call with branches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 Flowchart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that nests, level by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 Hierarchy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information learners must file in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76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 Category grid  ·  2.4  Breakdown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sorted by two dimensions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76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 2×2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things learners confuse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76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 Comparison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real thing, recognized or done exactly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E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– 3.4  Image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481328"/>
            <a:ext cx="3730752" cy="4526280"/>
          </a:xfrm>
          <a:prstGeom prst="roundRect">
            <a:avLst>
              <a:gd name="adj" fmla="val 1716"/>
            </a:avLst>
          </a:prstGeom>
          <a:solidFill>
            <a:srgbClr val="F3F4F7"/>
          </a:solidFill>
          <a:ln/>
        </p:spPr>
      </p:sp>
      <p:sp>
        <p:nvSpPr>
          <p:cNvPr id="7" name="Shape 4"/>
          <p:cNvSpPr/>
          <p:nvPr/>
        </p:nvSpPr>
        <p:spPr>
          <a:xfrm>
            <a:off x="8211312" y="173736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8" name="Image 0" descr="/home/user/Tina/template-bank/assets/compas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042" y="18630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51392" y="175564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guardrails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47888" y="2441448"/>
            <a:ext cx="3163824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slide — the layout carries the logic.</a:t>
            </a:r>
            <a:endParaRPr lang="en-US" sz="11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chunks per group. Working memory is small; respect it.</a:t>
            </a:r>
            <a:endParaRPr lang="en-US" sz="11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images only where accuracy matters. Diagrams everywhere else.</a:t>
            </a:r>
            <a:endParaRPr lang="en-US" sz="11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palette, type, and spacing on every slide — novelty taxes attention.</a:t>
            </a:r>
            <a:endParaRPr lang="en-US" sz="11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attention with structure and contrast, never with decoration that competes with meaning.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635508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instructional content-type research (Clark, Developing Technical Training; Graphics for Learning) and cognitive load principles.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Slide Template Bank</dc:title>
  <dc:subject>PptxGenJS Presentation</dc:subject>
  <dc:creator>L&amp;D Template Bank</dc:creator>
  <cp:lastModifiedBy>L&amp;D Template Bank</cp:lastModifiedBy>
  <cp:revision>1</cp:revision>
  <dcterms:created xsi:type="dcterms:W3CDTF">2026-08-30T04:21:54Z</dcterms:created>
  <dcterms:modified xsi:type="dcterms:W3CDTF">2026-08-30T04:21:54Z</dcterms:modified>
</cp:coreProperties>
</file>