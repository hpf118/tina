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 tip: walk the chevrons left to right once, then go back and ask 'what happens if we skip this stage?' — the failure stories teach the sequence better than the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performance-consulting triage. Run real requests from your intake queue through the chart live — the audience should disagree at the diamonds; that argument is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'where does this actually get stuck for us?' Then mark those crossings in red. The template becomes a diagnosis tool, not just a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any exercise you run onto the four beats. If your session is all beat 3 (theory), the diagram indicts itself — a useful moment of honesty in a train-the-trainer.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'you are here' marker when presenting mid-rollout — the same slide then works in every steering meeting for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real numbers in the right column before presenting. A funnel with placeholder percentages persuades no one; a funnel with your survey data sets the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each leaf node: could two observers agree whether it happened? If not, it's not yet a behavior — it's still a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L&amp;D teams measure only levels 1–2 because they're easy. Showing the pyramid makes the gap visible without blaming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learners self-place with a dot sticker (or poll). The spread across steps IS the needs analysis for your next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hard question for sponsors: 'which ring are you personally in, and what will you do differently?' The diagram makes the ask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it live: start with the center and one node, then let the room propose links — and force them to label each one. Unlabeled lines are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 concept map, spokes here are unlabeled on purpose — each satellite instead states what it contributes. Ask 'which spoke is weakest for us?' to turn the map into a working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loop is the teaching point. Cover it up, ask 'what's missing?', then reveal — the room usually finds it, and owns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 as a workshop: empty bones, sticky notes, ten minutes. The categories do the facilitation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quotes at the bottom of each card are doing real work — they make the states felt, not just listed. Source them from actual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01  · 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Structural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Bank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layouts for knowledge that flows, nests, and connects — every structural shape a trainer needs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4434840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7" name="Image 0" descr="/home/user/Tina/template-bank/assets/rout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055" y="45709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5648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55648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· Flowchart · Swimlane · Cycle · Timeline · Funnel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62272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8304" y="4434840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2" name="Image 1" descr="/home/user/Tina/template-bank/assets/sitema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67" y="45709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Structure &amp; Levels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· Pyramid · Staircase · Nested layers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443484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7" name="Image 2" descr="/home/user/Tina/template-bank/assets/diagram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45709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34272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Relationships &amp; Systems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034272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· Hub &amp; spoke · IPO · Fishbone · Gap bridge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60350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structure IS the content — how things connect, in what order, and what depends on what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content out loud — the verb picks the family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knowledge always does one of three things: it moves, it nests, or it connects.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3639312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55064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rout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791127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  ·  6 TEMPLATES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Sequence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moves.”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unfolds in order — steps, decisions, loops, phases, narrowing stages.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393192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happen over time, or in a fixed order?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468172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" y="493776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 · Flowchart · Swimlane · Cycle · Timeline · Funnel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25112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8" name="Shape 15"/>
          <p:cNvSpPr/>
          <p:nvPr/>
        </p:nvSpPr>
        <p:spPr>
          <a:xfrm>
            <a:off x="4325112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5B7699"/>
          </a:solidFill>
          <a:ln/>
        </p:spPr>
      </p:sp>
      <p:sp>
        <p:nvSpPr>
          <p:cNvPr id="19" name="Shape 16"/>
          <p:cNvSpPr/>
          <p:nvPr/>
        </p:nvSpPr>
        <p:spPr>
          <a:xfrm>
            <a:off x="4325112" y="1938528"/>
            <a:ext cx="3639312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0" name="Shape 17"/>
          <p:cNvSpPr/>
          <p:nvPr/>
        </p:nvSpPr>
        <p:spPr>
          <a:xfrm>
            <a:off x="4553712" y="1655064"/>
            <a:ext cx="566928" cy="566928"/>
          </a:xfrm>
          <a:prstGeom prst="ellipse">
            <a:avLst/>
          </a:prstGeom>
          <a:solidFill>
            <a:srgbClr val="6E87A8"/>
          </a:solidFill>
          <a:ln/>
        </p:spPr>
      </p:sp>
      <p:pic>
        <p:nvPicPr>
          <p:cNvPr id="21" name="Image 1" descr="/home/user/Tina/template-bank/assets/sitema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1791127"/>
            <a:ext cx="294803" cy="29480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57800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  ·  4 TEMPLATES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57800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Levels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4581144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nests.”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stacks or contains — hierarchies, levels that build, cores wrapped in context.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81144" y="393192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thing sit inside, above, or on top of another?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581144" y="468172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581144" y="493776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· Pyramid · Staircase · Nested layers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147304" y="1481328"/>
            <a:ext cx="3639312" cy="448056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0" name="Shape 26"/>
          <p:cNvSpPr/>
          <p:nvPr/>
        </p:nvSpPr>
        <p:spPr>
          <a:xfrm>
            <a:off x="8147304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9E3B3B"/>
          </a:solidFill>
          <a:ln/>
        </p:spPr>
      </p:sp>
      <p:sp>
        <p:nvSpPr>
          <p:cNvPr id="31" name="Shape 27"/>
          <p:cNvSpPr/>
          <p:nvPr/>
        </p:nvSpPr>
        <p:spPr>
          <a:xfrm>
            <a:off x="8147304" y="1938528"/>
            <a:ext cx="3639312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2" name="Shape 28"/>
          <p:cNvSpPr/>
          <p:nvPr/>
        </p:nvSpPr>
        <p:spPr>
          <a:xfrm>
            <a:off x="8375904" y="1655064"/>
            <a:ext cx="566928" cy="566928"/>
          </a:xfrm>
          <a:prstGeom prst="ellipse">
            <a:avLst/>
          </a:prstGeom>
          <a:solidFill>
            <a:srgbClr val="AF5252"/>
          </a:solidFill>
          <a:ln/>
        </p:spPr>
      </p:sp>
      <p:pic>
        <p:nvPicPr>
          <p:cNvPr id="33" name="Image 2" descr="/home/user/Tina/template-bank/assets/diagram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1791127"/>
            <a:ext cx="294803" cy="294803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079992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  ·  5 TEMPLATES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9079992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Systems</a:t>
            </a:r>
            <a:endParaRPr lang="en-US" sz="1550" dirty="0"/>
          </a:p>
        </p:txBody>
      </p:sp>
      <p:sp>
        <p:nvSpPr>
          <p:cNvPr id="36" name="Text 31"/>
          <p:cNvSpPr txBox="1"/>
          <p:nvPr/>
        </p:nvSpPr>
        <p:spPr>
          <a:xfrm>
            <a:off x="8403336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connects.”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8403336" y="2999232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a web — parts influence each other, causes pile up, systems feed back.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403336" y="393192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arrows between the parts carry real meaning?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8403336" y="468172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8403336" y="493776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· Hub &amp; spoke · Input–Process–Output · Fishbone · Gap bridge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502920" y="6263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families both fit, pick the one whose shape the learner must remember on the job.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44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Sequence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moves — through steps, decisions, roles, loops, calendars, and narrowing stages. Direction is the message: never let the eye wonder where to go next.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6860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rout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316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1804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Process Map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71804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in order, with owners and outputs.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9908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branc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364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4852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Flowchart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984852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branches, every path visible.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02956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stream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412" y="346557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97900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Swimlane Map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8797900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laid across roles — hand-offs exposed.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76860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sync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16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71804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Cycle Loop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1171804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that repeats and improves.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289908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3" name="Image 4" descr="/home/user/Tina/template-bank/assets/flag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364" y="490118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984852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Timeline Roadmap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4984852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anchored to real dates.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8102956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7" name="Image 5" descr="/home/user/Tina/template-bank/assets/filter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412" y="4901184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797900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· Funnel</a:t>
            </a:r>
            <a:endParaRPr lang="en-US" sz="1250" dirty="0"/>
          </a:p>
        </p:txBody>
      </p:sp>
      <p:sp>
        <p:nvSpPr>
          <p:cNvPr id="29" name="Text 21"/>
          <p:cNvSpPr txBox="1"/>
          <p:nvPr/>
        </p:nvSpPr>
        <p:spPr>
          <a:xfrm>
            <a:off x="8797900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population narrowing stage by stage.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how a course gets made: the ADDIE production line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316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evaluation feeds the next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H="1">
            <a:off x="1737360" y="1627632"/>
            <a:ext cx="9144000" cy="0"/>
          </a:xfrm>
          <a:prstGeom prst="line">
            <a:avLst/>
          </a:prstGeom>
          <a:noFill/>
          <a:ln w="15875">
            <a:solidFill>
              <a:srgbClr val="8FA3BC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10881360" y="1627632"/>
            <a:ext cx="0" cy="338328"/>
          </a:xfrm>
          <a:prstGeom prst="line">
            <a:avLst/>
          </a:prstGeom>
          <a:noFill/>
          <a:ln w="15875">
            <a:solidFill>
              <a:srgbClr val="8FA3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737360" y="1627632"/>
            <a:ext cx="0" cy="338328"/>
          </a:xfrm>
          <a:prstGeom prst="line">
            <a:avLst/>
          </a:prstGeom>
          <a:noFill/>
          <a:ln w="15875">
            <a:solidFill>
              <a:srgbClr val="8FA3B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02920" y="1965960"/>
            <a:ext cx="2377440" cy="868680"/>
          </a:xfrm>
          <a:prstGeom prst="chevron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what?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70632" y="1965960"/>
            <a:ext cx="2377440" cy="868680"/>
          </a:xfrm>
          <a:prstGeom prst="chevron">
            <a:avLst/>
          </a:prstGeom>
          <a:solidFill>
            <a:srgbClr val="3A578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63240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38344" y="1965960"/>
            <a:ext cx="2377440" cy="868680"/>
          </a:xfrm>
          <a:prstGeom prst="chevron">
            <a:avLst/>
          </a:prstGeom>
          <a:solidFill>
            <a:srgbClr val="5B76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30952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06056" y="1965960"/>
            <a:ext cx="2377440" cy="868680"/>
          </a:xfrm>
          <a:prstGeom prst="chevron">
            <a:avLst/>
          </a:prstGeom>
          <a:solidFill>
            <a:srgbClr val="8FA3B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98664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98664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73768" y="1965960"/>
            <a:ext cx="2377440" cy="868680"/>
          </a:xfrm>
          <a:prstGeom prst="chevron">
            <a:avLst/>
          </a:prstGeom>
          <a:solidFill>
            <a:srgbClr val="9E3B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66376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866376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improve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3200400"/>
            <a:ext cx="2212848" cy="228600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27" name="Shape 25"/>
          <p:cNvSpPr/>
          <p:nvPr/>
        </p:nvSpPr>
        <p:spPr>
          <a:xfrm>
            <a:off x="1636776" y="2834640"/>
            <a:ext cx="0" cy="36576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3401568"/>
            <a:ext cx="1865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 &amp; root cause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profile &amp; context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 agreed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98064" y="3200400"/>
            <a:ext cx="2212848" cy="228600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904488" y="2834640"/>
            <a:ext cx="0" cy="36576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80944" y="3401568"/>
            <a:ext cx="1865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do, not know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assessment first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signed off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65776" y="3200400"/>
            <a:ext cx="2212848" cy="228600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172200" y="2834640"/>
            <a:ext cx="0" cy="36576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48656" y="3401568"/>
            <a:ext cx="1865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activities &amp; materials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real learners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confused them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33488" y="3200400"/>
            <a:ext cx="2212848" cy="228600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9912" y="2834640"/>
            <a:ext cx="0" cy="36576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16368" y="3401568"/>
            <a:ext cx="1865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facilitators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communicate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 the flow of work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01200" y="3200400"/>
            <a:ext cx="2212848" cy="228600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07624" y="2834640"/>
            <a:ext cx="0" cy="36576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84080" y="3401568"/>
            <a:ext cx="18653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&amp; learning checks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on the job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the sponsor owns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58064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stage with a verb, give it one question to answer, and cap the detail at three bullets.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3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moves through named stages toward a deliverable — and the order itself is what learners must internalize.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“is training even the answer?”: the decision every request should face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" y="187452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874520"/>
            <a:ext cx="1874520" cy="868680"/>
          </a:xfrm>
          <a:prstGeom prst="rect">
            <a:avLst/>
          </a:prstGeom>
          <a:solidFill>
            <a:srgbClr val="F3F4F7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87452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root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observe, ask,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2148840" cy="1417320"/>
          </a:xfrm>
          <a:prstGeom prst="diamond">
            <a:avLst/>
          </a:prstGeom>
          <a:solidFill>
            <a:srgbClr val="F1E5E5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60020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1600200"/>
            <a:ext cx="2148840" cy="1417320"/>
          </a:xfrm>
          <a:prstGeom prst="diamond">
            <a:avLst/>
          </a:prstGeom>
          <a:solidFill>
            <a:srgbClr val="F1E5E5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160020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often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287000" y="1874520"/>
            <a:ext cx="1554480" cy="868680"/>
          </a:xfrm>
          <a:prstGeom prst="roundRect">
            <a:avLst>
              <a:gd name="adj" fmla="val 14737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360152" y="18745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practice-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training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66360" y="3657600"/>
            <a:ext cx="1874520" cy="777240"/>
          </a:xfrm>
          <a:prstGeom prst="roundRect">
            <a:avLst>
              <a:gd name="adj" fmla="val 16471"/>
            </a:avLst>
          </a:prstGeom>
          <a:solidFill>
            <a:srgbClr val="E6ECF3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9512" y="36576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process, tools,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incentives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3657600"/>
            <a:ext cx="1874520" cy="777240"/>
          </a:xfrm>
          <a:prstGeom prst="roundRect">
            <a:avLst>
              <a:gd name="adj" fmla="val 16471"/>
            </a:avLst>
          </a:prstGeom>
          <a:solidFill>
            <a:srgbClr val="E6ECF3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36992" y="365760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job aid at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of need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94560" y="2308860"/>
            <a:ext cx="50292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2308860"/>
            <a:ext cx="45720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78040" y="230886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75520" y="2308860"/>
            <a:ext cx="41148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03620" y="3017520"/>
            <a:ext cx="0" cy="64008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01100" y="3017520"/>
            <a:ext cx="0" cy="64008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315200" y="210312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921240" y="210312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20040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320040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4892040"/>
            <a:ext cx="3639312" cy="1051560"/>
          </a:xfrm>
          <a:prstGeom prst="roundRect">
            <a:avLst>
              <a:gd name="adj" fmla="val 6087"/>
            </a:avLst>
          </a:prstGeom>
          <a:solidFill>
            <a:srgbClr val="F3F4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2376" y="50200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" y="52760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high-stakes, and must be fluent — build it, practice it, coach it.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25112" y="4892040"/>
            <a:ext cx="3639312" cy="1051560"/>
          </a:xfrm>
          <a:prstGeom prst="roundRect">
            <a:avLst>
              <a:gd name="adj" fmla="val 6087"/>
            </a:avLst>
          </a:prstGeom>
          <a:solidFill>
            <a:srgbClr val="F3F4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44568" y="50200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AID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52760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or reference-able — a checklist at the moment of need beats a course.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47304" y="4892040"/>
            <a:ext cx="3639312" cy="1051560"/>
          </a:xfrm>
          <a:prstGeom prst="roundRect">
            <a:avLst>
              <a:gd name="adj" fmla="val 6087"/>
            </a:avLst>
          </a:prstGeom>
          <a:solidFill>
            <a:srgbClr val="F3F4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66760" y="50200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SYSTEM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52760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is process, tools, or motivation — no amount of training closes it.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1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action depends on a chain of judgments — walk every branch, because learners will meet every branch.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 training request, from ask to launch, across three roles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234440" cy="1481328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143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0" y="1463040"/>
            <a:ext cx="9857232" cy="1481328"/>
          </a:xfrm>
          <a:prstGeom prst="rect">
            <a:avLst/>
          </a:prstGeom>
          <a:solidFill>
            <a:srgbClr val="F3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3017520"/>
            <a:ext cx="1234440" cy="1481328"/>
          </a:xfrm>
          <a:prstGeom prst="roundRect">
            <a:avLst>
              <a:gd name="adj" fmla="val 4444"/>
            </a:avLst>
          </a:prstGeom>
          <a:solidFill>
            <a:srgbClr val="5B76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1143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Partner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28800" y="3017520"/>
            <a:ext cx="9857232" cy="1481328"/>
          </a:xfrm>
          <a:prstGeom prst="rect">
            <a:avLst/>
          </a:prstGeom>
          <a:solidFill>
            <a:srgbClr val="EAEE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4572000"/>
            <a:ext cx="1234440" cy="1481328"/>
          </a:xfrm>
          <a:prstGeom prst="roundRect">
            <a:avLst>
              <a:gd name="adj" fmla="val 4444"/>
            </a:avLst>
          </a:prstGeom>
          <a:solidFill>
            <a:srgbClr val="9E3B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11430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828800" y="4572000"/>
            <a:ext cx="9857232" cy="1481328"/>
          </a:xfrm>
          <a:prstGeom prst="rect">
            <a:avLst/>
          </a:prstGeom>
          <a:solidFill>
            <a:srgbClr val="F3F4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2203704"/>
            <a:ext cx="45720" cy="155448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57800" y="3758184"/>
            <a:ext cx="4572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6858000" y="2203704"/>
            <a:ext cx="45720" cy="155448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58200" y="2203704"/>
            <a:ext cx="45720" cy="310896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10058400" y="3758184"/>
            <a:ext cx="45720" cy="155448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03120" y="176936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5104" y="1641348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975104" y="16413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176272" y="189738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176272" y="218998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not solution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3320" y="332384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75304" y="3195828"/>
            <a:ext cx="310896" cy="31089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75304" y="3195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776472" y="345186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triage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76472" y="37444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training? job aid? fix?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332384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75504" y="3195828"/>
            <a:ext cx="310896" cy="31089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75504" y="3195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376672" y="345186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analysis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376672" y="37444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real work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176936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75704" y="1641348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75704" y="16413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976872" y="189738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scope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76872" y="218998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503920" y="487832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75904" y="4750308"/>
            <a:ext cx="310896" cy="310896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375904" y="4750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577072" y="500634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pilot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577072" y="529894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5 learners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104120" y="3323844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76104" y="3195828"/>
            <a:ext cx="310896" cy="310896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76104" y="3195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0177272" y="345186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measure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177272" y="37444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check-in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lane crossing is a hand-off — and every hand-off is where requests stall. Make each one explicit.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53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54" name="Text 51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crosses roles or teams — learners must see who owns each step and where the work changes hands.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Loop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Kolb's experiential learning cycle: how adults actually learn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52360" y="2148840"/>
            <a:ext cx="1600200" cy="86868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7452360" y="4069080"/>
            <a:ext cx="2423160" cy="114300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2331720" y="4069080"/>
            <a:ext cx="2423160" cy="114300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154680" y="2148840"/>
            <a:ext cx="1600200" cy="86868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77256" y="3035808"/>
            <a:ext cx="1234440" cy="12344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0" descr="/home/user/Tina/template-bank/assets/sync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210" y="3356762"/>
            <a:ext cx="592531" cy="59253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91456" y="43434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never stops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14173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08576" y="127101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08576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5636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Experience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191109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real task — a call, a draft, a rep.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549640" y="30175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3F4F7"/>
          </a:solidFill>
          <a:ln w="15875">
            <a:solidFill>
              <a:srgbClr val="3A578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03336" y="2871216"/>
            <a:ext cx="365760" cy="365760"/>
          </a:xfrm>
          <a:prstGeom prst="ellipse">
            <a:avLst/>
          </a:prstGeom>
          <a:solidFill>
            <a:srgbClr val="3A578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03336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31638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Observation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51129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What surprised us?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48463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3F4F7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08576" y="4700016"/>
            <a:ext cx="365760" cy="365760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08576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892040" y="49926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Conceptualization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4892040" y="534009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principle behind it.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60120" y="301752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3816" y="2871216"/>
            <a:ext cx="365760" cy="365760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3816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97280" y="31638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Experimentation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351129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again with the new approach.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5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repeats and improves each pass — close the loop visually, or learners will treat it as a one-way checklist.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Roadmap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rolling out the leadership program across four quarters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10185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66928" y="39044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3904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usual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474720"/>
            <a:ext cx="0" cy="320040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3685032"/>
            <a:ext cx="219456" cy="219456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78308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3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1947672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194767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19385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88136" y="2404872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leaders, 2 regions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feedback loop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794760"/>
            <a:ext cx="0" cy="457200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3685032"/>
            <a:ext cx="219456" cy="219456"/>
          </a:xfrm>
          <a:prstGeom prst="ellipse">
            <a:avLst/>
          </a:prstGeom>
          <a:solidFill>
            <a:srgbClr val="3A578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425196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3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520440" y="4416552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3A578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0440" y="4416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4074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One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57016" y="4873752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leaders enrolled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briefed on their part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3474720"/>
            <a:ext cx="0" cy="320040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3685032"/>
            <a:ext cx="219456" cy="219456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178308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3F4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89320" y="1947672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5B76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89320" y="194767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19385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025896" y="2404872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live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 certified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09760" y="3794760"/>
            <a:ext cx="0" cy="457200"/>
          </a:xfrm>
          <a:prstGeom prst="line">
            <a:avLst/>
          </a:prstGeom>
          <a:noFill/>
          <a:ln w="15875">
            <a:solidFill>
              <a:srgbClr val="D3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00032" y="3685032"/>
            <a:ext cx="219456" cy="219456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425196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3F4F7"/>
          </a:solidFill>
          <a:ln/>
        </p:spPr>
      </p:sp>
      <p:sp>
        <p:nvSpPr>
          <p:cNvPr id="34" name="Shape 32"/>
          <p:cNvSpPr/>
          <p:nvPr/>
        </p:nvSpPr>
        <p:spPr>
          <a:xfrm>
            <a:off x="8458200" y="4416552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9E3B3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58200" y="4416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44074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94776" y="4873752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onboarding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community launched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10819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cards above and below the line — the zigzag keeps four phases from becoming a wall.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0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are anchored to real dates and audiences need to locate 'now' — a roadmap earns trust that a bare list cannot.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from hearing about the new CRM to championing 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FLOW &amp; SEQUENCE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V="1">
            <a:off x="548640" y="1463040"/>
            <a:ext cx="6309360" cy="859536"/>
          </a:xfrm>
          <a:prstGeom prst="trapezoid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5760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Aware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flipV="1">
            <a:off x="1074420" y="2395728"/>
            <a:ext cx="5257800" cy="859536"/>
          </a:xfrm>
          <a:prstGeom prst="trapezoid">
            <a:avLst/>
          </a:prstGeom>
          <a:solidFill>
            <a:srgbClr val="3A578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48740" y="2395728"/>
            <a:ext cx="4709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Understand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flipV="1">
            <a:off x="1600200" y="3328416"/>
            <a:ext cx="4206240" cy="859536"/>
          </a:xfrm>
          <a:prstGeom prst="trapezoid">
            <a:avLst/>
          </a:prstGeom>
          <a:solidFill>
            <a:srgbClr val="5B76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74520" y="3328416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V="1">
            <a:off x="2125980" y="4261104"/>
            <a:ext cx="3154680" cy="859536"/>
          </a:xfrm>
          <a:prstGeom prst="trapezoid">
            <a:avLst/>
          </a:prstGeom>
          <a:solidFill>
            <a:srgbClr val="8FA3B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00300" y="4261104"/>
            <a:ext cx="2606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Adopt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V="1">
            <a:off x="2651760" y="5193792"/>
            <a:ext cx="2103120" cy="859536"/>
          </a:xfrm>
          <a:prstGeom prst="trapezoid">
            <a:avLst/>
          </a:prstGeom>
          <a:solidFill>
            <a:srgbClr val="9E3B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26080" y="5193792"/>
            <a:ext cx="1554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Champion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1234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STAND TODAY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153619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153619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change is coming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468880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246888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say what changes for them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401568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40156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used it on real work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334256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433425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their default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5266944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526694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and defend it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10819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between stages is a specific leak — design one intervention per leak, not one big announcement.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0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population narrows stage by stage — the funnel shows where people drop off and where your effort should go.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Levels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nests and builds — what contains what, what rests on what, and what surrounds what. Position on the slide carries the meaning: higher, deeper, further along.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sitemap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Hierarchy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inside what, level by level.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mountain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Pyramid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that build toward a peak.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stai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Staircase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through recognizable stages.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circle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Nested Layers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wrapped in rings of context.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 competency framework: from ambition to observable behavior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STRUCTURE &amp; LEVELS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358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H="1">
            <a:off x="2788920" y="2194560"/>
            <a:ext cx="3305556" cy="6400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2194560"/>
            <a:ext cx="4572" cy="6400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4476" y="2194560"/>
            <a:ext cx="3305556" cy="6400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3547872"/>
            <a:ext cx="0" cy="612648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48" y="3547872"/>
            <a:ext cx="0" cy="612648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0032" y="3547872"/>
            <a:ext cx="0" cy="612648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481328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5B76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37176" y="1563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Excellence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836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means 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00200" y="2834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F38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00200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Needs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proposing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00200" y="41605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3F4F7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01368" y="437083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pitching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whole workflow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real problem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0328" y="2834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F386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0328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Solutions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10328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commit, follow through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10328" y="41605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3F4F7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1496" y="437083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product to need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honest expectations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on time, every 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11312" y="2834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1F386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11312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next conversation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11312" y="41605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3F4F7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0" y="437083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mistakes fast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proactive updates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customer data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94360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row is the training content — behaviors you can observe, practice, and give feedback 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6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nests level by level — and learners must trace any behavior back up to the ambition it serves.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Kirkpatrick's four levels: what training evaluation builds toward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STRUCTURE &amp; LEVELS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20340" y="1554480"/>
            <a:ext cx="2148840" cy="914400"/>
          </a:xfrm>
          <a:prstGeom prst="trapezoid">
            <a:avLst/>
          </a:prstGeom>
          <a:solidFill>
            <a:srgbClr val="9E3B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57500" y="1554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2560320"/>
            <a:ext cx="3566160" cy="914400"/>
          </a:xfrm>
          <a:prstGeom prst="trapezoid">
            <a:avLst/>
          </a:prstGeom>
          <a:solidFill>
            <a:srgbClr val="5B76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4884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Behavior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03020" y="3566160"/>
            <a:ext cx="4983480" cy="914400"/>
          </a:xfrm>
          <a:prstGeom prst="trapezoid">
            <a:avLst/>
          </a:prstGeom>
          <a:solidFill>
            <a:srgbClr val="3A578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40180" y="3566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Learning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6400800" cy="914400"/>
          </a:xfrm>
          <a:prstGeom prst="trapezoid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572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Reaction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12618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ANSWERS FOR IT — AND HOW WE MEASURE 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89520" y="1737360"/>
            <a:ext cx="146304" cy="54864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—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the sponsor already owns — sales, safety, retention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2743200"/>
            <a:ext cx="146304" cy="54864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6384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—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observation, 60–90 days after the session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3749040"/>
            <a:ext cx="146304" cy="548640"/>
          </a:xfrm>
          <a:prstGeom prst="rect">
            <a:avLst/>
          </a:prstGeom>
          <a:solidFill>
            <a:srgbClr val="3A578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FACILITATORS —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checks and scenario assessments at the 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4754880"/>
            <a:ext cx="146304" cy="5486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0" y="4663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— </a:t>
            </a:r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pulse — relevance matters more than fun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94360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top-down, deliver bottom-up: start every project by asking what Level 4 result the sponsor wants.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6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build on each other toward a peak — the pyramid states what is foundation and what is the actual point.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Staircase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five stages of skill, from first day to master coach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STRUCTURE &amp; LEVELS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2139696" cy="10972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4901184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4901184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2180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script; needs rules and close support.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71216" y="3913632"/>
            <a:ext cx="2139696" cy="1938528"/>
          </a:xfrm>
          <a:prstGeom prst="rect">
            <a:avLst/>
          </a:prstGeom>
          <a:solidFill>
            <a:srgbClr val="3A5787"/>
          </a:solidFill>
          <a:ln/>
        </p:spPr>
      </p:sp>
      <p:sp>
        <p:nvSpPr>
          <p:cNvPr id="13" name="Shape 11"/>
          <p:cNvSpPr/>
          <p:nvPr/>
        </p:nvSpPr>
        <p:spPr>
          <a:xfrm>
            <a:off x="3035808" y="4059936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35808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405993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Beginner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54096" y="448056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situations; still leans on guidelines.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02352" y="3072384"/>
            <a:ext cx="2139696" cy="2779776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18" name="Shape 16"/>
          <p:cNvSpPr/>
          <p:nvPr/>
        </p:nvSpPr>
        <p:spPr>
          <a:xfrm>
            <a:off x="5266944" y="3218688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66944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87568" y="32186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3639312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own approach; owns the outcome.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33488" y="2231136"/>
            <a:ext cx="2139696" cy="3621024"/>
          </a:xfrm>
          <a:prstGeom prst="rect">
            <a:avLst/>
          </a:prstGeom>
          <a:solidFill>
            <a:srgbClr val="8FA3BC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2377440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18704" y="23774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279806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context; adapts without thinking twice.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64624" y="1389888"/>
            <a:ext cx="2139696" cy="4462272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28" name="Shape 26"/>
          <p:cNvSpPr/>
          <p:nvPr/>
        </p:nvSpPr>
        <p:spPr>
          <a:xfrm>
            <a:off x="9729216" y="1536192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29216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15361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747504" y="195681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Intuitive; coaches others and improves the system.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5961888"/>
            <a:ext cx="111556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40080" y="60350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 +  DELIBERATE PRACTICE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5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grows through recognizable stages — name each step so learners can locate themselves and see the next climb.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Layers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rings around a learner that decide whether training sticks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STRUCTURE &amp; LEVELS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4297680" cy="4297680"/>
          </a:xfrm>
          <a:prstGeom prst="ellipse">
            <a:avLst/>
          </a:prstGeom>
          <a:solidFill>
            <a:srgbClr val="EAEF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103120"/>
            <a:ext cx="3383280" cy="3383280"/>
          </a:xfrm>
          <a:prstGeom prst="ellipse">
            <a:avLst/>
          </a:prstGeom>
          <a:solidFill>
            <a:srgbClr val="CBD7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560320"/>
            <a:ext cx="2468880" cy="2468880"/>
          </a:xfrm>
          <a:prstGeom prst="ellipse">
            <a:avLst/>
          </a:prstGeom>
          <a:solidFill>
            <a:srgbClr val="9FB2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728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185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26426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3017520"/>
            <a:ext cx="1554480" cy="1554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6888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60020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RING EITHER REINFORCES OR ERODES THE CHANGE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2020824"/>
            <a:ext cx="146304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2585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practice, reflection, asking for feedback.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3044952"/>
            <a:ext cx="146304" cy="6583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2826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expectations, coaches weekly, protects time to practice.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4069080"/>
            <a:ext cx="146304" cy="658368"/>
          </a:xfrm>
          <a:prstGeom prst="rect">
            <a:avLst/>
          </a:prstGeom>
          <a:solidFill>
            <a:srgbClr val="3A578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40142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30682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that make the new behavior safe to try — and normal.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5093208"/>
            <a:ext cx="146304" cy="658368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5038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3309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incentives, and tools that reward the change.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touches only the core — transfer is decided in the rings. Budget effort accordingly.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0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wraps a core in layers — show what surrounds the learner, because the outer rings decide if the inner change lasts.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5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Systems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connects — webs of influence, causes that pile up, systems that feed back. The lines are the lesson: draw only relationships you are willing to explain.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6860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diagram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316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1804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Concept Map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71804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joined by labeled relationships.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9908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shar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364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4852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Hub &amp; Spoke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984852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center, many contributors.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02956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cog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412" y="346557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97900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Input–Process–Output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8797900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system, with its feedback loop.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fish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Fishbone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causes behind one effect.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3" name="Image 4" descr="/home/user/Tina/template-bank/assets/road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Gap Bridge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state to the target state.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what makes feedback actually land, and how the parts interact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RELATIONSHIPS &amp; SYSTEMS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2217420" y="2034540"/>
            <a:ext cx="3886200" cy="176022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103620" y="2034540"/>
            <a:ext cx="3794760" cy="176022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805940" y="3726180"/>
            <a:ext cx="4297680" cy="685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103620" y="3726180"/>
            <a:ext cx="4206240" cy="685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217420" y="3794760"/>
            <a:ext cx="3886200" cy="162306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03620" y="3794760"/>
            <a:ext cx="3794760" cy="162306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828800" y="2377440"/>
            <a:ext cx="1188720" cy="1005840"/>
          </a:xfrm>
          <a:prstGeom prst="line">
            <a:avLst/>
          </a:prstGeom>
          <a:noFill/>
          <a:ln w="15875">
            <a:solidFill>
              <a:srgbClr val="8FA3BC"/>
            </a:solidFill>
            <a:prstDash val="dash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154680" y="2651760"/>
            <a:ext cx="16459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door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286000"/>
            <a:ext cx="16459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 fresh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419856"/>
            <a:ext cx="16459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it into learning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419856"/>
            <a:ext cx="16459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actionable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4325112"/>
            <a:ext cx="16459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modeled by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325112"/>
            <a:ext cx="16459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stick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169164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1691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169164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23960" y="1691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38328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Dialogue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0" y="338328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507492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43000" y="5074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Skill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32520" y="507492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23960" y="5074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33756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9E3B3B"/>
          </a:solidFill>
          <a:ln/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983480" y="3337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Lands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3017520" y="594360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concepts   ·   labeled lines = relationships   ·   dashed = cross-link (safety enables dialogue)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6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need the big picture of how parts influence each other — every line must survive the question “why is this here?”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L&amp;D ecosystem: who feeds the work, and what each spoke brings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RELATIONSHIPS &amp; SYSTEMS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3063240" y="2542032"/>
            <a:ext cx="3031236" cy="1252728"/>
          </a:xfrm>
          <a:prstGeom prst="line">
            <a:avLst/>
          </a:prstGeom>
          <a:noFill/>
          <a:ln w="19050">
            <a:solidFill>
              <a:srgbClr val="C3CB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94476" y="2542032"/>
            <a:ext cx="3031236" cy="1252728"/>
          </a:xfrm>
          <a:prstGeom prst="line">
            <a:avLst/>
          </a:prstGeom>
          <a:noFill/>
          <a:ln w="19050">
            <a:solidFill>
              <a:srgbClr val="C3CB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600200" y="3794760"/>
            <a:ext cx="4494276" cy="0"/>
          </a:xfrm>
          <a:prstGeom prst="line">
            <a:avLst/>
          </a:prstGeom>
          <a:noFill/>
          <a:ln w="19050">
            <a:solidFill>
              <a:srgbClr val="C3CB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3794760"/>
            <a:ext cx="4494276" cy="0"/>
          </a:xfrm>
          <a:prstGeom prst="line">
            <a:avLst/>
          </a:prstGeom>
          <a:noFill/>
          <a:ln w="19050">
            <a:solidFill>
              <a:srgbClr val="C3C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063240" y="3794760"/>
            <a:ext cx="3031236" cy="1435608"/>
          </a:xfrm>
          <a:prstGeom prst="line">
            <a:avLst/>
          </a:prstGeom>
          <a:noFill/>
          <a:ln w="19050">
            <a:solidFill>
              <a:srgbClr val="C3CB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4476" y="3794760"/>
            <a:ext cx="3031236" cy="1435608"/>
          </a:xfrm>
          <a:prstGeom prst="line">
            <a:avLst/>
          </a:prstGeom>
          <a:noFill/>
          <a:ln w="19050">
            <a:solidFill>
              <a:srgbClr val="C3CB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4356" y="2834640"/>
            <a:ext cx="1920240" cy="1920240"/>
          </a:xfrm>
          <a:prstGeom prst="ellipse">
            <a:avLst/>
          </a:prstGeom>
          <a:solidFill>
            <a:srgbClr val="9E3B3B"/>
          </a:solidFill>
          <a:ln/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34356" y="34107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34356" y="4050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79192" y="2157984"/>
            <a:ext cx="768096" cy="76809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7" name="Image 0" descr="/home/user/Tina/template-bank/assets/boo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1216" y="2350008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45920" y="1517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Subject-Matter Experts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1773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expertise worth teaching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741664" y="2157984"/>
            <a:ext cx="768096" cy="768096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21" name="Image 1" descr="/home/user/Tina/template-bank/assets/us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235000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708392" y="1517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708392" y="1773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 &amp; reinforcement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216152" y="3410712"/>
            <a:ext cx="768096" cy="768096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25" name="Image 2" descr="/home/user/Tina/template-bank/assets/handshak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3602736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8288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Partners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18288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agenda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0204704" y="3410712"/>
            <a:ext cx="768096" cy="768096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29" name="Image 3" descr="/home/user/Tina/template-bank/assets/lapto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6728" y="360273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71432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Platforms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171432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rails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2679192" y="4846320"/>
            <a:ext cx="768096" cy="768096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33" name="Image 4" descr="/home/user/Tina/template-bank/assets/rocke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216" y="5038344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645920" y="5687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Coaches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1645920" y="5961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depth on demand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741664" y="4846320"/>
            <a:ext cx="768096" cy="768096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37" name="Image 5" descr="/home/user/Tina/template-bank/assets/chart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88" y="5038344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708392" y="5687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7708392" y="5961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worth solving — and the verdict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1" name="Image 6" descr="/home/user/Tina/template-bank/assets/lightbulb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coordinates many parties — show the whole ecosystem at a glance before detailing any single relationship.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– Process –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course production system, including the loop most teams forget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RELATIONSHIPS &amp; SYSTEMS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91840" cy="2880360"/>
          </a:xfrm>
          <a:prstGeom prst="roundRect">
            <a:avLst>
              <a:gd name="adj" fmla="val 2222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883664"/>
            <a:ext cx="3291840" cy="32918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627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consumes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423160"/>
            <a:ext cx="28163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target metrics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knowledge &amp; calendar time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context &amp; constraints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deadline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05072" y="2697480"/>
            <a:ext cx="384048" cy="457200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53128" y="1554480"/>
            <a:ext cx="3291840" cy="2880360"/>
          </a:xfrm>
          <a:prstGeom prst="roundRect">
            <a:avLst>
              <a:gd name="adj" fmla="val 2222"/>
            </a:avLst>
          </a:prstGeom>
          <a:solidFill>
            <a:srgbClr val="F3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453128" y="155448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5B769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53128" y="1883664"/>
            <a:ext cx="3291840" cy="329184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81728" y="1627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transforms it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423160"/>
            <a:ext cx="28163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gap &amp; design practice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pilot, and fix confusion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with trained facilitators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 the flow of work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2697480"/>
            <a:ext cx="384048" cy="457200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6176" y="1554480"/>
            <a:ext cx="3291840" cy="2880360"/>
          </a:xfrm>
          <a:prstGeom prst="roundRect">
            <a:avLst>
              <a:gd name="adj" fmla="val 2222"/>
            </a:avLst>
          </a:prstGeom>
          <a:solidFill>
            <a:srgbClr val="F3F4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266176" y="155448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9E3B3B"/>
          </a:solidFill>
          <a:ln/>
        </p:spPr>
      </p:sp>
      <p:sp>
        <p:nvSpPr>
          <p:cNvPr id="23" name="Shape 21"/>
          <p:cNvSpPr/>
          <p:nvPr/>
        </p:nvSpPr>
        <p:spPr>
          <a:xfrm>
            <a:off x="8266176" y="1883664"/>
            <a:ext cx="3291840" cy="329184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94776" y="1627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94776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 the other side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2423160"/>
            <a:ext cx="28163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capable on the job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practice sets, job aids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performance data</a:t>
            </a:r>
            <a:endParaRPr lang="en-US" sz="1050" dirty="0"/>
          </a:p>
          <a:p>
            <a:pPr marL="114300" indent="-1143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sponsor who saw the result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12096" y="4434840"/>
            <a:ext cx="0" cy="685800"/>
          </a:xfrm>
          <a:prstGeom prst="line">
            <a:avLst/>
          </a:prstGeom>
          <a:noFill/>
          <a:ln w="19050">
            <a:solidFill>
              <a:srgbClr val="9E3B3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H="1">
            <a:off x="2286000" y="5120640"/>
            <a:ext cx="7626096" cy="0"/>
          </a:xfrm>
          <a:prstGeom prst="line">
            <a:avLst/>
          </a:prstGeom>
          <a:noFill/>
          <a:ln w="19050">
            <a:solidFill>
              <a:srgbClr val="9E3B3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2286000" y="4434840"/>
            <a:ext cx="0" cy="685800"/>
          </a:xfrm>
          <a:prstGeom prst="line">
            <a:avLst/>
          </a:prstGeom>
          <a:noFill/>
          <a:ln w="19050">
            <a:solidFill>
              <a:srgbClr val="9E3B3B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566160" y="52120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 — evaluation data becomes next cycle's input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9788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map shows steps; a system map shows what feeds them — and what the output changes.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3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see the system, not just the steps — what goes in, what transforms it, and how output feeds back.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Fishbone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why did adoption stall? Four families of cause behind one effect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RELATIONSHIPS &amp; SYSTEMS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46920" y="3337560"/>
            <a:ext cx="2148840" cy="1005840"/>
          </a:xfrm>
          <a:prstGeom prst="roundRect">
            <a:avLst>
              <a:gd name="adj" fmla="val 8182"/>
            </a:avLst>
          </a:prstGeom>
          <a:solidFill>
            <a:srgbClr val="9E3B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92640" y="3337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adoption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at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882396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2103120" y="1965960"/>
            <a:ext cx="1188720" cy="187452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572768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1572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148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carved out to learn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not using it themselves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 flipV="1">
            <a:off x="5577840" y="1965960"/>
            <a:ext cx="1188720" cy="187452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572768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A578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1572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148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workflow still allowed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 after go-live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2103120" y="3840480"/>
            <a:ext cx="1188720" cy="187452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5779008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5B76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34440" y="5779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4892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came late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performance on day 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5577840" y="3840480"/>
            <a:ext cx="1188720" cy="1874520"/>
          </a:xfrm>
          <a:prstGeom prst="line">
            <a:avLst/>
          </a:prstGeom>
          <a:noFill/>
          <a:ln w="22225">
            <a:solidFill>
              <a:srgbClr val="8792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5779008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9E3B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09160" y="5779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48920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launch email, then silence</a:t>
            </a:r>
            <a:endParaRPr lang="en-US" sz="1000" dirty="0"/>
          </a:p>
          <a:p>
            <a:pPr marL="114300" indent="-114300"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never made personal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1447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“why?” down each bone until you hit something you can actually change — then the fix list writes itself.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8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disappointing effect has many contributing causes — grouping them stops the room from arguing about a single villain.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Bridge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closing the quoting-capability gap in one selling season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RELATIONSHIPS &amp; SYSTEMS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926080" cy="3383280"/>
          </a:xfrm>
          <a:prstGeom prst="roundRect">
            <a:avLst>
              <a:gd name="adj" fmla="val 2188"/>
            </a:avLst>
          </a:prstGeom>
          <a:solidFill>
            <a:srgbClr val="F1E5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688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take 3 days and 4 tools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 quotes differently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by the customer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97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win on product and lose on paperwork.”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41080" y="1783080"/>
            <a:ext cx="2926080" cy="3383280"/>
          </a:xfrm>
          <a:prstGeom prst="roundRect">
            <a:avLst>
              <a:gd name="adj" fmla="val 2188"/>
            </a:avLst>
          </a:prstGeom>
          <a:solidFill>
            <a:srgbClr val="DEE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46888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out in 2 hours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flow, one tool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before send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4297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quote is the first proof we're easy to work with.”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82880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— 90 DAYS, THREE PLANKS, ALL REQUIRED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94760" y="2194560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31920" y="21945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training + simulation practice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2523744"/>
            <a:ext cx="228600" cy="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523744"/>
            <a:ext cx="228600" cy="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3035808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5B76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31920" y="30358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deal reviews for 6 weeks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66160" y="3364992"/>
            <a:ext cx="228600" cy="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3364992"/>
            <a:ext cx="228600" cy="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877056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9E3B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31920" y="387705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quoting tool with built-in checks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66160" y="4206240"/>
            <a:ext cx="228600" cy="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4206240"/>
            <a:ext cx="228600" cy="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5029200"/>
            <a:ext cx="434340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794760" y="512064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— remove any plank and people fall back to the old way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1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move from a named current state to a named future state — show both ends honestly, and every plank in between.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shapes of logic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sentence of your content out loud — the verb picks the template.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57200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37944"/>
            <a:ext cx="3639312" cy="35661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MOVES”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 · FLOW &amp; SEQUENCE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Process map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6426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with owners and outputs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9992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Flowchart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2461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branches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60273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Swimlane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3849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hand-offs across roles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2062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Cycle loop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44531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that repeats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8097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Timeline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05663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on a real calendar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4132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Funnel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566013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population narrowing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25112" y="1481328"/>
            <a:ext cx="3639312" cy="457200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325112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5B7699"/>
          </a:solidFill>
          <a:ln/>
        </p:spPr>
      </p:sp>
      <p:sp>
        <p:nvSpPr>
          <p:cNvPr id="24" name="Shape 22"/>
          <p:cNvSpPr/>
          <p:nvPr/>
        </p:nvSpPr>
        <p:spPr>
          <a:xfrm>
            <a:off x="4325112" y="1837944"/>
            <a:ext cx="3639312" cy="356616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1144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NESTS”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 · STRUCTURE &amp; LEVELS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Hierarchy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26426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inside what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81144" y="29992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Pyramid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81144" y="32461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toward a peak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360273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Staircase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81144" y="3849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through stages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81144" y="42062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Nested layers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81144" y="44531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around a core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47304" y="1481328"/>
            <a:ext cx="3639312" cy="457200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47304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9E3B3B"/>
          </a:solidFill>
          <a:ln/>
        </p:spPr>
      </p:sp>
      <p:sp>
        <p:nvSpPr>
          <p:cNvPr id="37" name="Shape 35"/>
          <p:cNvSpPr/>
          <p:nvPr/>
        </p:nvSpPr>
        <p:spPr>
          <a:xfrm>
            <a:off x="8147304" y="1837944"/>
            <a:ext cx="3639312" cy="356616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403336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CONNECTS”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403336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 · RELATIONSHIPS &amp; SYSTEMS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40333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Concept map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403336" y="264261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relationships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403336" y="29992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Hub &amp; spoke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403336" y="324612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center, many parties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403336" y="360273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Input–Process–Output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403336" y="3849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403336" y="42062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 Fishbone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403336" y="445312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causes, one effect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403336" y="48097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 Gap bridge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403336" y="505663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 to target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6263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unsure? Draw it rough on a whiteboard first — the shape your hand wants to make is usually the right template.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&amp; Structural Template Bank</dc:title>
  <dc:subject>PptxGenJS Presentation</dc:subject>
  <dc:creator>L&amp;D Template Bank</dc:creator>
  <cp:lastModifiedBy>L&amp;D Template Bank</cp:lastModifiedBy>
  <cp:revision>1</cp:revision>
  <dcterms:created xsi:type="dcterms:W3CDTF">2026-08-30T11:41:30Z</dcterms:created>
  <dcterms:modified xsi:type="dcterms:W3CDTF">2026-08-30T11:41:30Z</dcterms:modified>
</cp:coreProperties>
</file>