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deck explains what the master prompt is made of, how we use it, and why it cannot be reduced to a short prompt. The stack on the right is the only thing the generator shows: six blocks in a locked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Usage first. Three actions for the designer: complete the intake, attach the prompt file with the sources and template, and send the lead-in. The generator does the rest internally and only interrupts for a Critical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we get most often. The answer is no, and the numbers show why: the document is not long because it is wordy; it is long because it fixes decisions that a short prompt leaves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CRAFT is the spine: Context, Role, Action, Format, Target audience and Tone. Around it sit the parts that make it project-agnostic and checkable: the non-negotiables, the configuration block, the glossary, the QA table, the self-check, and the appendices with templates and worked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answers three questions before any writing happens: who the storyboard is for, which source wins when two disagree, and what to do when something is missing. The gap tree is the reason the generator never invents: a gap is classified once and either stops the run, marks the cell, or stays internal.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is about ownership. The generator produces and checks, but every judgement that needs a person is routed to that person through a named marker. That is why the output never contains a vague "TBD".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is the pipeline. Nothing is drafted before the sources are audited and the objectives are verified; every slide then passes through the same eight design moves. This order is what makes the output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is the contract with Development and the client reviewer. The block order never changes, the storyboard table has five fixed columns, and each kind of information has exactly one column. The ownership matrix is what removes the duplication and the missing pieces we used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protects the learner and the reviewer. The rules are testable: a line can be read aloud alone, an outsider can say who does what after one reading, and narration has a fixed placement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"where are the standards?". They are not sprinkled through the rows. Organizational defaults live in Part P, fixed wording lives in the feedback model, and every unknown becomes a named marker for a named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not a final read-through. It is a table of 37 fail conditions with severities, a ten-line self-check, and a hard definition of Developer Ready. The generator must revise rather than deliver a known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 the "magic". None of them is a feature of the model; each one is a rule, a format, or a check in the document. Take the document away and all six go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contrast. A short prompt cannot carry a contract; this document is the contract. The workflow stays simple for the designer: attach, ask,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3D"/>
        </a:solidFill>
      </p:bgPr>
    </p:bg>
    <p:spTree>
      <p:nvGrpSpPr>
        <p:cNvPr id="1" name=""/>
        <p:cNvGrpSpPr/>
        <p:nvPr/>
      </p:nvGrpSpPr>
      <p:grpSpPr>
        <a:xfrm>
          <a:off x="0" y="0"/>
          <a:ext cx="0" cy="0"/>
          <a:chOff x="0" y="0"/>
          <a:chExt cx="0" cy="0"/>
        </a:xfrm>
      </p:grpSpPr>
      <p:sp>
        <p:nvSpPr>
          <p:cNvPr id="2" name="Text 0"/>
          <p:cNvSpPr txBox="1"/>
          <p:nvPr/>
        </p:nvSpPr>
        <p:spPr>
          <a:xfrm>
            <a:off x="731520" y="1325880"/>
            <a:ext cx="7040880" cy="1737360"/>
          </a:xfrm>
          <a:prstGeom prst="rect">
            <a:avLst/>
          </a:prstGeom>
          <a:noFill/>
          <a:ln/>
        </p:spPr>
        <p:txBody>
          <a:bodyPr wrap="square" lIns="0" tIns="0" rIns="0" bIns="0" rtlCol="0" anchor="ctr"/>
          <a:lstStyle/>
          <a:p>
            <a:pPr algn="l" indent="0" marL="0">
              <a:buNone/>
            </a:pPr>
            <a:r>
              <a:rPr lang="en-US" sz="4200" b="1" dirty="0">
                <a:solidFill>
                  <a:srgbClr val="FFFFFF"/>
                </a:solidFill>
                <a:latin typeface="Cambria" pitchFamily="34" charset="0"/>
                <a:ea typeface="Cambria" pitchFamily="34" charset="-122"/>
                <a:cs typeface="Cambria" pitchFamily="34" charset="-120"/>
              </a:rPr>
              <a:t>Storyboard Generator Master Prompt</a:t>
            </a:r>
            <a:endParaRPr lang="en-US" sz="4200" dirty="0"/>
          </a:p>
        </p:txBody>
      </p:sp>
      <p:sp>
        <p:nvSpPr>
          <p:cNvPr id="3" name="Text 1"/>
          <p:cNvSpPr txBox="1"/>
          <p:nvPr/>
        </p:nvSpPr>
        <p:spPr>
          <a:xfrm>
            <a:off x="731520" y="3154680"/>
            <a:ext cx="6766560" cy="1097280"/>
          </a:xfrm>
          <a:prstGeom prst="rect">
            <a:avLst/>
          </a:prstGeom>
          <a:noFill/>
          <a:ln/>
        </p:spPr>
        <p:txBody>
          <a:bodyPr wrap="square" lIns="0" tIns="0" rIns="0" bIns="0" rtlCol="0" anchor="t"/>
          <a:lstStyle/>
          <a:p>
            <a:pPr algn="l" indent="0" marL="0">
              <a:buNone/>
            </a:pPr>
            <a:r>
              <a:rPr lang="en-US" sz="2000" dirty="0">
                <a:solidFill>
                  <a:srgbClr val="CDE7E3"/>
                </a:solidFill>
                <a:latin typeface="Calibri" pitchFamily="34" charset="0"/>
                <a:ea typeface="Calibri" pitchFamily="34" charset="-122"/>
                <a:cs typeface="Calibri" pitchFamily="34" charset="-120"/>
              </a:rPr>
              <a:t>What it is, how to use it, and why a 200-word prompt cannot replace it</a:t>
            </a:r>
            <a:endParaRPr lang="en-US" sz="2000" dirty="0"/>
          </a:p>
        </p:txBody>
      </p:sp>
      <p:sp>
        <p:nvSpPr>
          <p:cNvPr id="4" name="Text 2"/>
          <p:cNvSpPr txBox="1"/>
          <p:nvPr/>
        </p:nvSpPr>
        <p:spPr>
          <a:xfrm>
            <a:off x="731520" y="5897880"/>
            <a:ext cx="6400800" cy="365760"/>
          </a:xfrm>
          <a:prstGeom prst="rect">
            <a:avLst/>
          </a:prstGeom>
          <a:noFill/>
          <a:ln/>
        </p:spPr>
        <p:txBody>
          <a:bodyPr wrap="square" lIns="0" tIns="0" rIns="0" bIns="0" rtlCol="0" anchor="t"/>
          <a:lstStyle/>
          <a:p>
            <a:pPr algn="l" indent="0" marL="0">
              <a:buNone/>
            </a:pPr>
            <a:r>
              <a:rPr lang="en-US" sz="1300" dirty="0">
                <a:solidFill>
                  <a:srgbClr val="8FB5B0"/>
                </a:solidFill>
                <a:latin typeface="Calibri" pitchFamily="34" charset="0"/>
                <a:ea typeface="Calibri" pitchFamily="34" charset="-122"/>
                <a:cs typeface="Calibri" pitchFamily="34" charset="-120"/>
              </a:rPr>
              <a:t>CRAFT Edition  ·  v3.4  ·  Learning Design</a:t>
            </a:r>
            <a:endParaRPr lang="en-US" sz="1300" dirty="0"/>
          </a:p>
        </p:txBody>
      </p:sp>
      <p:sp>
        <p:nvSpPr>
          <p:cNvPr id="5" name="Text 3"/>
          <p:cNvSpPr txBox="1"/>
          <p:nvPr/>
        </p:nvSpPr>
        <p:spPr>
          <a:xfrm>
            <a:off x="8412480" y="914400"/>
            <a:ext cx="3291840" cy="365760"/>
          </a:xfrm>
          <a:prstGeom prst="rect">
            <a:avLst/>
          </a:prstGeom>
          <a:noFill/>
          <a:ln/>
        </p:spPr>
        <p:txBody>
          <a:bodyPr wrap="square" lIns="0" tIns="0" rIns="0" bIns="0" rtlCol="0" anchor="t"/>
          <a:lstStyle/>
          <a:p>
            <a:pPr algn="l" indent="0" marL="0">
              <a:buNone/>
            </a:pPr>
            <a:r>
              <a:rPr lang="en-US" sz="1200" i="1" dirty="0">
                <a:solidFill>
                  <a:srgbClr val="CDE7E3"/>
                </a:solidFill>
                <a:latin typeface="Calibri" pitchFamily="34" charset="0"/>
                <a:ea typeface="Calibri" pitchFamily="34" charset="-122"/>
                <a:cs typeface="Calibri" pitchFamily="34" charset="-120"/>
              </a:rPr>
              <a:t>The visible output, always in this order</a:t>
            </a:r>
            <a:endParaRPr lang="en-US" sz="1200" dirty="0"/>
          </a:p>
        </p:txBody>
      </p:sp>
      <p:sp>
        <p:nvSpPr>
          <p:cNvPr id="6" name="Shape 4"/>
          <p:cNvSpPr/>
          <p:nvPr/>
        </p:nvSpPr>
        <p:spPr>
          <a:xfrm>
            <a:off x="8412480" y="1371600"/>
            <a:ext cx="3291840" cy="585216"/>
          </a:xfrm>
          <a:prstGeom prst="roundRect">
            <a:avLst>
              <a:gd name="adj" fmla="val 12500"/>
            </a:avLst>
          </a:prstGeom>
          <a:solidFill>
            <a:srgbClr val="CDE7E3"/>
          </a:solidFill>
          <a:ln w="12700">
            <a:solidFill>
              <a:srgbClr val="CDE7E3"/>
            </a:solidFill>
            <a:prstDash val="solid"/>
          </a:ln>
        </p:spPr>
      </p:sp>
      <p:sp>
        <p:nvSpPr>
          <p:cNvPr id="7" name="Text 5"/>
          <p:cNvSpPr txBox="1"/>
          <p:nvPr/>
        </p:nvSpPr>
        <p:spPr>
          <a:xfrm>
            <a:off x="8595360" y="1371600"/>
            <a:ext cx="2926080" cy="585216"/>
          </a:xfrm>
          <a:prstGeom prst="rect">
            <a:avLst/>
          </a:prstGeom>
          <a:noFill/>
          <a:ln/>
        </p:spPr>
        <p:txBody>
          <a:bodyPr wrap="square" lIns="0" tIns="0" rIns="0" bIns="0" rtlCol="0" anchor="ctr"/>
          <a:lstStyle/>
          <a:p>
            <a:pPr algn="l" indent="0" marL="0">
              <a:buNone/>
            </a:pPr>
            <a:r>
              <a:rPr lang="en-US" sz="1300" dirty="0">
                <a:solidFill>
                  <a:srgbClr val="12303D"/>
                </a:solidFill>
                <a:latin typeface="Calibri" pitchFamily="34" charset="0"/>
                <a:ea typeface="Calibri" pitchFamily="34" charset="-122"/>
                <a:cs typeface="Calibri" pitchFamily="34" charset="-120"/>
              </a:rPr>
              <a:t>Project or Module Title</a:t>
            </a:r>
            <a:endParaRPr lang="en-US" sz="1300" dirty="0"/>
          </a:p>
        </p:txBody>
      </p:sp>
      <p:sp>
        <p:nvSpPr>
          <p:cNvPr id="8" name="Shape 6"/>
          <p:cNvSpPr/>
          <p:nvPr/>
        </p:nvSpPr>
        <p:spPr>
          <a:xfrm>
            <a:off x="8412480" y="2103120"/>
            <a:ext cx="3291840" cy="585216"/>
          </a:xfrm>
          <a:prstGeom prst="roundRect">
            <a:avLst>
              <a:gd name="adj" fmla="val 12500"/>
            </a:avLst>
          </a:prstGeom>
          <a:solidFill>
            <a:srgbClr val="CDE7E3"/>
          </a:solidFill>
          <a:ln w="12700">
            <a:solidFill>
              <a:srgbClr val="CDE7E3"/>
            </a:solidFill>
            <a:prstDash val="solid"/>
          </a:ln>
        </p:spPr>
      </p:sp>
      <p:sp>
        <p:nvSpPr>
          <p:cNvPr id="9" name="Text 7"/>
          <p:cNvSpPr txBox="1"/>
          <p:nvPr/>
        </p:nvSpPr>
        <p:spPr>
          <a:xfrm>
            <a:off x="8595360" y="2103120"/>
            <a:ext cx="2926080" cy="585216"/>
          </a:xfrm>
          <a:prstGeom prst="rect">
            <a:avLst/>
          </a:prstGeom>
          <a:noFill/>
          <a:ln/>
        </p:spPr>
        <p:txBody>
          <a:bodyPr wrap="square" lIns="0" tIns="0" rIns="0" bIns="0" rtlCol="0" anchor="ctr"/>
          <a:lstStyle/>
          <a:p>
            <a:pPr algn="l" indent="0" marL="0">
              <a:buNone/>
            </a:pPr>
            <a:r>
              <a:rPr lang="en-US" sz="1300" dirty="0">
                <a:solidFill>
                  <a:srgbClr val="12303D"/>
                </a:solidFill>
                <a:latin typeface="Calibri" pitchFamily="34" charset="0"/>
                <a:ea typeface="Calibri" pitchFamily="34" charset="-122"/>
                <a:cs typeface="Calibri" pitchFamily="34" charset="-120"/>
              </a:rPr>
              <a:t>Document Control</a:t>
            </a:r>
            <a:endParaRPr lang="en-US" sz="1300" dirty="0"/>
          </a:p>
        </p:txBody>
      </p:sp>
      <p:sp>
        <p:nvSpPr>
          <p:cNvPr id="10" name="Shape 8"/>
          <p:cNvSpPr/>
          <p:nvPr/>
        </p:nvSpPr>
        <p:spPr>
          <a:xfrm>
            <a:off x="8412480" y="2834640"/>
            <a:ext cx="3291840" cy="585216"/>
          </a:xfrm>
          <a:prstGeom prst="roundRect">
            <a:avLst>
              <a:gd name="adj" fmla="val 12500"/>
            </a:avLst>
          </a:prstGeom>
          <a:solidFill>
            <a:srgbClr val="CDE7E3"/>
          </a:solidFill>
          <a:ln w="12700">
            <a:solidFill>
              <a:srgbClr val="CDE7E3"/>
            </a:solidFill>
            <a:prstDash val="solid"/>
          </a:ln>
        </p:spPr>
      </p:sp>
      <p:sp>
        <p:nvSpPr>
          <p:cNvPr id="11" name="Text 9"/>
          <p:cNvSpPr txBox="1"/>
          <p:nvPr/>
        </p:nvSpPr>
        <p:spPr>
          <a:xfrm>
            <a:off x="8595360" y="2834640"/>
            <a:ext cx="2926080" cy="585216"/>
          </a:xfrm>
          <a:prstGeom prst="rect">
            <a:avLst/>
          </a:prstGeom>
          <a:noFill/>
          <a:ln/>
        </p:spPr>
        <p:txBody>
          <a:bodyPr wrap="square" lIns="0" tIns="0" rIns="0" bIns="0" rtlCol="0" anchor="ctr"/>
          <a:lstStyle/>
          <a:p>
            <a:pPr algn="l" indent="0" marL="0">
              <a:buNone/>
            </a:pPr>
            <a:r>
              <a:rPr lang="en-US" sz="1300" dirty="0">
                <a:solidFill>
                  <a:srgbClr val="12303D"/>
                </a:solidFill>
                <a:latin typeface="Calibri" pitchFamily="34" charset="0"/>
                <a:ea typeface="Calibri" pitchFamily="34" charset="-122"/>
                <a:cs typeface="Calibri" pitchFamily="34" charset="-120"/>
              </a:rPr>
              <a:t>1. Style</a:t>
            </a:r>
            <a:endParaRPr lang="en-US" sz="1300" dirty="0"/>
          </a:p>
        </p:txBody>
      </p:sp>
      <p:sp>
        <p:nvSpPr>
          <p:cNvPr id="12" name="Shape 10"/>
          <p:cNvSpPr/>
          <p:nvPr/>
        </p:nvSpPr>
        <p:spPr>
          <a:xfrm>
            <a:off x="8412480" y="3566160"/>
            <a:ext cx="3291840" cy="585216"/>
          </a:xfrm>
          <a:prstGeom prst="roundRect">
            <a:avLst>
              <a:gd name="adj" fmla="val 12500"/>
            </a:avLst>
          </a:prstGeom>
          <a:solidFill>
            <a:srgbClr val="CDE7E3"/>
          </a:solidFill>
          <a:ln w="12700">
            <a:solidFill>
              <a:srgbClr val="CDE7E3"/>
            </a:solidFill>
            <a:prstDash val="solid"/>
          </a:ln>
        </p:spPr>
      </p:sp>
      <p:sp>
        <p:nvSpPr>
          <p:cNvPr id="13" name="Text 11"/>
          <p:cNvSpPr txBox="1"/>
          <p:nvPr/>
        </p:nvSpPr>
        <p:spPr>
          <a:xfrm>
            <a:off x="8595360" y="3566160"/>
            <a:ext cx="2926080" cy="585216"/>
          </a:xfrm>
          <a:prstGeom prst="rect">
            <a:avLst/>
          </a:prstGeom>
          <a:noFill/>
          <a:ln/>
        </p:spPr>
        <p:txBody>
          <a:bodyPr wrap="square" lIns="0" tIns="0" rIns="0" bIns="0" rtlCol="0" anchor="ctr"/>
          <a:lstStyle/>
          <a:p>
            <a:pPr algn="l" indent="0" marL="0">
              <a:buNone/>
            </a:pPr>
            <a:r>
              <a:rPr lang="en-US" sz="1300" dirty="0">
                <a:solidFill>
                  <a:srgbClr val="12303D"/>
                </a:solidFill>
                <a:latin typeface="Calibri" pitchFamily="34" charset="0"/>
                <a:ea typeface="Calibri" pitchFamily="34" charset="-122"/>
                <a:cs typeface="Calibri" pitchFamily="34" charset="-120"/>
              </a:rPr>
              <a:t>2. Developer Notes – All Slides</a:t>
            </a:r>
            <a:endParaRPr lang="en-US" sz="1300" dirty="0"/>
          </a:p>
        </p:txBody>
      </p:sp>
      <p:sp>
        <p:nvSpPr>
          <p:cNvPr id="14" name="Shape 12"/>
          <p:cNvSpPr/>
          <p:nvPr/>
        </p:nvSpPr>
        <p:spPr>
          <a:xfrm>
            <a:off x="8412480" y="4297680"/>
            <a:ext cx="3291840" cy="585216"/>
          </a:xfrm>
          <a:prstGeom prst="roundRect">
            <a:avLst>
              <a:gd name="adj" fmla="val 12500"/>
            </a:avLst>
          </a:prstGeom>
          <a:solidFill>
            <a:srgbClr val="CDE7E3"/>
          </a:solidFill>
          <a:ln w="12700">
            <a:solidFill>
              <a:srgbClr val="CDE7E3"/>
            </a:solidFill>
            <a:prstDash val="solid"/>
          </a:ln>
        </p:spPr>
      </p:sp>
      <p:sp>
        <p:nvSpPr>
          <p:cNvPr id="15" name="Text 13"/>
          <p:cNvSpPr txBox="1"/>
          <p:nvPr/>
        </p:nvSpPr>
        <p:spPr>
          <a:xfrm>
            <a:off x="8595360" y="4297680"/>
            <a:ext cx="2926080" cy="585216"/>
          </a:xfrm>
          <a:prstGeom prst="rect">
            <a:avLst/>
          </a:prstGeom>
          <a:noFill/>
          <a:ln/>
        </p:spPr>
        <p:txBody>
          <a:bodyPr wrap="square" lIns="0" tIns="0" rIns="0" bIns="0" rtlCol="0" anchor="ctr"/>
          <a:lstStyle/>
          <a:p>
            <a:pPr algn="l" indent="0" marL="0">
              <a:buNone/>
            </a:pPr>
            <a:r>
              <a:rPr lang="en-US" sz="1300" dirty="0">
                <a:solidFill>
                  <a:srgbClr val="12303D"/>
                </a:solidFill>
                <a:latin typeface="Calibri" pitchFamily="34" charset="0"/>
                <a:ea typeface="Calibri" pitchFamily="34" charset="-122"/>
                <a:cs typeface="Calibri" pitchFamily="34" charset="-120"/>
              </a:rPr>
              <a:t>3. Learning Objectives</a:t>
            </a:r>
            <a:endParaRPr lang="en-US" sz="1300" dirty="0"/>
          </a:p>
        </p:txBody>
      </p:sp>
      <p:sp>
        <p:nvSpPr>
          <p:cNvPr id="16" name="Shape 14"/>
          <p:cNvSpPr/>
          <p:nvPr/>
        </p:nvSpPr>
        <p:spPr>
          <a:xfrm>
            <a:off x="8412480" y="5029200"/>
            <a:ext cx="3291840" cy="585216"/>
          </a:xfrm>
          <a:prstGeom prst="roundRect">
            <a:avLst>
              <a:gd name="adj" fmla="val 12500"/>
            </a:avLst>
          </a:prstGeom>
          <a:solidFill>
            <a:srgbClr val="F0A202"/>
          </a:solidFill>
          <a:ln w="12700">
            <a:solidFill>
              <a:srgbClr val="F0A202"/>
            </a:solidFill>
            <a:prstDash val="solid"/>
          </a:ln>
        </p:spPr>
      </p:sp>
      <p:sp>
        <p:nvSpPr>
          <p:cNvPr id="17" name="Text 15"/>
          <p:cNvSpPr txBox="1"/>
          <p:nvPr/>
        </p:nvSpPr>
        <p:spPr>
          <a:xfrm>
            <a:off x="8595360" y="5029200"/>
            <a:ext cx="2926080" cy="585216"/>
          </a:xfrm>
          <a:prstGeom prst="rect">
            <a:avLst/>
          </a:prstGeom>
          <a:noFill/>
          <a:ln/>
        </p:spPr>
        <p:txBody>
          <a:bodyPr wrap="square" lIns="0" tIns="0" rIns="0" bIns="0" rtlCol="0" anchor="ctr"/>
          <a:lstStyle/>
          <a:p>
            <a:pPr algn="l" indent="0" marL="0">
              <a:buNone/>
            </a:pPr>
            <a:r>
              <a:rPr lang="en-US" sz="1300" b="1" dirty="0">
                <a:solidFill>
                  <a:srgbClr val="12303D"/>
                </a:solidFill>
                <a:latin typeface="Calibri" pitchFamily="34" charset="0"/>
                <a:ea typeface="Calibri" pitchFamily="34" charset="-122"/>
                <a:cs typeface="Calibri" pitchFamily="34" charset="-120"/>
              </a:rPr>
              <a:t>4. Storyboard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How to use it: attach the file, do not paste it</a:t>
            </a:r>
            <a:endParaRPr lang="en-US" sz="2800" dirty="0"/>
          </a:p>
        </p:txBody>
      </p:sp>
      <p:sp>
        <p:nvSpPr>
          <p:cNvPr id="3" name="Shape 1"/>
          <p:cNvSpPr/>
          <p:nvPr/>
        </p:nvSpPr>
        <p:spPr>
          <a:xfrm>
            <a:off x="548640" y="1417320"/>
            <a:ext cx="3429000" cy="3108960"/>
          </a:xfrm>
          <a:prstGeom prst="roundRect">
            <a:avLst>
              <a:gd name="adj" fmla="val 3529"/>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4" name="Shape 2"/>
          <p:cNvSpPr/>
          <p:nvPr/>
        </p:nvSpPr>
        <p:spPr>
          <a:xfrm>
            <a:off x="777240" y="1645920"/>
            <a:ext cx="548640" cy="548640"/>
          </a:xfrm>
          <a:prstGeom prst="ellipse">
            <a:avLst/>
          </a:prstGeom>
          <a:solidFill>
            <a:srgbClr val="F0A202"/>
          </a:solidFill>
          <a:ln w="12700">
            <a:solidFill>
              <a:srgbClr val="F0A202"/>
            </a:solidFill>
            <a:prstDash val="solid"/>
          </a:ln>
        </p:spPr>
      </p:sp>
      <p:sp>
        <p:nvSpPr>
          <p:cNvPr id="5" name="Text 3"/>
          <p:cNvSpPr txBox="1"/>
          <p:nvPr/>
        </p:nvSpPr>
        <p:spPr>
          <a:xfrm>
            <a:off x="777240" y="1645920"/>
            <a:ext cx="548640" cy="548640"/>
          </a:xfrm>
          <a:prstGeom prst="rect">
            <a:avLst/>
          </a:prstGeom>
          <a:noFill/>
          <a:ln/>
        </p:spPr>
        <p:txBody>
          <a:bodyPr wrap="square" lIns="0" tIns="0" rIns="0" bIns="0" rtlCol="0" anchor="ctr"/>
          <a:lstStyle/>
          <a:p>
            <a:pPr algn="ctr" indent="0" marL="0">
              <a:buNone/>
            </a:pPr>
            <a:r>
              <a:rPr lang="en-US" sz="2000" b="1" dirty="0">
                <a:solidFill>
                  <a:srgbClr val="12303D"/>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2971800" y="1645920"/>
            <a:ext cx="777240" cy="777240"/>
          </a:xfrm>
          <a:prstGeom prst="ellipse">
            <a:avLst/>
          </a:prstGeom>
          <a:solidFill>
            <a:srgbClr val="1F7A8C"/>
          </a:solidFill>
          <a:ln w="12700">
            <a:solidFill>
              <a:srgbClr val="1F7A8C"/>
            </a:solidFill>
            <a:prstDash val="solid"/>
          </a:ln>
        </p:spPr>
      </p:sp>
      <p:pic>
        <p:nvPicPr>
          <p:cNvPr id="7" name="Image 0" descr="preencoded.png">    </p:cNvPr>
          <p:cNvPicPr>
            <a:picLocks noChangeAspect="1"/>
          </p:cNvPicPr>
          <p:nvPr/>
        </p:nvPicPr>
        <p:blipFill>
          <a:blip r:embed="rId1"/>
          <a:stretch>
            <a:fillRect/>
          </a:stretch>
        </p:blipFill>
        <p:spPr>
          <a:xfrm>
            <a:off x="3158338" y="1832458"/>
            <a:ext cx="404165" cy="404165"/>
          </a:xfrm>
          <a:prstGeom prst="rect">
            <a:avLst/>
          </a:prstGeom>
        </p:spPr>
      </p:pic>
      <p:sp>
        <p:nvSpPr>
          <p:cNvPr id="8" name="Text 5"/>
          <p:cNvSpPr txBox="1"/>
          <p:nvPr/>
        </p:nvSpPr>
        <p:spPr>
          <a:xfrm>
            <a:off x="777240" y="2560320"/>
            <a:ext cx="2971800" cy="457200"/>
          </a:xfrm>
          <a:prstGeom prst="rect">
            <a:avLst/>
          </a:prstGeom>
          <a:noFill/>
          <a:ln/>
        </p:spPr>
        <p:txBody>
          <a:bodyPr wrap="square" lIns="0" tIns="0" rIns="0" bIns="0" rtlCol="0" anchor="t"/>
          <a:lstStyle/>
          <a:p>
            <a:pPr algn="l" indent="0" marL="0">
              <a:buNone/>
            </a:pPr>
            <a:r>
              <a:rPr lang="en-US" sz="1700" b="1" dirty="0">
                <a:solidFill>
                  <a:srgbClr val="12303D"/>
                </a:solidFill>
                <a:latin typeface="Calibri" pitchFamily="34" charset="0"/>
                <a:ea typeface="Calibri" pitchFamily="34" charset="-122"/>
                <a:cs typeface="Calibri" pitchFamily="34" charset="-120"/>
              </a:rPr>
              <a:t>Complete the intake</a:t>
            </a:r>
            <a:endParaRPr lang="en-US" sz="1700" dirty="0"/>
          </a:p>
        </p:txBody>
      </p:sp>
      <p:sp>
        <p:nvSpPr>
          <p:cNvPr id="9" name="Text 6"/>
          <p:cNvSpPr txBox="1"/>
          <p:nvPr/>
        </p:nvSpPr>
        <p:spPr>
          <a:xfrm>
            <a:off x="777240" y="3063240"/>
            <a:ext cx="2971800" cy="1371600"/>
          </a:xfrm>
          <a:prstGeom prst="rect">
            <a:avLst/>
          </a:prstGeom>
          <a:noFill/>
          <a:ln/>
        </p:spPr>
        <p:txBody>
          <a:bodyPr wrap="square" lIns="0" tIns="0" rIns="0" bIns="0" rtlCol="0" anchor="t"/>
          <a:lstStyle/>
          <a:p>
            <a:pPr algn="l" indent="0" marL="0">
              <a:buNone/>
            </a:pPr>
            <a:r>
              <a:rPr lang="en-US" sz="1250" dirty="0">
                <a:solidFill>
                  <a:srgbClr val="1E2A30"/>
                </a:solidFill>
                <a:latin typeface="Calibri" pitchFamily="34" charset="0"/>
                <a:ea typeface="Calibri" pitchFamily="34" charset="-122"/>
                <a:cs typeface="Calibri" pitchFamily="34" charset="-120"/>
              </a:rPr>
              <a:t>Fill the intake and the Part P configuration: authoring tool, client, learners, assessment architecture, first screen, language, standards, template.</a:t>
            </a:r>
            <a:endParaRPr lang="en-US" sz="1250" dirty="0"/>
          </a:p>
        </p:txBody>
      </p:sp>
      <p:sp>
        <p:nvSpPr>
          <p:cNvPr id="10" name="Shape 7"/>
          <p:cNvSpPr/>
          <p:nvPr/>
        </p:nvSpPr>
        <p:spPr>
          <a:xfrm>
            <a:off x="4381348" y="1417320"/>
            <a:ext cx="3429000" cy="3108960"/>
          </a:xfrm>
          <a:prstGeom prst="roundRect">
            <a:avLst>
              <a:gd name="adj" fmla="val 3529"/>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1" name="Shape 8"/>
          <p:cNvSpPr/>
          <p:nvPr/>
        </p:nvSpPr>
        <p:spPr>
          <a:xfrm>
            <a:off x="4609948" y="1645920"/>
            <a:ext cx="548640" cy="548640"/>
          </a:xfrm>
          <a:prstGeom prst="ellipse">
            <a:avLst/>
          </a:prstGeom>
          <a:solidFill>
            <a:srgbClr val="F0A202"/>
          </a:solidFill>
          <a:ln w="12700">
            <a:solidFill>
              <a:srgbClr val="F0A202"/>
            </a:solidFill>
            <a:prstDash val="solid"/>
          </a:ln>
        </p:spPr>
      </p:sp>
      <p:sp>
        <p:nvSpPr>
          <p:cNvPr id="12" name="Text 9"/>
          <p:cNvSpPr txBox="1"/>
          <p:nvPr/>
        </p:nvSpPr>
        <p:spPr>
          <a:xfrm>
            <a:off x="4609948" y="1645920"/>
            <a:ext cx="548640" cy="548640"/>
          </a:xfrm>
          <a:prstGeom prst="rect">
            <a:avLst/>
          </a:prstGeom>
          <a:noFill/>
          <a:ln/>
        </p:spPr>
        <p:txBody>
          <a:bodyPr wrap="square" lIns="0" tIns="0" rIns="0" bIns="0" rtlCol="0" anchor="ctr"/>
          <a:lstStyle/>
          <a:p>
            <a:pPr algn="ctr" indent="0" marL="0">
              <a:buNone/>
            </a:pPr>
            <a:r>
              <a:rPr lang="en-US" sz="2000" b="1" dirty="0">
                <a:solidFill>
                  <a:srgbClr val="12303D"/>
                </a:solidFill>
                <a:latin typeface="Calibri" pitchFamily="34" charset="0"/>
                <a:ea typeface="Calibri" pitchFamily="34" charset="-122"/>
                <a:cs typeface="Calibri" pitchFamily="34" charset="-120"/>
              </a:rPr>
              <a:t>2</a:t>
            </a:r>
            <a:endParaRPr lang="en-US" sz="2000" dirty="0"/>
          </a:p>
        </p:txBody>
      </p:sp>
      <p:sp>
        <p:nvSpPr>
          <p:cNvPr id="13" name="Shape 10"/>
          <p:cNvSpPr/>
          <p:nvPr/>
        </p:nvSpPr>
        <p:spPr>
          <a:xfrm>
            <a:off x="6804508" y="1645920"/>
            <a:ext cx="777240" cy="777240"/>
          </a:xfrm>
          <a:prstGeom prst="ellipse">
            <a:avLst/>
          </a:prstGeom>
          <a:solidFill>
            <a:srgbClr val="1F7A8C"/>
          </a:solidFill>
          <a:ln w="12700">
            <a:solidFill>
              <a:srgbClr val="1F7A8C"/>
            </a:solidFill>
            <a:prstDash val="solid"/>
          </a:ln>
        </p:spPr>
      </p:sp>
      <p:pic>
        <p:nvPicPr>
          <p:cNvPr id="14" name="Image 1" descr="preencoded.png">    </p:cNvPr>
          <p:cNvPicPr>
            <a:picLocks noChangeAspect="1"/>
          </p:cNvPicPr>
          <p:nvPr/>
        </p:nvPicPr>
        <p:blipFill>
          <a:blip r:embed="rId2"/>
          <a:stretch>
            <a:fillRect/>
          </a:stretch>
        </p:blipFill>
        <p:spPr>
          <a:xfrm>
            <a:off x="6991045" y="1832458"/>
            <a:ext cx="404165" cy="404165"/>
          </a:xfrm>
          <a:prstGeom prst="rect">
            <a:avLst/>
          </a:prstGeom>
        </p:spPr>
      </p:pic>
      <p:sp>
        <p:nvSpPr>
          <p:cNvPr id="15" name="Text 11"/>
          <p:cNvSpPr txBox="1"/>
          <p:nvPr/>
        </p:nvSpPr>
        <p:spPr>
          <a:xfrm>
            <a:off x="4609948" y="2560320"/>
            <a:ext cx="2971800" cy="457200"/>
          </a:xfrm>
          <a:prstGeom prst="rect">
            <a:avLst/>
          </a:prstGeom>
          <a:noFill/>
          <a:ln/>
        </p:spPr>
        <p:txBody>
          <a:bodyPr wrap="square" lIns="0" tIns="0" rIns="0" bIns="0" rtlCol="0" anchor="t"/>
          <a:lstStyle/>
          <a:p>
            <a:pPr algn="l" indent="0" marL="0">
              <a:buNone/>
            </a:pPr>
            <a:r>
              <a:rPr lang="en-US" sz="1700" b="1" dirty="0">
                <a:solidFill>
                  <a:srgbClr val="12303D"/>
                </a:solidFill>
                <a:latin typeface="Calibri" pitchFamily="34" charset="0"/>
                <a:ea typeface="Calibri" pitchFamily="34" charset="-122"/>
                <a:cs typeface="Calibri" pitchFamily="34" charset="-120"/>
              </a:rPr>
              <a:t>Attach the prompt file</a:t>
            </a:r>
            <a:endParaRPr lang="en-US" sz="1700" dirty="0"/>
          </a:p>
        </p:txBody>
      </p:sp>
      <p:sp>
        <p:nvSpPr>
          <p:cNvPr id="16" name="Text 12"/>
          <p:cNvSpPr txBox="1"/>
          <p:nvPr/>
        </p:nvSpPr>
        <p:spPr>
          <a:xfrm>
            <a:off x="4609948" y="3063240"/>
            <a:ext cx="2971800" cy="1371600"/>
          </a:xfrm>
          <a:prstGeom prst="rect">
            <a:avLst/>
          </a:prstGeom>
          <a:noFill/>
          <a:ln/>
        </p:spPr>
        <p:txBody>
          <a:bodyPr wrap="square" lIns="0" tIns="0" rIns="0" bIns="0" rtlCol="0" anchor="t"/>
          <a:lstStyle/>
          <a:p>
            <a:pPr algn="l" indent="0" marL="0">
              <a:buNone/>
            </a:pPr>
            <a:r>
              <a:rPr lang="en-US" sz="1250" dirty="0">
                <a:solidFill>
                  <a:srgbClr val="1E2A30"/>
                </a:solidFill>
                <a:latin typeface="Calibri" pitchFamily="34" charset="0"/>
                <a:ea typeface="Calibri" pitchFamily="34" charset="-122"/>
                <a:cs typeface="Calibri" pitchFamily="34" charset="-120"/>
              </a:rPr>
              <a:t>Upload the approved prompt document together with the source materials and the storyboard template. Never cut and paste 18,900 words into the chat: the file is the instruction.</a:t>
            </a:r>
            <a:endParaRPr lang="en-US" sz="1250" dirty="0"/>
          </a:p>
        </p:txBody>
      </p:sp>
      <p:sp>
        <p:nvSpPr>
          <p:cNvPr id="17" name="Shape 13"/>
          <p:cNvSpPr/>
          <p:nvPr/>
        </p:nvSpPr>
        <p:spPr>
          <a:xfrm>
            <a:off x="8214055" y="1417320"/>
            <a:ext cx="3429000" cy="3108960"/>
          </a:xfrm>
          <a:prstGeom prst="roundRect">
            <a:avLst>
              <a:gd name="adj" fmla="val 3529"/>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8" name="Shape 14"/>
          <p:cNvSpPr/>
          <p:nvPr/>
        </p:nvSpPr>
        <p:spPr>
          <a:xfrm>
            <a:off x="8442655" y="1645920"/>
            <a:ext cx="548640" cy="548640"/>
          </a:xfrm>
          <a:prstGeom prst="ellipse">
            <a:avLst/>
          </a:prstGeom>
          <a:solidFill>
            <a:srgbClr val="F0A202"/>
          </a:solidFill>
          <a:ln w="12700">
            <a:solidFill>
              <a:srgbClr val="F0A202"/>
            </a:solidFill>
            <a:prstDash val="solid"/>
          </a:ln>
        </p:spPr>
      </p:sp>
      <p:sp>
        <p:nvSpPr>
          <p:cNvPr id="19" name="Text 15"/>
          <p:cNvSpPr txBox="1"/>
          <p:nvPr/>
        </p:nvSpPr>
        <p:spPr>
          <a:xfrm>
            <a:off x="8442655" y="1645920"/>
            <a:ext cx="548640" cy="548640"/>
          </a:xfrm>
          <a:prstGeom prst="rect">
            <a:avLst/>
          </a:prstGeom>
          <a:noFill/>
          <a:ln/>
        </p:spPr>
        <p:txBody>
          <a:bodyPr wrap="square" lIns="0" tIns="0" rIns="0" bIns="0" rtlCol="0" anchor="ctr"/>
          <a:lstStyle/>
          <a:p>
            <a:pPr algn="ctr" indent="0" marL="0">
              <a:buNone/>
            </a:pPr>
            <a:r>
              <a:rPr lang="en-US" sz="2000" b="1" dirty="0">
                <a:solidFill>
                  <a:srgbClr val="12303D"/>
                </a:solidFill>
                <a:latin typeface="Calibri" pitchFamily="34" charset="0"/>
                <a:ea typeface="Calibri" pitchFamily="34" charset="-122"/>
                <a:cs typeface="Calibri" pitchFamily="34" charset="-120"/>
              </a:rPr>
              <a:t>3</a:t>
            </a:r>
            <a:endParaRPr lang="en-US" sz="2000" dirty="0"/>
          </a:p>
        </p:txBody>
      </p:sp>
      <p:sp>
        <p:nvSpPr>
          <p:cNvPr id="20" name="Shape 16"/>
          <p:cNvSpPr/>
          <p:nvPr/>
        </p:nvSpPr>
        <p:spPr>
          <a:xfrm>
            <a:off x="10637215" y="1645920"/>
            <a:ext cx="777240" cy="777240"/>
          </a:xfrm>
          <a:prstGeom prst="ellipse">
            <a:avLst/>
          </a:prstGeom>
          <a:solidFill>
            <a:srgbClr val="1F7A8C"/>
          </a:solidFill>
          <a:ln w="12700">
            <a:solidFill>
              <a:srgbClr val="1F7A8C"/>
            </a:solidFill>
            <a:prstDash val="solid"/>
          </a:ln>
        </p:spPr>
      </p:sp>
      <p:pic>
        <p:nvPicPr>
          <p:cNvPr id="21" name="Image 2" descr="preencoded.png">    </p:cNvPr>
          <p:cNvPicPr>
            <a:picLocks noChangeAspect="1"/>
          </p:cNvPicPr>
          <p:nvPr/>
        </p:nvPicPr>
        <p:blipFill>
          <a:blip r:embed="rId3"/>
          <a:stretch>
            <a:fillRect/>
          </a:stretch>
        </p:blipFill>
        <p:spPr>
          <a:xfrm>
            <a:off x="10823753" y="1832458"/>
            <a:ext cx="404165" cy="404165"/>
          </a:xfrm>
          <a:prstGeom prst="rect">
            <a:avLst/>
          </a:prstGeom>
        </p:spPr>
      </p:pic>
      <p:sp>
        <p:nvSpPr>
          <p:cNvPr id="22" name="Text 17"/>
          <p:cNvSpPr txBox="1"/>
          <p:nvPr/>
        </p:nvSpPr>
        <p:spPr>
          <a:xfrm>
            <a:off x="8442655" y="2560320"/>
            <a:ext cx="2971800" cy="457200"/>
          </a:xfrm>
          <a:prstGeom prst="rect">
            <a:avLst/>
          </a:prstGeom>
          <a:noFill/>
          <a:ln/>
        </p:spPr>
        <p:txBody>
          <a:bodyPr wrap="square" lIns="0" tIns="0" rIns="0" bIns="0" rtlCol="0" anchor="t"/>
          <a:lstStyle/>
          <a:p>
            <a:pPr algn="l" indent="0" marL="0">
              <a:buNone/>
            </a:pPr>
            <a:r>
              <a:rPr lang="en-US" sz="1700" b="1" dirty="0">
                <a:solidFill>
                  <a:srgbClr val="12303D"/>
                </a:solidFill>
                <a:latin typeface="Calibri" pitchFamily="34" charset="0"/>
                <a:ea typeface="Calibri" pitchFamily="34" charset="-122"/>
                <a:cs typeface="Calibri" pitchFamily="34" charset="-120"/>
              </a:rPr>
              <a:t>Say the lead-in</a:t>
            </a:r>
            <a:endParaRPr lang="en-US" sz="1700" dirty="0"/>
          </a:p>
        </p:txBody>
      </p:sp>
      <p:sp>
        <p:nvSpPr>
          <p:cNvPr id="23" name="Text 18"/>
          <p:cNvSpPr txBox="1"/>
          <p:nvPr/>
        </p:nvSpPr>
        <p:spPr>
          <a:xfrm>
            <a:off x="8442655" y="3063240"/>
            <a:ext cx="2971800" cy="1371600"/>
          </a:xfrm>
          <a:prstGeom prst="rect">
            <a:avLst/>
          </a:prstGeom>
          <a:noFill/>
          <a:ln/>
        </p:spPr>
        <p:txBody>
          <a:bodyPr wrap="square" lIns="0" tIns="0" rIns="0" bIns="0" rtlCol="0" anchor="t"/>
          <a:lstStyle/>
          <a:p>
            <a:pPr algn="l" indent="0" marL="0">
              <a:buNone/>
            </a:pPr>
            <a:r>
              <a:rPr lang="en-US" sz="1250" dirty="0">
                <a:solidFill>
                  <a:srgbClr val="1E2A30"/>
                </a:solidFill>
                <a:latin typeface="Calibri" pitchFamily="34" charset="0"/>
                <a:ea typeface="Calibri" pitchFamily="34" charset="-122"/>
                <a:cs typeface="Calibri" pitchFamily="34" charset="-120"/>
              </a:rPr>
              <a:t>"Generate the storyboard." The generator follows everything between the scissors lines, runs Steps 0 to 5 internally, and returns the finished document.</a:t>
            </a:r>
            <a:endParaRPr lang="en-US" sz="1250" dirty="0"/>
          </a:p>
        </p:txBody>
      </p:sp>
      <p:sp>
        <p:nvSpPr>
          <p:cNvPr id="24" name="Shape 19"/>
          <p:cNvSpPr/>
          <p:nvPr/>
        </p:nvSpPr>
        <p:spPr>
          <a:xfrm>
            <a:off x="548640" y="4846320"/>
            <a:ext cx="3611880" cy="868680"/>
          </a:xfrm>
          <a:prstGeom prst="homePlate">
            <a:avLst/>
          </a:prstGeom>
          <a:solidFill>
            <a:srgbClr val="1F7A8C"/>
          </a:solidFill>
          <a:ln w="12700">
            <a:solidFill>
              <a:srgbClr val="1F7A8C"/>
            </a:solidFill>
            <a:prstDash val="solid"/>
          </a:ln>
        </p:spPr>
      </p:sp>
      <p:sp>
        <p:nvSpPr>
          <p:cNvPr id="25" name="Text 20"/>
          <p:cNvSpPr txBox="1"/>
          <p:nvPr/>
        </p:nvSpPr>
        <p:spPr>
          <a:xfrm>
            <a:off x="731520" y="4846320"/>
            <a:ext cx="2926080" cy="86868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Steps 0 to 5 run unseen: sources, objectives, gate, architecture, slides, QA</a:t>
            </a:r>
            <a:endParaRPr lang="en-US" sz="1150" dirty="0"/>
          </a:p>
        </p:txBody>
      </p:sp>
      <p:sp>
        <p:nvSpPr>
          <p:cNvPr id="26" name="Shape 21"/>
          <p:cNvSpPr/>
          <p:nvPr/>
        </p:nvSpPr>
        <p:spPr>
          <a:xfrm>
            <a:off x="4288536" y="4846320"/>
            <a:ext cx="3611880" cy="868680"/>
          </a:xfrm>
          <a:prstGeom prst="chevron">
            <a:avLst/>
          </a:prstGeom>
          <a:solidFill>
            <a:srgbClr val="F0A202"/>
          </a:solidFill>
          <a:ln w="12700">
            <a:solidFill>
              <a:srgbClr val="F0A202"/>
            </a:solidFill>
            <a:prstDash val="solid"/>
          </a:ln>
        </p:spPr>
      </p:sp>
      <p:sp>
        <p:nvSpPr>
          <p:cNvPr id="27" name="Text 22"/>
          <p:cNvSpPr txBox="1"/>
          <p:nvPr/>
        </p:nvSpPr>
        <p:spPr>
          <a:xfrm>
            <a:off x="4700016" y="4846320"/>
            <a:ext cx="2926080" cy="868680"/>
          </a:xfrm>
          <a:prstGeom prst="rect">
            <a:avLst/>
          </a:prstGeom>
          <a:noFill/>
          <a:ln/>
        </p:spPr>
        <p:txBody>
          <a:bodyPr wrap="square" lIns="0" tIns="0" rIns="0" bIns="0" rtlCol="0" anchor="ctr"/>
          <a:lstStyle/>
          <a:p>
            <a:pPr algn="l" indent="0" marL="0">
              <a:buNone/>
            </a:pPr>
            <a:r>
              <a:rPr lang="en-US" sz="1150" b="1" dirty="0">
                <a:solidFill>
                  <a:srgbClr val="12303D"/>
                </a:solidFill>
                <a:latin typeface="Calibri" pitchFamily="34" charset="0"/>
                <a:ea typeface="Calibri" pitchFamily="34" charset="-122"/>
                <a:cs typeface="Calibri" pitchFamily="34" charset="-120"/>
              </a:rPr>
              <a:t>Only a Critical gap stops the run, to ask one question</a:t>
            </a:r>
            <a:endParaRPr lang="en-US" sz="1150" dirty="0"/>
          </a:p>
        </p:txBody>
      </p:sp>
      <p:sp>
        <p:nvSpPr>
          <p:cNvPr id="28" name="Shape 23"/>
          <p:cNvSpPr/>
          <p:nvPr/>
        </p:nvSpPr>
        <p:spPr>
          <a:xfrm>
            <a:off x="8028432" y="4846320"/>
            <a:ext cx="3611880" cy="868680"/>
          </a:xfrm>
          <a:prstGeom prst="chevron">
            <a:avLst/>
          </a:prstGeom>
          <a:solidFill>
            <a:srgbClr val="12303D"/>
          </a:solidFill>
          <a:ln w="12700">
            <a:solidFill>
              <a:srgbClr val="12303D"/>
            </a:solidFill>
            <a:prstDash val="solid"/>
          </a:ln>
        </p:spPr>
      </p:sp>
      <p:sp>
        <p:nvSpPr>
          <p:cNvPr id="29" name="Text 24"/>
          <p:cNvSpPr txBox="1"/>
          <p:nvPr/>
        </p:nvSpPr>
        <p:spPr>
          <a:xfrm>
            <a:off x="8439912" y="4846320"/>
            <a:ext cx="2926080" cy="86868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Visible output: the six locked blocks, build-ready</a:t>
            </a:r>
            <a:endParaRPr lang="en-US" sz="1150" dirty="0"/>
          </a:p>
        </p:txBody>
      </p:sp>
      <p:sp>
        <p:nvSpPr>
          <p:cNvPr id="30" name="Text 25"/>
          <p:cNvSpPr txBox="1"/>
          <p:nvPr/>
        </p:nvSpPr>
        <p:spPr>
          <a:xfrm>
            <a:off x="548640" y="5943600"/>
            <a:ext cx="11094415" cy="457200"/>
          </a:xfrm>
          <a:prstGeom prst="rect">
            <a:avLst/>
          </a:prstGeom>
          <a:noFill/>
          <a:ln/>
        </p:spPr>
        <p:txBody>
          <a:bodyPr wrap="square" lIns="0" tIns="0" rIns="0" bIns="0" rtlCol="0" anchor="t"/>
          <a:lstStyle/>
          <a:p>
            <a:pPr algn="l" indent="0" marL="0">
              <a:buNone/>
            </a:pPr>
            <a:r>
              <a:rPr lang="en-US" sz="1200" i="1" dirty="0">
                <a:solidFill>
                  <a:srgbClr val="5C6B73"/>
                </a:solidFill>
                <a:latin typeface="Calibri" pitchFamily="34" charset="0"/>
                <a:ea typeface="Calibri" pitchFamily="34" charset="-122"/>
                <a:cs typeface="Calibri" pitchFamily="34" charset="-120"/>
              </a:rPr>
              <a:t>Internal artifacts (source log, objective map, planning rows, QA record) stay internal. Ask for one only when you want to review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Can it be shrunk to a 200-word prompt?</a:t>
            </a:r>
            <a:endParaRPr lang="en-US" sz="2800" dirty="0"/>
          </a:p>
        </p:txBody>
      </p:sp>
      <p:sp>
        <p:nvSpPr>
          <p:cNvPr id="3" name="Shape 1"/>
          <p:cNvSpPr/>
          <p:nvPr/>
        </p:nvSpPr>
        <p:spPr>
          <a:xfrm>
            <a:off x="548640" y="1371600"/>
            <a:ext cx="4480560" cy="4892040"/>
          </a:xfrm>
          <a:prstGeom prst="roundRect">
            <a:avLst>
              <a:gd name="adj" fmla="val 3061"/>
            </a:avLst>
          </a:prstGeom>
          <a:solidFill>
            <a:srgbClr val="12303D"/>
          </a:solidFill>
          <a:ln w="12700">
            <a:solidFill>
              <a:srgbClr val="12303D"/>
            </a:solidFill>
            <a:prstDash val="solid"/>
          </a:ln>
          <a:effectLst>
            <a:outerShdw sx="100000" sy="100000" kx="0" ky="0" algn="bl" rotWithShape="0" blurRad="50800" dist="25400" dir="3600000">
              <a:srgbClr val="000000">
                <a:alpha val="12000"/>
              </a:srgbClr>
            </a:outerShdw>
          </a:effectLst>
        </p:spPr>
      </p:sp>
      <p:sp>
        <p:nvSpPr>
          <p:cNvPr id="4" name="Text 2"/>
          <p:cNvSpPr txBox="1"/>
          <p:nvPr/>
        </p:nvSpPr>
        <p:spPr>
          <a:xfrm>
            <a:off x="868680" y="1600200"/>
            <a:ext cx="3840480" cy="1463040"/>
          </a:xfrm>
          <a:prstGeom prst="rect">
            <a:avLst/>
          </a:prstGeom>
          <a:noFill/>
          <a:ln/>
        </p:spPr>
        <p:txBody>
          <a:bodyPr wrap="square" lIns="0" tIns="0" rIns="0" bIns="0" rtlCol="0" anchor="ctr"/>
          <a:lstStyle/>
          <a:p>
            <a:pPr algn="l" indent="0" marL="0">
              <a:buNone/>
            </a:pPr>
            <a:r>
              <a:rPr lang="en-US" sz="8400" b="1" dirty="0">
                <a:solidFill>
                  <a:srgbClr val="F0A202"/>
                </a:solidFill>
                <a:latin typeface="Cambria" pitchFamily="34" charset="0"/>
                <a:ea typeface="Cambria" pitchFamily="34" charset="-122"/>
                <a:cs typeface="Cambria" pitchFamily="34" charset="-120"/>
              </a:rPr>
              <a:t>No.</a:t>
            </a:r>
            <a:endParaRPr lang="en-US" sz="8400" dirty="0"/>
          </a:p>
        </p:txBody>
      </p:sp>
      <p:sp>
        <p:nvSpPr>
          <p:cNvPr id="5" name="Text 3"/>
          <p:cNvSpPr txBox="1"/>
          <p:nvPr/>
        </p:nvSpPr>
        <p:spPr>
          <a:xfrm>
            <a:off x="868680" y="3246120"/>
            <a:ext cx="3840480" cy="1554480"/>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A 200-word prompt describes a wish. This document defines a contract: inputs, authority, process, format, language, and checks.</a:t>
            </a:r>
            <a:endParaRPr lang="en-US" sz="1600" dirty="0"/>
          </a:p>
        </p:txBody>
      </p:sp>
      <p:sp>
        <p:nvSpPr>
          <p:cNvPr id="6" name="Text 4"/>
          <p:cNvSpPr txBox="1"/>
          <p:nvPr/>
        </p:nvSpPr>
        <p:spPr>
          <a:xfrm>
            <a:off x="868680" y="4892040"/>
            <a:ext cx="3840480" cy="1188720"/>
          </a:xfrm>
          <a:prstGeom prst="rect">
            <a:avLst/>
          </a:prstGeom>
          <a:noFill/>
          <a:ln/>
        </p:spPr>
        <p:txBody>
          <a:bodyPr wrap="square" lIns="0" tIns="0" rIns="0" bIns="0" rtlCol="0" anchor="t"/>
          <a:lstStyle/>
          <a:p>
            <a:pPr algn="l" indent="0" marL="0">
              <a:buNone/>
            </a:pPr>
            <a:r>
              <a:rPr lang="en-US" sz="1250" i="1" dirty="0">
                <a:solidFill>
                  <a:srgbClr val="CDE7E3"/>
                </a:solidFill>
                <a:latin typeface="Calibri" pitchFamily="34" charset="0"/>
                <a:ea typeface="Calibri" pitchFamily="34" charset="-122"/>
                <a:cs typeface="Calibri" pitchFamily="34" charset="-120"/>
              </a:rPr>
              <a:t>Every number on the right is a decision a reviewer would otherwise make by hand, differently, every time.</a:t>
            </a:r>
            <a:endParaRPr lang="en-US" sz="1250" dirty="0"/>
          </a:p>
        </p:txBody>
      </p:sp>
      <p:sp>
        <p:nvSpPr>
          <p:cNvPr id="7" name="Shape 5"/>
          <p:cNvSpPr/>
          <p:nvPr/>
        </p:nvSpPr>
        <p:spPr>
          <a:xfrm>
            <a:off x="5349240" y="1371600"/>
            <a:ext cx="2057400" cy="2240280"/>
          </a:xfrm>
          <a:prstGeom prst="roundRect">
            <a:avLst>
              <a:gd name="adj" fmla="val 5333"/>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8" name="Text 6"/>
          <p:cNvSpPr txBox="1"/>
          <p:nvPr/>
        </p:nvSpPr>
        <p:spPr>
          <a:xfrm>
            <a:off x="5486400" y="1554480"/>
            <a:ext cx="1783080" cy="1005840"/>
          </a:xfrm>
          <a:prstGeom prst="rect">
            <a:avLst/>
          </a:prstGeom>
          <a:noFill/>
          <a:ln/>
        </p:spPr>
        <p:txBody>
          <a:bodyPr wrap="square" lIns="0" tIns="0" rIns="0" bIns="0" rtlCol="0" anchor="ctr"/>
          <a:lstStyle/>
          <a:p>
            <a:pPr algn="ctr" indent="0" marL="0">
              <a:buNone/>
            </a:pPr>
            <a:r>
              <a:rPr lang="en-US" sz="3600" b="1" dirty="0">
                <a:solidFill>
                  <a:srgbClr val="1F7A8C"/>
                </a:solidFill>
                <a:latin typeface="Cambria" pitchFamily="34" charset="0"/>
                <a:ea typeface="Cambria" pitchFamily="34" charset="-122"/>
                <a:cs typeface="Cambria" pitchFamily="34" charset="-120"/>
              </a:rPr>
              <a:t>18,900</a:t>
            </a:r>
            <a:endParaRPr lang="en-US" sz="3600" dirty="0"/>
          </a:p>
        </p:txBody>
      </p:sp>
      <p:sp>
        <p:nvSpPr>
          <p:cNvPr id="9" name="Text 7"/>
          <p:cNvSpPr txBox="1"/>
          <p:nvPr/>
        </p:nvSpPr>
        <p:spPr>
          <a:xfrm>
            <a:off x="5532120" y="2606040"/>
            <a:ext cx="1691640" cy="86868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words of rules, templates, and examples</a:t>
            </a:r>
            <a:endParaRPr lang="en-US" sz="1250" dirty="0"/>
          </a:p>
        </p:txBody>
      </p:sp>
      <p:sp>
        <p:nvSpPr>
          <p:cNvPr id="10" name="Shape 8"/>
          <p:cNvSpPr/>
          <p:nvPr/>
        </p:nvSpPr>
        <p:spPr>
          <a:xfrm>
            <a:off x="7662672" y="1371600"/>
            <a:ext cx="2057400" cy="2240280"/>
          </a:xfrm>
          <a:prstGeom prst="roundRect">
            <a:avLst>
              <a:gd name="adj" fmla="val 5333"/>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1" name="Text 9"/>
          <p:cNvSpPr txBox="1"/>
          <p:nvPr/>
        </p:nvSpPr>
        <p:spPr>
          <a:xfrm>
            <a:off x="7799832" y="1554480"/>
            <a:ext cx="1783080" cy="1005840"/>
          </a:xfrm>
          <a:prstGeom prst="rect">
            <a:avLst/>
          </a:prstGeom>
          <a:noFill/>
          <a:ln/>
        </p:spPr>
        <p:txBody>
          <a:bodyPr wrap="square" lIns="0" tIns="0" rIns="0" bIns="0" rtlCol="0" anchor="ctr"/>
          <a:lstStyle/>
          <a:p>
            <a:pPr algn="ctr" indent="0" marL="0">
              <a:buNone/>
            </a:pPr>
            <a:r>
              <a:rPr lang="en-US" sz="3600" b="1" dirty="0">
                <a:solidFill>
                  <a:srgbClr val="1F7A8C"/>
                </a:solidFill>
                <a:latin typeface="Cambria" pitchFamily="34" charset="0"/>
                <a:ea typeface="Cambria" pitchFamily="34" charset="-122"/>
                <a:cs typeface="Cambria" pitchFamily="34" charset="-120"/>
              </a:rPr>
              <a:t>66</a:t>
            </a:r>
            <a:endParaRPr lang="en-US" sz="3600" dirty="0"/>
          </a:p>
        </p:txBody>
      </p:sp>
      <p:sp>
        <p:nvSpPr>
          <p:cNvPr id="12" name="Text 10"/>
          <p:cNvSpPr txBox="1"/>
          <p:nvPr/>
        </p:nvSpPr>
        <p:spPr>
          <a:xfrm>
            <a:off x="7845552" y="2606040"/>
            <a:ext cx="1691640" cy="86868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numbered sections plus 8 appendices</a:t>
            </a:r>
            <a:endParaRPr lang="en-US" sz="1250" dirty="0"/>
          </a:p>
        </p:txBody>
      </p:sp>
      <p:sp>
        <p:nvSpPr>
          <p:cNvPr id="13" name="Shape 11"/>
          <p:cNvSpPr/>
          <p:nvPr/>
        </p:nvSpPr>
        <p:spPr>
          <a:xfrm>
            <a:off x="9976104" y="1371600"/>
            <a:ext cx="2057400" cy="2240280"/>
          </a:xfrm>
          <a:prstGeom prst="roundRect">
            <a:avLst>
              <a:gd name="adj" fmla="val 5333"/>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4" name="Text 12"/>
          <p:cNvSpPr txBox="1"/>
          <p:nvPr/>
        </p:nvSpPr>
        <p:spPr>
          <a:xfrm>
            <a:off x="10113264" y="1554480"/>
            <a:ext cx="1783080" cy="1005840"/>
          </a:xfrm>
          <a:prstGeom prst="rect">
            <a:avLst/>
          </a:prstGeom>
          <a:noFill/>
          <a:ln/>
        </p:spPr>
        <p:txBody>
          <a:bodyPr wrap="square" lIns="0" tIns="0" rIns="0" bIns="0" rtlCol="0" anchor="ctr"/>
          <a:lstStyle/>
          <a:p>
            <a:pPr algn="ctr" indent="0" marL="0">
              <a:buNone/>
            </a:pPr>
            <a:r>
              <a:rPr lang="en-US" sz="3600" b="1" dirty="0">
                <a:solidFill>
                  <a:srgbClr val="1F7A8C"/>
                </a:solidFill>
                <a:latin typeface="Cambria" pitchFamily="34" charset="0"/>
                <a:ea typeface="Cambria" pitchFamily="34" charset="-122"/>
                <a:cs typeface="Cambria" pitchFamily="34" charset="-120"/>
              </a:rPr>
              <a:t>37</a:t>
            </a:r>
            <a:endParaRPr lang="en-US" sz="3600" dirty="0"/>
          </a:p>
        </p:txBody>
      </p:sp>
      <p:sp>
        <p:nvSpPr>
          <p:cNvPr id="15" name="Text 13"/>
          <p:cNvSpPr txBox="1"/>
          <p:nvPr/>
        </p:nvSpPr>
        <p:spPr>
          <a:xfrm>
            <a:off x="10158984" y="2606040"/>
            <a:ext cx="1691640" cy="86868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QA checks, each with a severity</a:t>
            </a:r>
            <a:endParaRPr lang="en-US" sz="1250" dirty="0"/>
          </a:p>
        </p:txBody>
      </p:sp>
      <p:sp>
        <p:nvSpPr>
          <p:cNvPr id="16" name="Shape 14"/>
          <p:cNvSpPr/>
          <p:nvPr/>
        </p:nvSpPr>
        <p:spPr>
          <a:xfrm>
            <a:off x="5349240" y="3995928"/>
            <a:ext cx="2057400" cy="2240280"/>
          </a:xfrm>
          <a:prstGeom prst="roundRect">
            <a:avLst>
              <a:gd name="adj" fmla="val 5333"/>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7" name="Text 15"/>
          <p:cNvSpPr txBox="1"/>
          <p:nvPr/>
        </p:nvSpPr>
        <p:spPr>
          <a:xfrm>
            <a:off x="5486400" y="4178808"/>
            <a:ext cx="1783080" cy="1005840"/>
          </a:xfrm>
          <a:prstGeom prst="rect">
            <a:avLst/>
          </a:prstGeom>
          <a:noFill/>
          <a:ln/>
        </p:spPr>
        <p:txBody>
          <a:bodyPr wrap="square" lIns="0" tIns="0" rIns="0" bIns="0" rtlCol="0" anchor="ctr"/>
          <a:lstStyle/>
          <a:p>
            <a:pPr algn="ctr" indent="0" marL="0">
              <a:buNone/>
            </a:pPr>
            <a:r>
              <a:rPr lang="en-US" sz="3600" b="1" dirty="0">
                <a:solidFill>
                  <a:srgbClr val="1F7A8C"/>
                </a:solidFill>
                <a:latin typeface="Cambria" pitchFamily="34" charset="0"/>
                <a:ea typeface="Cambria" pitchFamily="34" charset="-122"/>
                <a:cs typeface="Cambria" pitchFamily="34" charset="-120"/>
              </a:rPr>
              <a:t>18</a:t>
            </a:r>
            <a:endParaRPr lang="en-US" sz="3600" dirty="0"/>
          </a:p>
        </p:txBody>
      </p:sp>
      <p:sp>
        <p:nvSpPr>
          <p:cNvPr id="18" name="Text 16"/>
          <p:cNvSpPr txBox="1"/>
          <p:nvPr/>
        </p:nvSpPr>
        <p:spPr>
          <a:xfrm>
            <a:off x="5532120" y="5230368"/>
            <a:ext cx="1691640" cy="86868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component specifications with minimum fields</a:t>
            </a:r>
            <a:endParaRPr lang="en-US" sz="1250" dirty="0"/>
          </a:p>
        </p:txBody>
      </p:sp>
      <p:sp>
        <p:nvSpPr>
          <p:cNvPr id="19" name="Shape 17"/>
          <p:cNvSpPr/>
          <p:nvPr/>
        </p:nvSpPr>
        <p:spPr>
          <a:xfrm>
            <a:off x="7662672" y="3995928"/>
            <a:ext cx="2057400" cy="2240280"/>
          </a:xfrm>
          <a:prstGeom prst="roundRect">
            <a:avLst>
              <a:gd name="adj" fmla="val 5333"/>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0" name="Text 18"/>
          <p:cNvSpPr txBox="1"/>
          <p:nvPr/>
        </p:nvSpPr>
        <p:spPr>
          <a:xfrm>
            <a:off x="7799832" y="4178808"/>
            <a:ext cx="1783080" cy="1005840"/>
          </a:xfrm>
          <a:prstGeom prst="rect">
            <a:avLst/>
          </a:prstGeom>
          <a:noFill/>
          <a:ln/>
        </p:spPr>
        <p:txBody>
          <a:bodyPr wrap="square" lIns="0" tIns="0" rIns="0" bIns="0" rtlCol="0" anchor="ctr"/>
          <a:lstStyle/>
          <a:p>
            <a:pPr algn="ctr" indent="0" marL="0">
              <a:buNone/>
            </a:pPr>
            <a:r>
              <a:rPr lang="en-US" sz="3600" b="1" dirty="0">
                <a:solidFill>
                  <a:srgbClr val="1F7A8C"/>
                </a:solidFill>
                <a:latin typeface="Cambria" pitchFamily="34" charset="0"/>
                <a:ea typeface="Cambria" pitchFamily="34" charset="-122"/>
                <a:cs typeface="Cambria" pitchFamily="34" charset="-120"/>
              </a:rPr>
              <a:t>36</a:t>
            </a:r>
            <a:endParaRPr lang="en-US" sz="3600" dirty="0"/>
          </a:p>
        </p:txBody>
      </p:sp>
      <p:sp>
        <p:nvSpPr>
          <p:cNvPr id="21" name="Text 19"/>
          <p:cNvSpPr txBox="1"/>
          <p:nvPr/>
        </p:nvSpPr>
        <p:spPr>
          <a:xfrm>
            <a:off x="7845552" y="5230368"/>
            <a:ext cx="1691640" cy="86868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project configuration keys with defaults</a:t>
            </a:r>
            <a:endParaRPr lang="en-US" sz="1250" dirty="0"/>
          </a:p>
        </p:txBody>
      </p:sp>
      <p:sp>
        <p:nvSpPr>
          <p:cNvPr id="22" name="Shape 20"/>
          <p:cNvSpPr/>
          <p:nvPr/>
        </p:nvSpPr>
        <p:spPr>
          <a:xfrm>
            <a:off x="9976104" y="3995928"/>
            <a:ext cx="2057400" cy="2240280"/>
          </a:xfrm>
          <a:prstGeom prst="roundRect">
            <a:avLst>
              <a:gd name="adj" fmla="val 5333"/>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3" name="Text 21"/>
          <p:cNvSpPr txBox="1"/>
          <p:nvPr/>
        </p:nvSpPr>
        <p:spPr>
          <a:xfrm>
            <a:off x="10113264" y="4178808"/>
            <a:ext cx="1783080" cy="1005840"/>
          </a:xfrm>
          <a:prstGeom prst="rect">
            <a:avLst/>
          </a:prstGeom>
          <a:noFill/>
          <a:ln/>
        </p:spPr>
        <p:txBody>
          <a:bodyPr wrap="square" lIns="0" tIns="0" rIns="0" bIns="0" rtlCol="0" anchor="ctr"/>
          <a:lstStyle/>
          <a:p>
            <a:pPr algn="ctr" indent="0" marL="0">
              <a:buNone/>
            </a:pPr>
            <a:r>
              <a:rPr lang="en-US" sz="3600" b="1" dirty="0">
                <a:solidFill>
                  <a:srgbClr val="1F7A8C"/>
                </a:solidFill>
                <a:latin typeface="Cambria" pitchFamily="34" charset="0"/>
                <a:ea typeface="Cambria" pitchFamily="34" charset="-122"/>
                <a:cs typeface="Cambria" pitchFamily="34" charset="-120"/>
              </a:rPr>
              <a:t>9</a:t>
            </a:r>
            <a:endParaRPr lang="en-US" sz="3600" dirty="0"/>
          </a:p>
        </p:txBody>
      </p:sp>
      <p:sp>
        <p:nvSpPr>
          <p:cNvPr id="24" name="Text 22"/>
          <p:cNvSpPr txBox="1"/>
          <p:nvPr/>
        </p:nvSpPr>
        <p:spPr>
          <a:xfrm>
            <a:off x="10158984" y="5230368"/>
            <a:ext cx="1691640" cy="86868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owner-based gap markers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The CRAFT backbone: one home for every rule</a:t>
            </a:r>
            <a:endParaRPr lang="en-US" sz="2800" dirty="0"/>
          </a:p>
        </p:txBody>
      </p:sp>
      <p:sp>
        <p:nvSpPr>
          <p:cNvPr id="3" name="Shape 1"/>
          <p:cNvSpPr/>
          <p:nvPr/>
        </p:nvSpPr>
        <p:spPr>
          <a:xfrm>
            <a:off x="548640" y="1325880"/>
            <a:ext cx="2103120" cy="4343400"/>
          </a:xfrm>
          <a:prstGeom prst="roundRect">
            <a:avLst>
              <a:gd name="adj" fmla="val 521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4" name="Text 2"/>
          <p:cNvSpPr txBox="1"/>
          <p:nvPr/>
        </p:nvSpPr>
        <p:spPr>
          <a:xfrm>
            <a:off x="685800" y="1417320"/>
            <a:ext cx="1828800" cy="914400"/>
          </a:xfrm>
          <a:prstGeom prst="rect">
            <a:avLst/>
          </a:prstGeom>
          <a:noFill/>
          <a:ln/>
        </p:spPr>
        <p:txBody>
          <a:bodyPr wrap="square" lIns="0" tIns="0" rIns="0" bIns="0" rtlCol="0" anchor="ctr"/>
          <a:lstStyle/>
          <a:p>
            <a:pPr algn="ctr" indent="0" marL="0">
              <a:buNone/>
            </a:pPr>
            <a:r>
              <a:rPr lang="en-US" sz="5400" b="1" dirty="0">
                <a:solidFill>
                  <a:srgbClr val="1F7A8C"/>
                </a:solidFill>
                <a:latin typeface="Cambria" pitchFamily="34" charset="0"/>
                <a:ea typeface="Cambria" pitchFamily="34" charset="-122"/>
                <a:cs typeface="Cambria" pitchFamily="34" charset="-120"/>
              </a:rPr>
              <a:t>C</a:t>
            </a:r>
            <a:endParaRPr lang="en-US" sz="5400" dirty="0"/>
          </a:p>
        </p:txBody>
      </p:sp>
      <p:sp>
        <p:nvSpPr>
          <p:cNvPr id="5" name="Text 3"/>
          <p:cNvSpPr txBox="1"/>
          <p:nvPr/>
        </p:nvSpPr>
        <p:spPr>
          <a:xfrm>
            <a:off x="685800" y="2350008"/>
            <a:ext cx="1828800" cy="365760"/>
          </a:xfrm>
          <a:prstGeom prst="rect">
            <a:avLst/>
          </a:prstGeom>
          <a:noFill/>
          <a:ln/>
        </p:spPr>
        <p:txBody>
          <a:bodyPr wrap="square" lIns="0" tIns="0" rIns="0" bIns="0" rtlCol="0" anchor="t"/>
          <a:lstStyle/>
          <a:p>
            <a:pPr algn="ctr" indent="0" marL="0">
              <a:buNone/>
            </a:pPr>
            <a:r>
              <a:rPr lang="en-US" sz="1600" b="1" dirty="0">
                <a:solidFill>
                  <a:srgbClr val="12303D"/>
                </a:solidFill>
                <a:latin typeface="Calibri" pitchFamily="34" charset="0"/>
                <a:ea typeface="Calibri" pitchFamily="34" charset="-122"/>
                <a:cs typeface="Calibri" pitchFamily="34" charset="-120"/>
              </a:rPr>
              <a:t>Context</a:t>
            </a:r>
            <a:endParaRPr lang="en-US" sz="1600" dirty="0"/>
          </a:p>
        </p:txBody>
      </p:sp>
      <p:sp>
        <p:nvSpPr>
          <p:cNvPr id="6" name="Text 4"/>
          <p:cNvSpPr txBox="1"/>
          <p:nvPr/>
        </p:nvSpPr>
        <p:spPr>
          <a:xfrm>
            <a:off x="685800" y="2743200"/>
            <a:ext cx="1828800" cy="685800"/>
          </a:xfrm>
          <a:prstGeom prst="rect">
            <a:avLst/>
          </a:prstGeom>
          <a:noFill/>
          <a:ln/>
        </p:spPr>
        <p:txBody>
          <a:bodyPr wrap="square" lIns="0" tIns="0" rIns="0" bIns="0" rtlCol="0" anchor="t"/>
          <a:lstStyle/>
          <a:p>
            <a:pPr algn="ctr" indent="0" marL="0">
              <a:buNone/>
            </a:pPr>
            <a:r>
              <a:rPr lang="en-US" sz="1100" i="1" dirty="0">
                <a:solidFill>
                  <a:srgbClr val="5C6B73"/>
                </a:solidFill>
                <a:latin typeface="Calibri" pitchFamily="34" charset="0"/>
                <a:ea typeface="Calibri" pitchFamily="34" charset="-122"/>
                <a:cs typeface="Calibri" pitchFamily="34" charset="-120"/>
              </a:rPr>
              <a:t>Who reads it, what counts as authority, what to do with gaps</a:t>
            </a:r>
            <a:endParaRPr lang="en-US" sz="1100" dirty="0"/>
          </a:p>
        </p:txBody>
      </p:sp>
      <p:sp>
        <p:nvSpPr>
          <p:cNvPr id="7" name="Text 5"/>
          <p:cNvSpPr txBox="1"/>
          <p:nvPr/>
        </p:nvSpPr>
        <p:spPr>
          <a:xfrm>
            <a:off x="685800" y="3429000"/>
            <a:ext cx="1874520" cy="21488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Three readers</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Output contract</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Sources and the 9-level authority stack</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Gap decision tree</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Known failure patterns</a:t>
            </a:r>
            <a:endParaRPr lang="en-US" sz="1150" dirty="0"/>
          </a:p>
        </p:txBody>
      </p:sp>
      <p:sp>
        <p:nvSpPr>
          <p:cNvPr id="8" name="Shape 6"/>
          <p:cNvSpPr/>
          <p:nvPr/>
        </p:nvSpPr>
        <p:spPr>
          <a:xfrm>
            <a:off x="2796464" y="1325880"/>
            <a:ext cx="2103120" cy="4343400"/>
          </a:xfrm>
          <a:prstGeom prst="roundRect">
            <a:avLst>
              <a:gd name="adj" fmla="val 521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9" name="Text 7"/>
          <p:cNvSpPr txBox="1"/>
          <p:nvPr/>
        </p:nvSpPr>
        <p:spPr>
          <a:xfrm>
            <a:off x="2933624" y="1417320"/>
            <a:ext cx="1828800" cy="914400"/>
          </a:xfrm>
          <a:prstGeom prst="rect">
            <a:avLst/>
          </a:prstGeom>
          <a:noFill/>
          <a:ln/>
        </p:spPr>
        <p:txBody>
          <a:bodyPr wrap="square" lIns="0" tIns="0" rIns="0" bIns="0" rtlCol="0" anchor="ctr"/>
          <a:lstStyle/>
          <a:p>
            <a:pPr algn="ctr" indent="0" marL="0">
              <a:buNone/>
            </a:pPr>
            <a:r>
              <a:rPr lang="en-US" sz="5400" b="1" dirty="0">
                <a:solidFill>
                  <a:srgbClr val="1F7A8C"/>
                </a:solidFill>
                <a:latin typeface="Cambria" pitchFamily="34" charset="0"/>
                <a:ea typeface="Cambria" pitchFamily="34" charset="-122"/>
                <a:cs typeface="Cambria" pitchFamily="34" charset="-120"/>
              </a:rPr>
              <a:t>R</a:t>
            </a:r>
            <a:endParaRPr lang="en-US" sz="5400" dirty="0"/>
          </a:p>
        </p:txBody>
      </p:sp>
      <p:sp>
        <p:nvSpPr>
          <p:cNvPr id="10" name="Text 8"/>
          <p:cNvSpPr txBox="1"/>
          <p:nvPr/>
        </p:nvSpPr>
        <p:spPr>
          <a:xfrm>
            <a:off x="2933624" y="2350008"/>
            <a:ext cx="1828800" cy="365760"/>
          </a:xfrm>
          <a:prstGeom prst="rect">
            <a:avLst/>
          </a:prstGeom>
          <a:noFill/>
          <a:ln/>
        </p:spPr>
        <p:txBody>
          <a:bodyPr wrap="square" lIns="0" tIns="0" rIns="0" bIns="0" rtlCol="0" anchor="t"/>
          <a:lstStyle/>
          <a:p>
            <a:pPr algn="ctr" indent="0" marL="0">
              <a:buNone/>
            </a:pPr>
            <a:r>
              <a:rPr lang="en-US" sz="1600" b="1" dirty="0">
                <a:solidFill>
                  <a:srgbClr val="12303D"/>
                </a:solidFill>
                <a:latin typeface="Calibri" pitchFamily="34" charset="0"/>
                <a:ea typeface="Calibri" pitchFamily="34" charset="-122"/>
                <a:cs typeface="Calibri" pitchFamily="34" charset="-120"/>
              </a:rPr>
              <a:t>Role</a:t>
            </a:r>
            <a:endParaRPr lang="en-US" sz="1600" dirty="0"/>
          </a:p>
        </p:txBody>
      </p:sp>
      <p:sp>
        <p:nvSpPr>
          <p:cNvPr id="11" name="Text 9"/>
          <p:cNvSpPr txBox="1"/>
          <p:nvPr/>
        </p:nvSpPr>
        <p:spPr>
          <a:xfrm>
            <a:off x="2933624" y="2743200"/>
            <a:ext cx="1828800" cy="685800"/>
          </a:xfrm>
          <a:prstGeom prst="rect">
            <a:avLst/>
          </a:prstGeom>
          <a:noFill/>
          <a:ln/>
        </p:spPr>
        <p:txBody>
          <a:bodyPr wrap="square" lIns="0" tIns="0" rIns="0" bIns="0" rtlCol="0" anchor="t"/>
          <a:lstStyle/>
          <a:p>
            <a:pPr algn="ctr" indent="0" marL="0">
              <a:buNone/>
            </a:pPr>
            <a:r>
              <a:rPr lang="en-US" sz="1100" i="1" dirty="0">
                <a:solidFill>
                  <a:srgbClr val="5C6B73"/>
                </a:solidFill>
                <a:latin typeface="Calibri" pitchFamily="34" charset="0"/>
                <a:ea typeface="Calibri" pitchFamily="34" charset="-122"/>
                <a:cs typeface="Calibri" pitchFamily="34" charset="-120"/>
              </a:rPr>
              <a:t>Who decides what</a:t>
            </a:r>
            <a:endParaRPr lang="en-US" sz="1100" dirty="0"/>
          </a:p>
        </p:txBody>
      </p:sp>
      <p:sp>
        <p:nvSpPr>
          <p:cNvPr id="12" name="Text 10"/>
          <p:cNvSpPr txBox="1"/>
          <p:nvPr/>
        </p:nvSpPr>
        <p:spPr>
          <a:xfrm>
            <a:off x="2933624" y="3429000"/>
            <a:ext cx="1874520" cy="21488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Generator generates, structures, maps, checks</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Learning Design, SMEs, Multimedia, Accessibility, Development own the decisions</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Design or QA mode</a:t>
            </a:r>
            <a:endParaRPr lang="en-US" sz="1150" dirty="0"/>
          </a:p>
        </p:txBody>
      </p:sp>
      <p:sp>
        <p:nvSpPr>
          <p:cNvPr id="13" name="Shape 11"/>
          <p:cNvSpPr/>
          <p:nvPr/>
        </p:nvSpPr>
        <p:spPr>
          <a:xfrm>
            <a:off x="5044288" y="1325880"/>
            <a:ext cx="2103120" cy="4343400"/>
          </a:xfrm>
          <a:prstGeom prst="roundRect">
            <a:avLst>
              <a:gd name="adj" fmla="val 521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4" name="Text 12"/>
          <p:cNvSpPr txBox="1"/>
          <p:nvPr/>
        </p:nvSpPr>
        <p:spPr>
          <a:xfrm>
            <a:off x="5181448" y="1417320"/>
            <a:ext cx="1828800" cy="914400"/>
          </a:xfrm>
          <a:prstGeom prst="rect">
            <a:avLst/>
          </a:prstGeom>
          <a:noFill/>
          <a:ln/>
        </p:spPr>
        <p:txBody>
          <a:bodyPr wrap="square" lIns="0" tIns="0" rIns="0" bIns="0" rtlCol="0" anchor="ctr"/>
          <a:lstStyle/>
          <a:p>
            <a:pPr algn="ctr" indent="0" marL="0">
              <a:buNone/>
            </a:pPr>
            <a:r>
              <a:rPr lang="en-US" sz="5400" b="1" dirty="0">
                <a:solidFill>
                  <a:srgbClr val="1F7A8C"/>
                </a:solidFill>
                <a:latin typeface="Cambria" pitchFamily="34" charset="0"/>
                <a:ea typeface="Cambria" pitchFamily="34" charset="-122"/>
                <a:cs typeface="Cambria" pitchFamily="34" charset="-120"/>
              </a:rPr>
              <a:t>A</a:t>
            </a:r>
            <a:endParaRPr lang="en-US" sz="5400" dirty="0"/>
          </a:p>
        </p:txBody>
      </p:sp>
      <p:sp>
        <p:nvSpPr>
          <p:cNvPr id="15" name="Text 13"/>
          <p:cNvSpPr txBox="1"/>
          <p:nvPr/>
        </p:nvSpPr>
        <p:spPr>
          <a:xfrm>
            <a:off x="5181448" y="2350008"/>
            <a:ext cx="1828800" cy="365760"/>
          </a:xfrm>
          <a:prstGeom prst="rect">
            <a:avLst/>
          </a:prstGeom>
          <a:noFill/>
          <a:ln/>
        </p:spPr>
        <p:txBody>
          <a:bodyPr wrap="square" lIns="0" tIns="0" rIns="0" bIns="0" rtlCol="0" anchor="t"/>
          <a:lstStyle/>
          <a:p>
            <a:pPr algn="ctr" indent="0" marL="0">
              <a:buNone/>
            </a:pPr>
            <a:r>
              <a:rPr lang="en-US" sz="1600" b="1" dirty="0">
                <a:solidFill>
                  <a:srgbClr val="12303D"/>
                </a:solidFill>
                <a:latin typeface="Calibri" pitchFamily="34" charset="0"/>
                <a:ea typeface="Calibri" pitchFamily="34" charset="-122"/>
                <a:cs typeface="Calibri" pitchFamily="34" charset="-120"/>
              </a:rPr>
              <a:t>Action</a:t>
            </a:r>
            <a:endParaRPr lang="en-US" sz="1600" dirty="0"/>
          </a:p>
        </p:txBody>
      </p:sp>
      <p:sp>
        <p:nvSpPr>
          <p:cNvPr id="16" name="Text 14"/>
          <p:cNvSpPr txBox="1"/>
          <p:nvPr/>
        </p:nvSpPr>
        <p:spPr>
          <a:xfrm>
            <a:off x="5181448" y="2743200"/>
            <a:ext cx="1828800" cy="685800"/>
          </a:xfrm>
          <a:prstGeom prst="rect">
            <a:avLst/>
          </a:prstGeom>
          <a:noFill/>
          <a:ln/>
        </p:spPr>
        <p:txBody>
          <a:bodyPr wrap="square" lIns="0" tIns="0" rIns="0" bIns="0" rtlCol="0" anchor="t"/>
          <a:lstStyle/>
          <a:p>
            <a:pPr algn="ctr" indent="0" marL="0">
              <a:buNone/>
            </a:pPr>
            <a:r>
              <a:rPr lang="en-US" sz="1100" i="1" dirty="0">
                <a:solidFill>
                  <a:srgbClr val="5C6B73"/>
                </a:solidFill>
                <a:latin typeface="Calibri" pitchFamily="34" charset="0"/>
                <a:ea typeface="Calibri" pitchFamily="34" charset="-122"/>
                <a:cs typeface="Calibri" pitchFamily="34" charset="-120"/>
              </a:rPr>
              <a:t>What happens, in what order</a:t>
            </a:r>
            <a:endParaRPr lang="en-US" sz="1100" dirty="0"/>
          </a:p>
        </p:txBody>
      </p:sp>
      <p:sp>
        <p:nvSpPr>
          <p:cNvPr id="17" name="Text 15"/>
          <p:cNvSpPr txBox="1"/>
          <p:nvPr/>
        </p:nvSpPr>
        <p:spPr>
          <a:xfrm>
            <a:off x="5181448" y="3429000"/>
            <a:ext cx="1874520" cy="21488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0 Intake and references</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1 Objectives as job tasks</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2 Verification gate</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3 Architecture</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4 Slide design</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5 Assemble and QA</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6 Adapted prompt</a:t>
            </a:r>
            <a:endParaRPr lang="en-US" sz="1150" dirty="0"/>
          </a:p>
        </p:txBody>
      </p:sp>
      <p:sp>
        <p:nvSpPr>
          <p:cNvPr id="18" name="Shape 16"/>
          <p:cNvSpPr/>
          <p:nvPr/>
        </p:nvSpPr>
        <p:spPr>
          <a:xfrm>
            <a:off x="7292111" y="1325880"/>
            <a:ext cx="2103120" cy="4343400"/>
          </a:xfrm>
          <a:prstGeom prst="roundRect">
            <a:avLst>
              <a:gd name="adj" fmla="val 521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9" name="Text 17"/>
          <p:cNvSpPr txBox="1"/>
          <p:nvPr/>
        </p:nvSpPr>
        <p:spPr>
          <a:xfrm>
            <a:off x="7429271" y="1417320"/>
            <a:ext cx="1828800" cy="914400"/>
          </a:xfrm>
          <a:prstGeom prst="rect">
            <a:avLst/>
          </a:prstGeom>
          <a:noFill/>
          <a:ln/>
        </p:spPr>
        <p:txBody>
          <a:bodyPr wrap="square" lIns="0" tIns="0" rIns="0" bIns="0" rtlCol="0" anchor="ctr"/>
          <a:lstStyle/>
          <a:p>
            <a:pPr algn="ctr" indent="0" marL="0">
              <a:buNone/>
            </a:pPr>
            <a:r>
              <a:rPr lang="en-US" sz="5400" b="1" dirty="0">
                <a:solidFill>
                  <a:srgbClr val="1F7A8C"/>
                </a:solidFill>
                <a:latin typeface="Cambria" pitchFamily="34" charset="0"/>
                <a:ea typeface="Cambria" pitchFamily="34" charset="-122"/>
                <a:cs typeface="Cambria" pitchFamily="34" charset="-120"/>
              </a:rPr>
              <a:t>F</a:t>
            </a:r>
            <a:endParaRPr lang="en-US" sz="5400" dirty="0"/>
          </a:p>
        </p:txBody>
      </p:sp>
      <p:sp>
        <p:nvSpPr>
          <p:cNvPr id="20" name="Text 18"/>
          <p:cNvSpPr txBox="1"/>
          <p:nvPr/>
        </p:nvSpPr>
        <p:spPr>
          <a:xfrm>
            <a:off x="7429271" y="2350008"/>
            <a:ext cx="1828800" cy="365760"/>
          </a:xfrm>
          <a:prstGeom prst="rect">
            <a:avLst/>
          </a:prstGeom>
          <a:noFill/>
          <a:ln/>
        </p:spPr>
        <p:txBody>
          <a:bodyPr wrap="square" lIns="0" tIns="0" rIns="0" bIns="0" rtlCol="0" anchor="t"/>
          <a:lstStyle/>
          <a:p>
            <a:pPr algn="ctr" indent="0" marL="0">
              <a:buNone/>
            </a:pPr>
            <a:r>
              <a:rPr lang="en-US" sz="1600" b="1" dirty="0">
                <a:solidFill>
                  <a:srgbClr val="12303D"/>
                </a:solidFill>
                <a:latin typeface="Calibri" pitchFamily="34" charset="0"/>
                <a:ea typeface="Calibri" pitchFamily="34" charset="-122"/>
                <a:cs typeface="Calibri" pitchFamily="34" charset="-120"/>
              </a:rPr>
              <a:t>Format</a:t>
            </a:r>
            <a:endParaRPr lang="en-US" sz="1600" dirty="0"/>
          </a:p>
        </p:txBody>
      </p:sp>
      <p:sp>
        <p:nvSpPr>
          <p:cNvPr id="21" name="Text 19"/>
          <p:cNvSpPr txBox="1"/>
          <p:nvPr/>
        </p:nvSpPr>
        <p:spPr>
          <a:xfrm>
            <a:off x="7429271" y="2743200"/>
            <a:ext cx="1828800" cy="685800"/>
          </a:xfrm>
          <a:prstGeom prst="rect">
            <a:avLst/>
          </a:prstGeom>
          <a:noFill/>
          <a:ln/>
        </p:spPr>
        <p:txBody>
          <a:bodyPr wrap="square" lIns="0" tIns="0" rIns="0" bIns="0" rtlCol="0" anchor="t"/>
          <a:lstStyle/>
          <a:p>
            <a:pPr algn="ctr" indent="0" marL="0">
              <a:buNone/>
            </a:pPr>
            <a:r>
              <a:rPr lang="en-US" sz="1100" i="1" dirty="0">
                <a:solidFill>
                  <a:srgbClr val="5C6B73"/>
                </a:solidFill>
                <a:latin typeface="Calibri" pitchFamily="34" charset="0"/>
                <a:ea typeface="Calibri" pitchFamily="34" charset="-122"/>
                <a:cs typeface="Calibri" pitchFamily="34" charset="-120"/>
              </a:rPr>
              <a:t>What the deliverable looks like</a:t>
            </a:r>
            <a:endParaRPr lang="en-US" sz="1100" dirty="0"/>
          </a:p>
        </p:txBody>
      </p:sp>
      <p:sp>
        <p:nvSpPr>
          <p:cNvPr id="22" name="Text 20"/>
          <p:cNvSpPr txBox="1"/>
          <p:nvPr/>
        </p:nvSpPr>
        <p:spPr>
          <a:xfrm>
            <a:off x="7429271" y="3429000"/>
            <a:ext cx="1874520" cy="21488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Locked block order</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Word table rules</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Column ownership matrix</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Text, Multimedia, Interaction schemas</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Five interaction modes</a:t>
            </a:r>
            <a:endParaRPr lang="en-US" sz="1150" dirty="0"/>
          </a:p>
        </p:txBody>
      </p:sp>
      <p:sp>
        <p:nvSpPr>
          <p:cNvPr id="23" name="Shape 21"/>
          <p:cNvSpPr/>
          <p:nvPr/>
        </p:nvSpPr>
        <p:spPr>
          <a:xfrm>
            <a:off x="9539935" y="1325880"/>
            <a:ext cx="2103120" cy="4343400"/>
          </a:xfrm>
          <a:prstGeom prst="roundRect">
            <a:avLst>
              <a:gd name="adj" fmla="val 521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4" name="Text 22"/>
          <p:cNvSpPr txBox="1"/>
          <p:nvPr/>
        </p:nvSpPr>
        <p:spPr>
          <a:xfrm>
            <a:off x="9677095" y="1417320"/>
            <a:ext cx="1828800" cy="914400"/>
          </a:xfrm>
          <a:prstGeom prst="rect">
            <a:avLst/>
          </a:prstGeom>
          <a:noFill/>
          <a:ln/>
        </p:spPr>
        <p:txBody>
          <a:bodyPr wrap="square" lIns="0" tIns="0" rIns="0" bIns="0" rtlCol="0" anchor="ctr"/>
          <a:lstStyle/>
          <a:p>
            <a:pPr algn="ctr" indent="0" marL="0">
              <a:buNone/>
            </a:pPr>
            <a:r>
              <a:rPr lang="en-US" sz="5400" b="1" dirty="0">
                <a:solidFill>
                  <a:srgbClr val="1F7A8C"/>
                </a:solidFill>
                <a:latin typeface="Cambria" pitchFamily="34" charset="0"/>
                <a:ea typeface="Cambria" pitchFamily="34" charset="-122"/>
                <a:cs typeface="Cambria" pitchFamily="34" charset="-120"/>
              </a:rPr>
              <a:t>T</a:t>
            </a:r>
            <a:endParaRPr lang="en-US" sz="5400" dirty="0"/>
          </a:p>
        </p:txBody>
      </p:sp>
      <p:sp>
        <p:nvSpPr>
          <p:cNvPr id="25" name="Text 23"/>
          <p:cNvSpPr txBox="1"/>
          <p:nvPr/>
        </p:nvSpPr>
        <p:spPr>
          <a:xfrm>
            <a:off x="9677095" y="2350008"/>
            <a:ext cx="1828800" cy="365760"/>
          </a:xfrm>
          <a:prstGeom prst="rect">
            <a:avLst/>
          </a:prstGeom>
          <a:noFill/>
          <a:ln/>
        </p:spPr>
        <p:txBody>
          <a:bodyPr wrap="square" lIns="0" tIns="0" rIns="0" bIns="0" rtlCol="0" anchor="t"/>
          <a:lstStyle/>
          <a:p>
            <a:pPr algn="ctr" indent="0" marL="0">
              <a:buNone/>
            </a:pPr>
            <a:r>
              <a:rPr lang="en-US" sz="1600" b="1" dirty="0">
                <a:solidFill>
                  <a:srgbClr val="12303D"/>
                </a:solidFill>
                <a:latin typeface="Calibri" pitchFamily="34" charset="0"/>
                <a:ea typeface="Calibri" pitchFamily="34" charset="-122"/>
                <a:cs typeface="Calibri" pitchFamily="34" charset="-120"/>
              </a:rPr>
              <a:t>Tone</a:t>
            </a:r>
            <a:endParaRPr lang="en-US" sz="1600" dirty="0"/>
          </a:p>
        </p:txBody>
      </p:sp>
      <p:sp>
        <p:nvSpPr>
          <p:cNvPr id="26" name="Text 24"/>
          <p:cNvSpPr txBox="1"/>
          <p:nvPr/>
        </p:nvSpPr>
        <p:spPr>
          <a:xfrm>
            <a:off x="9677095" y="2743200"/>
            <a:ext cx="1828800" cy="685800"/>
          </a:xfrm>
          <a:prstGeom prst="rect">
            <a:avLst/>
          </a:prstGeom>
          <a:noFill/>
          <a:ln/>
        </p:spPr>
        <p:txBody>
          <a:bodyPr wrap="square" lIns="0" tIns="0" rIns="0" bIns="0" rtlCol="0" anchor="t"/>
          <a:lstStyle/>
          <a:p>
            <a:pPr algn="ctr" indent="0" marL="0">
              <a:buNone/>
            </a:pPr>
            <a:r>
              <a:rPr lang="en-US" sz="1100" i="1" dirty="0">
                <a:solidFill>
                  <a:srgbClr val="5C6B73"/>
                </a:solidFill>
                <a:latin typeface="Calibri" pitchFamily="34" charset="0"/>
                <a:ea typeface="Calibri" pitchFamily="34" charset="-122"/>
                <a:cs typeface="Calibri" pitchFamily="34" charset="-120"/>
              </a:rPr>
              <a:t>How it reads, and for whom</a:t>
            </a:r>
            <a:endParaRPr lang="en-US" sz="1100" dirty="0"/>
          </a:p>
        </p:txBody>
      </p:sp>
      <p:sp>
        <p:nvSpPr>
          <p:cNvPr id="27" name="Text 25"/>
          <p:cNvSpPr txBox="1"/>
          <p:nvPr/>
        </p:nvSpPr>
        <p:spPr>
          <a:xfrm>
            <a:off x="9677095" y="3429000"/>
            <a:ext cx="1874520" cy="21488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Language and punctuation</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Complete sentences, one term per thing</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Acronyms and cognitive load</a:t>
            </a:r>
            <a:endParaRPr lang="en-US" sz="1150" dirty="0"/>
          </a:p>
          <a:p>
            <a:pPr marL="342900" indent="-342900">
              <a:spcAft>
                <a:spcPts val="400"/>
              </a:spcAft>
              <a:buSzPct val="100000"/>
              <a:buChar char="•"/>
            </a:pPr>
            <a:r>
              <a:rPr lang="en-US" sz="1150" dirty="0">
                <a:solidFill>
                  <a:srgbClr val="1E2A30"/>
                </a:solidFill>
                <a:latin typeface="Calibri" pitchFamily="34" charset="0"/>
                <a:ea typeface="Calibri" pitchFamily="34" charset="-122"/>
                <a:cs typeface="Calibri" pitchFamily="34" charset="-120"/>
              </a:rPr>
              <a:t>Narration placement</a:t>
            </a:r>
            <a:endParaRPr lang="en-US" sz="1150" dirty="0"/>
          </a:p>
        </p:txBody>
      </p:sp>
      <p:sp>
        <p:nvSpPr>
          <p:cNvPr id="28" name="Shape 26"/>
          <p:cNvSpPr/>
          <p:nvPr/>
        </p:nvSpPr>
        <p:spPr>
          <a:xfrm>
            <a:off x="548640" y="5897880"/>
            <a:ext cx="11094415" cy="566928"/>
          </a:xfrm>
          <a:prstGeom prst="roundRect">
            <a:avLst>
              <a:gd name="adj" fmla="val 12903"/>
            </a:avLst>
          </a:prstGeom>
          <a:solidFill>
            <a:srgbClr val="CDE7E3"/>
          </a:solidFill>
          <a:ln w="12700">
            <a:solidFill>
              <a:srgbClr val="CDE7E3"/>
            </a:solidFill>
            <a:prstDash val="solid"/>
          </a:ln>
        </p:spPr>
      </p:sp>
      <p:sp>
        <p:nvSpPr>
          <p:cNvPr id="29" name="Text 27"/>
          <p:cNvSpPr txBox="1"/>
          <p:nvPr/>
        </p:nvSpPr>
        <p:spPr>
          <a:xfrm>
            <a:off x="731520" y="5897880"/>
            <a:ext cx="10728655" cy="566928"/>
          </a:xfrm>
          <a:prstGeom prst="rect">
            <a:avLst/>
          </a:prstGeom>
          <a:noFill/>
          <a:ln/>
        </p:spPr>
        <p:txBody>
          <a:bodyPr wrap="square" lIns="0" tIns="0" rIns="0" bIns="0" rtlCol="0" anchor="ctr"/>
          <a:lstStyle/>
          <a:p>
            <a:pPr algn="ctr" indent="0" marL="0">
              <a:buNone/>
            </a:pPr>
            <a:r>
              <a:rPr lang="en-US" sz="1250" b="1" dirty="0">
                <a:solidFill>
                  <a:srgbClr val="12303D"/>
                </a:solidFill>
                <a:latin typeface="Calibri" pitchFamily="34" charset="0"/>
                <a:ea typeface="Calibri" pitchFamily="34" charset="-122"/>
                <a:cs typeface="Calibri" pitchFamily="34" charset="-120"/>
              </a:rPr>
              <a:t>Wrapped by:  0 Non-negotiables  ·  P Configuration  ·  G Glossary  ·  Q QA table  ·  S Self-check  ·  8 Appendices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C — Context: readers, authority, and gaps</a:t>
            </a:r>
            <a:endParaRPr lang="en-US" sz="2800" dirty="0"/>
          </a:p>
        </p:txBody>
      </p:sp>
      <p:sp>
        <p:nvSpPr>
          <p:cNvPr id="3" name="Shape 1"/>
          <p:cNvSpPr/>
          <p:nvPr/>
        </p:nvSpPr>
        <p:spPr>
          <a:xfrm>
            <a:off x="548640" y="1325880"/>
            <a:ext cx="3520440" cy="5074920"/>
          </a:xfrm>
          <a:prstGeom prst="roundRect">
            <a:avLst>
              <a:gd name="adj" fmla="val 311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4" name="Text 2"/>
          <p:cNvSpPr txBox="1"/>
          <p:nvPr/>
        </p:nvSpPr>
        <p:spPr>
          <a:xfrm>
            <a:off x="777240" y="1508760"/>
            <a:ext cx="3063240" cy="411480"/>
          </a:xfrm>
          <a:prstGeom prst="rect">
            <a:avLst/>
          </a:prstGeom>
          <a:noFill/>
          <a:ln/>
        </p:spPr>
        <p:txBody>
          <a:bodyPr wrap="square" lIns="0" tIns="0" rIns="0" bIns="0" rtlCol="0" anchor="t"/>
          <a:lstStyle/>
          <a:p>
            <a:pPr algn="l" indent="0" marL="0">
              <a:buNone/>
            </a:pPr>
            <a:r>
              <a:rPr lang="en-US" sz="1600" b="1" dirty="0">
                <a:solidFill>
                  <a:srgbClr val="12303D"/>
                </a:solidFill>
                <a:latin typeface="Calibri" pitchFamily="34" charset="0"/>
                <a:ea typeface="Calibri" pitchFamily="34" charset="-122"/>
                <a:cs typeface="Calibri" pitchFamily="34" charset="-120"/>
              </a:rPr>
              <a:t>Three readers</a:t>
            </a:r>
            <a:endParaRPr lang="en-US" sz="1600" dirty="0"/>
          </a:p>
        </p:txBody>
      </p:sp>
      <p:sp>
        <p:nvSpPr>
          <p:cNvPr id="5" name="Shape 3"/>
          <p:cNvSpPr/>
          <p:nvPr/>
        </p:nvSpPr>
        <p:spPr>
          <a:xfrm>
            <a:off x="777240" y="2103120"/>
            <a:ext cx="640080" cy="640080"/>
          </a:xfrm>
          <a:prstGeom prst="ellipse">
            <a:avLst/>
          </a:prstGeom>
          <a:solidFill>
            <a:srgbClr val="1F7A8C"/>
          </a:solidFill>
          <a:ln w="12700">
            <a:solidFill>
              <a:srgbClr val="1F7A8C"/>
            </a:solidFill>
            <a:prstDash val="solid"/>
          </a:ln>
        </p:spPr>
      </p:sp>
      <p:pic>
        <p:nvPicPr>
          <p:cNvPr id="6" name="Image 0" descr="preencoded.png">    </p:cNvPr>
          <p:cNvPicPr>
            <a:picLocks noChangeAspect="1"/>
          </p:cNvPicPr>
          <p:nvPr/>
        </p:nvPicPr>
        <p:blipFill>
          <a:blip r:embed="rId1"/>
          <a:stretch>
            <a:fillRect/>
          </a:stretch>
        </p:blipFill>
        <p:spPr>
          <a:xfrm>
            <a:off x="930859" y="2256739"/>
            <a:ext cx="332842" cy="332842"/>
          </a:xfrm>
          <a:prstGeom prst="rect">
            <a:avLst/>
          </a:prstGeom>
        </p:spPr>
      </p:pic>
      <p:sp>
        <p:nvSpPr>
          <p:cNvPr id="7" name="Text 4"/>
          <p:cNvSpPr txBox="1"/>
          <p:nvPr/>
        </p:nvSpPr>
        <p:spPr>
          <a:xfrm>
            <a:off x="1554480" y="2057400"/>
            <a:ext cx="2286000" cy="1234440"/>
          </a:xfrm>
          <a:prstGeom prst="rect">
            <a:avLst/>
          </a:prstGeom>
          <a:noFill/>
          <a:ln/>
        </p:spPr>
        <p:txBody>
          <a:bodyPr wrap="square" lIns="0" tIns="0" rIns="0" bIns="0" rtlCol="0" anchor="t"/>
          <a:lstStyle/>
          <a:p>
            <a:pPr algn="l" indent="0" marL="0">
              <a:buNone/>
            </a:pPr>
            <a:r>
              <a:rPr lang="en-US" sz="1300" b="1" dirty="0">
                <a:solidFill>
                  <a:srgbClr val="12303D"/>
                </a:solidFill>
                <a:latin typeface="Calibri" pitchFamily="34" charset="0"/>
                <a:ea typeface="Calibri" pitchFamily="34" charset="-122"/>
                <a:cs typeface="Calibri" pitchFamily="34" charset="-120"/>
              </a:rPr>
              <a:t>Learner</a:t>
            </a:r>
            <a:endParaRPr lang="en-US" sz="1300" dirty="0"/>
          </a:p>
          <a:p>
            <a:pPr algn="l" indent="0" marL="0">
              <a:buNone/>
            </a:pPr>
            <a:r>
              <a:rPr lang="en-US" sz="1150" dirty="0">
                <a:solidFill>
                  <a:srgbClr val="1E2A30"/>
                </a:solidFill>
                <a:latin typeface="Calibri" pitchFamily="34" charset="0"/>
                <a:ea typeface="Calibri" pitchFamily="34" charset="-122"/>
                <a:cs typeface="Calibri" pitchFamily="34" charset="-120"/>
              </a:rPr>
              <a:t>must be able to learn from Text Content alone</a:t>
            </a:r>
            <a:endParaRPr lang="en-US" sz="1300" dirty="0"/>
          </a:p>
        </p:txBody>
      </p:sp>
      <p:sp>
        <p:nvSpPr>
          <p:cNvPr id="8" name="Shape 5"/>
          <p:cNvSpPr/>
          <p:nvPr/>
        </p:nvSpPr>
        <p:spPr>
          <a:xfrm>
            <a:off x="777240" y="3474720"/>
            <a:ext cx="640080" cy="640080"/>
          </a:xfrm>
          <a:prstGeom prst="ellipse">
            <a:avLst/>
          </a:prstGeom>
          <a:solidFill>
            <a:srgbClr val="1F7A8C"/>
          </a:solidFill>
          <a:ln w="12700">
            <a:solidFill>
              <a:srgbClr val="1F7A8C"/>
            </a:solidFill>
            <a:prstDash val="solid"/>
          </a:ln>
        </p:spPr>
      </p:sp>
      <p:pic>
        <p:nvPicPr>
          <p:cNvPr id="9" name="Image 1" descr="preencoded.png">    </p:cNvPr>
          <p:cNvPicPr>
            <a:picLocks noChangeAspect="1"/>
          </p:cNvPicPr>
          <p:nvPr/>
        </p:nvPicPr>
        <p:blipFill>
          <a:blip r:embed="rId2"/>
          <a:stretch>
            <a:fillRect/>
          </a:stretch>
        </p:blipFill>
        <p:spPr>
          <a:xfrm>
            <a:off x="930859" y="3628339"/>
            <a:ext cx="332842" cy="332842"/>
          </a:xfrm>
          <a:prstGeom prst="rect">
            <a:avLst/>
          </a:prstGeom>
        </p:spPr>
      </p:pic>
      <p:sp>
        <p:nvSpPr>
          <p:cNvPr id="10" name="Text 6"/>
          <p:cNvSpPr txBox="1"/>
          <p:nvPr/>
        </p:nvSpPr>
        <p:spPr>
          <a:xfrm>
            <a:off x="1554480" y="3429000"/>
            <a:ext cx="2286000" cy="1234440"/>
          </a:xfrm>
          <a:prstGeom prst="rect">
            <a:avLst/>
          </a:prstGeom>
          <a:noFill/>
          <a:ln/>
        </p:spPr>
        <p:txBody>
          <a:bodyPr wrap="square" lIns="0" tIns="0" rIns="0" bIns="0" rtlCol="0" anchor="t"/>
          <a:lstStyle/>
          <a:p>
            <a:pPr algn="l" indent="0" marL="0">
              <a:buNone/>
            </a:pPr>
            <a:r>
              <a:rPr lang="en-US" sz="1300" b="1" dirty="0">
                <a:solidFill>
                  <a:srgbClr val="12303D"/>
                </a:solidFill>
                <a:latin typeface="Calibri" pitchFamily="34" charset="0"/>
                <a:ea typeface="Calibri" pitchFamily="34" charset="-122"/>
                <a:cs typeface="Calibri" pitchFamily="34" charset="-120"/>
              </a:rPr>
              <a:t>Client reviewer and SME</a:t>
            </a:r>
            <a:endParaRPr lang="en-US" sz="1300" dirty="0"/>
          </a:p>
          <a:p>
            <a:pPr algn="l" indent="0" marL="0">
              <a:buNone/>
            </a:pPr>
            <a:r>
              <a:rPr lang="en-US" sz="1150" dirty="0">
                <a:solidFill>
                  <a:srgbClr val="1E2A30"/>
                </a:solidFill>
                <a:latin typeface="Calibri" pitchFamily="34" charset="0"/>
                <a:ea typeface="Calibri" pitchFamily="34" charset="-122"/>
                <a:cs typeface="Calibri" pitchFamily="34" charset="-120"/>
              </a:rPr>
              <a:t>must understand every row on one reading, without the sources beside them</a:t>
            </a:r>
            <a:endParaRPr lang="en-US" sz="1300" dirty="0"/>
          </a:p>
        </p:txBody>
      </p:sp>
      <p:sp>
        <p:nvSpPr>
          <p:cNvPr id="11" name="Shape 7"/>
          <p:cNvSpPr/>
          <p:nvPr/>
        </p:nvSpPr>
        <p:spPr>
          <a:xfrm>
            <a:off x="777240" y="4846320"/>
            <a:ext cx="640080" cy="640080"/>
          </a:xfrm>
          <a:prstGeom prst="ellipse">
            <a:avLst/>
          </a:prstGeom>
          <a:solidFill>
            <a:srgbClr val="1F7A8C"/>
          </a:solidFill>
          <a:ln w="12700">
            <a:solidFill>
              <a:srgbClr val="1F7A8C"/>
            </a:solidFill>
            <a:prstDash val="solid"/>
          </a:ln>
        </p:spPr>
      </p:sp>
      <p:pic>
        <p:nvPicPr>
          <p:cNvPr id="12" name="Image 2" descr="preencoded.png">    </p:cNvPr>
          <p:cNvPicPr>
            <a:picLocks noChangeAspect="1"/>
          </p:cNvPicPr>
          <p:nvPr/>
        </p:nvPicPr>
        <p:blipFill>
          <a:blip r:embed="rId3"/>
          <a:stretch>
            <a:fillRect/>
          </a:stretch>
        </p:blipFill>
        <p:spPr>
          <a:xfrm>
            <a:off x="930859" y="4999939"/>
            <a:ext cx="332842" cy="332842"/>
          </a:xfrm>
          <a:prstGeom prst="rect">
            <a:avLst/>
          </a:prstGeom>
        </p:spPr>
      </p:pic>
      <p:sp>
        <p:nvSpPr>
          <p:cNvPr id="13" name="Text 8"/>
          <p:cNvSpPr txBox="1"/>
          <p:nvPr/>
        </p:nvSpPr>
        <p:spPr>
          <a:xfrm>
            <a:off x="1554480" y="4800600"/>
            <a:ext cx="2286000" cy="1234440"/>
          </a:xfrm>
          <a:prstGeom prst="rect">
            <a:avLst/>
          </a:prstGeom>
          <a:noFill/>
          <a:ln/>
        </p:spPr>
        <p:txBody>
          <a:bodyPr wrap="square" lIns="0" tIns="0" rIns="0" bIns="0" rtlCol="0" anchor="t"/>
          <a:lstStyle/>
          <a:p>
            <a:pPr algn="l" indent="0" marL="0">
              <a:buNone/>
            </a:pPr>
            <a:r>
              <a:rPr lang="en-US" sz="1300" b="1" dirty="0">
                <a:solidFill>
                  <a:srgbClr val="12303D"/>
                </a:solidFill>
                <a:latin typeface="Calibri" pitchFamily="34" charset="0"/>
                <a:ea typeface="Calibri" pitchFamily="34" charset="-122"/>
                <a:cs typeface="Calibri" pitchFamily="34" charset="-120"/>
              </a:rPr>
              <a:t>Developer</a:t>
            </a:r>
            <a:endParaRPr lang="en-US" sz="1300" dirty="0"/>
          </a:p>
          <a:p>
            <a:pPr algn="l" indent="0" marL="0">
              <a:buNone/>
            </a:pPr>
            <a:r>
              <a:rPr lang="en-US" sz="1150" dirty="0">
                <a:solidFill>
                  <a:srgbClr val="1E2A30"/>
                </a:solidFill>
                <a:latin typeface="Calibri" pitchFamily="34" charset="0"/>
                <a:ea typeface="Calibri" pitchFamily="34" charset="-122"/>
                <a:cs typeface="Calibri" pitchFamily="34" charset="-120"/>
              </a:rPr>
              <a:t>builds from Multimedia and Interaction and needs nothing the standard already gives</a:t>
            </a:r>
            <a:endParaRPr lang="en-US" sz="1300" dirty="0"/>
          </a:p>
        </p:txBody>
      </p:sp>
      <p:sp>
        <p:nvSpPr>
          <p:cNvPr id="14" name="Shape 9"/>
          <p:cNvSpPr/>
          <p:nvPr/>
        </p:nvSpPr>
        <p:spPr>
          <a:xfrm>
            <a:off x="4335628" y="1325880"/>
            <a:ext cx="3520440" cy="5074920"/>
          </a:xfrm>
          <a:prstGeom prst="roundRect">
            <a:avLst>
              <a:gd name="adj" fmla="val 311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5" name="Text 10"/>
          <p:cNvSpPr txBox="1"/>
          <p:nvPr/>
        </p:nvSpPr>
        <p:spPr>
          <a:xfrm>
            <a:off x="4564228" y="1508760"/>
            <a:ext cx="3063240" cy="411480"/>
          </a:xfrm>
          <a:prstGeom prst="rect">
            <a:avLst/>
          </a:prstGeom>
          <a:noFill/>
          <a:ln/>
        </p:spPr>
        <p:txBody>
          <a:bodyPr wrap="square" lIns="0" tIns="0" rIns="0" bIns="0" rtlCol="0" anchor="t"/>
          <a:lstStyle/>
          <a:p>
            <a:pPr algn="l" indent="0" marL="0">
              <a:buNone/>
            </a:pPr>
            <a:r>
              <a:rPr lang="en-US" sz="1600" b="1" dirty="0">
                <a:solidFill>
                  <a:srgbClr val="12303D"/>
                </a:solidFill>
                <a:latin typeface="Calibri" pitchFamily="34" charset="0"/>
                <a:ea typeface="Calibri" pitchFamily="34" charset="-122"/>
                <a:cs typeface="Calibri" pitchFamily="34" charset="-120"/>
              </a:rPr>
              <a:t>Authority: level 1 wins</a:t>
            </a:r>
            <a:endParaRPr lang="en-US" sz="1600" dirty="0"/>
          </a:p>
        </p:txBody>
      </p:sp>
      <p:sp>
        <p:nvSpPr>
          <p:cNvPr id="16" name="Text 11"/>
          <p:cNvSpPr txBox="1"/>
          <p:nvPr/>
        </p:nvSpPr>
        <p:spPr>
          <a:xfrm>
            <a:off x="4564228" y="2057400"/>
            <a:ext cx="3063240" cy="4206240"/>
          </a:xfrm>
          <a:prstGeom prst="rect">
            <a:avLst/>
          </a:prstGeom>
          <a:noFill/>
          <a:ln/>
        </p:spPr>
        <p:txBody>
          <a:bodyPr wrap="square" lIns="0" tIns="0" rIns="0" bIns="0" rtlCol="0" anchor="t"/>
          <a:lstStyle/>
          <a:p>
            <a:pPr indent="0" marL="0">
              <a:spcAft>
                <a:spcPts val="500"/>
              </a:spcAft>
              <a:buNone/>
            </a:pPr>
            <a:r>
              <a:rPr lang="en-US" sz="1150" dirty="0">
                <a:solidFill>
                  <a:srgbClr val="1E2A30"/>
                </a:solidFill>
                <a:latin typeface="Calibri" pitchFamily="34" charset="0"/>
                <a:ea typeface="Calibri" pitchFamily="34" charset="-122"/>
                <a:cs typeface="Calibri" pitchFamily="34" charset="-120"/>
              </a:rPr>
              <a:t>1.  Client decisions and project requirements</a:t>
            </a:r>
            <a:endParaRPr lang="en-US" sz="1150" dirty="0"/>
          </a:p>
          <a:p>
            <a:pPr indent="0" marL="0">
              <a:spcAft>
                <a:spcPts val="500"/>
              </a:spcAft>
              <a:buNone/>
            </a:pPr>
            <a:r>
              <a:rPr lang="en-US" sz="1150" dirty="0">
                <a:solidFill>
                  <a:srgbClr val="1E2A30"/>
                </a:solidFill>
                <a:latin typeface="Calibri" pitchFamily="34" charset="0"/>
                <a:ea typeface="Calibri" pitchFamily="34" charset="-122"/>
                <a:cs typeface="Calibri" pitchFamily="34" charset="-120"/>
              </a:rPr>
              <a:t>2.  Signed-off HLDD, template, style, assessment, accessibility plans</a:t>
            </a:r>
            <a:endParaRPr lang="en-US" sz="1150" dirty="0"/>
          </a:p>
          <a:p>
            <a:pPr indent="0" marL="0">
              <a:spcAft>
                <a:spcPts val="500"/>
              </a:spcAft>
              <a:buNone/>
            </a:pPr>
            <a:r>
              <a:rPr lang="en-US" sz="1150" dirty="0">
                <a:solidFill>
                  <a:srgbClr val="1E2A30"/>
                </a:solidFill>
                <a:latin typeface="Calibri" pitchFamily="34" charset="0"/>
                <a:ea typeface="Calibri" pitchFamily="34" charset="-122"/>
                <a:cs typeface="Calibri" pitchFamily="34" charset="-120"/>
              </a:rPr>
              <a:t>3.  Organizational product standards</a:t>
            </a:r>
            <a:endParaRPr lang="en-US" sz="1150" dirty="0"/>
          </a:p>
          <a:p>
            <a:pPr indent="0" marL="0">
              <a:spcAft>
                <a:spcPts val="500"/>
              </a:spcAft>
              <a:buNone/>
            </a:pPr>
            <a:r>
              <a:rPr lang="en-US" sz="1150" dirty="0">
                <a:solidFill>
                  <a:srgbClr val="1E2A30"/>
                </a:solidFill>
                <a:latin typeface="Calibri" pitchFamily="34" charset="0"/>
                <a:ea typeface="Calibri" pitchFamily="34" charset="-122"/>
                <a:cs typeface="Calibri" pitchFamily="34" charset="-120"/>
              </a:rPr>
              <a:t>4.  Approved QC checklists</a:t>
            </a:r>
            <a:endParaRPr lang="en-US" sz="1150" dirty="0"/>
          </a:p>
          <a:p>
            <a:pPr indent="0" marL="0">
              <a:spcAft>
                <a:spcPts val="500"/>
              </a:spcAft>
              <a:buNone/>
            </a:pPr>
            <a:r>
              <a:rPr lang="en-US" sz="1150" dirty="0">
                <a:solidFill>
                  <a:srgbClr val="1E2A30"/>
                </a:solidFill>
                <a:latin typeface="Calibri" pitchFamily="34" charset="0"/>
                <a:ea typeface="Calibri" pitchFamily="34" charset="-122"/>
                <a:cs typeface="Calibri" pitchFamily="34" charset="-120"/>
              </a:rPr>
              <a:t>5.  Approved Interaction Requirements Library</a:t>
            </a:r>
            <a:endParaRPr lang="en-US" sz="1150" dirty="0"/>
          </a:p>
          <a:p>
            <a:pPr indent="0" marL="0">
              <a:spcAft>
                <a:spcPts val="500"/>
              </a:spcAft>
              <a:buNone/>
            </a:pPr>
            <a:r>
              <a:rPr lang="en-US" sz="1150" dirty="0">
                <a:solidFill>
                  <a:srgbClr val="1E2A30"/>
                </a:solidFill>
                <a:latin typeface="Calibri" pitchFamily="34" charset="0"/>
                <a:ea typeface="Calibri" pitchFamily="34" charset="-122"/>
                <a:cs typeface="Calibri" pitchFamily="34" charset="-120"/>
              </a:rPr>
              <a:t>6.  Component, icon, and stock references</a:t>
            </a:r>
            <a:endParaRPr lang="en-US" sz="1150" dirty="0"/>
          </a:p>
          <a:p>
            <a:pPr indent="0" marL="0">
              <a:spcAft>
                <a:spcPts val="500"/>
              </a:spcAft>
              <a:buNone/>
            </a:pPr>
            <a:r>
              <a:rPr lang="en-US" sz="1150" dirty="0">
                <a:solidFill>
                  <a:srgbClr val="1E2A30"/>
                </a:solidFill>
                <a:latin typeface="Calibri" pitchFamily="34" charset="0"/>
                <a:ea typeface="Calibri" pitchFamily="34" charset="-122"/>
                <a:cs typeface="Calibri" pitchFamily="34" charset="-120"/>
              </a:rPr>
              <a:t>7.  Development-validated defaults</a:t>
            </a:r>
            <a:endParaRPr lang="en-US" sz="1150" dirty="0"/>
          </a:p>
          <a:p>
            <a:pPr indent="0" marL="0">
              <a:spcAft>
                <a:spcPts val="500"/>
              </a:spcAft>
              <a:buNone/>
            </a:pPr>
            <a:r>
              <a:rPr lang="en-US" sz="1150" dirty="0">
                <a:solidFill>
                  <a:srgbClr val="1E2A30"/>
                </a:solidFill>
                <a:latin typeface="Calibri" pitchFamily="34" charset="0"/>
                <a:ea typeface="Calibri" pitchFamily="34" charset="-122"/>
                <a:cs typeface="Calibri" pitchFamily="34" charset="-120"/>
              </a:rPr>
              <a:t>8.  Accepted storyboard examples</a:t>
            </a:r>
            <a:endParaRPr lang="en-US" sz="1150" dirty="0"/>
          </a:p>
          <a:p>
            <a:pPr indent="0" marL="0">
              <a:spcAft>
                <a:spcPts val="500"/>
              </a:spcAft>
              <a:buNone/>
            </a:pPr>
            <a:r>
              <a:rPr lang="en-US" sz="1150" dirty="0">
                <a:solidFill>
                  <a:srgbClr val="1E2A30"/>
                </a:solidFill>
                <a:latin typeface="Calibri" pitchFamily="34" charset="0"/>
                <a:ea typeface="Calibri" pitchFamily="34" charset="-122"/>
                <a:cs typeface="Calibri" pitchFamily="34" charset="-120"/>
              </a:rPr>
              <a:t>9.  General design and accessibility practice</a:t>
            </a:r>
            <a:endParaRPr lang="en-US" sz="1150" dirty="0"/>
          </a:p>
        </p:txBody>
      </p:sp>
      <p:sp>
        <p:nvSpPr>
          <p:cNvPr id="17" name="Shape 12"/>
          <p:cNvSpPr/>
          <p:nvPr/>
        </p:nvSpPr>
        <p:spPr>
          <a:xfrm>
            <a:off x="8122615" y="1325880"/>
            <a:ext cx="3520440" cy="5074920"/>
          </a:xfrm>
          <a:prstGeom prst="roundRect">
            <a:avLst>
              <a:gd name="adj" fmla="val 311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8" name="Text 13"/>
          <p:cNvSpPr txBox="1"/>
          <p:nvPr/>
        </p:nvSpPr>
        <p:spPr>
          <a:xfrm>
            <a:off x="8351215" y="1508760"/>
            <a:ext cx="3063240" cy="411480"/>
          </a:xfrm>
          <a:prstGeom prst="rect">
            <a:avLst/>
          </a:prstGeom>
          <a:noFill/>
          <a:ln/>
        </p:spPr>
        <p:txBody>
          <a:bodyPr wrap="square" lIns="0" tIns="0" rIns="0" bIns="0" rtlCol="0" anchor="t"/>
          <a:lstStyle/>
          <a:p>
            <a:pPr algn="l" indent="0" marL="0">
              <a:buNone/>
            </a:pPr>
            <a:r>
              <a:rPr lang="en-US" sz="1600" b="1" dirty="0">
                <a:solidFill>
                  <a:srgbClr val="12303D"/>
                </a:solidFill>
                <a:latin typeface="Calibri" pitchFamily="34" charset="0"/>
                <a:ea typeface="Calibri" pitchFamily="34" charset="-122"/>
                <a:cs typeface="Calibri" pitchFamily="34" charset="-120"/>
              </a:rPr>
              <a:t>Gap decision tree</a:t>
            </a:r>
            <a:endParaRPr lang="en-US" sz="1600" dirty="0"/>
          </a:p>
        </p:txBody>
      </p:sp>
      <p:sp>
        <p:nvSpPr>
          <p:cNvPr id="19" name="Shape 14"/>
          <p:cNvSpPr/>
          <p:nvPr/>
        </p:nvSpPr>
        <p:spPr>
          <a:xfrm>
            <a:off x="8396935" y="2057400"/>
            <a:ext cx="2971800" cy="640080"/>
          </a:xfrm>
          <a:prstGeom prst="roundRect">
            <a:avLst>
              <a:gd name="adj" fmla="val 11429"/>
            </a:avLst>
          </a:prstGeom>
          <a:solidFill>
            <a:srgbClr val="12303D"/>
          </a:solidFill>
          <a:ln w="12700">
            <a:solidFill>
              <a:srgbClr val="12303D"/>
            </a:solidFill>
            <a:prstDash val="solid"/>
          </a:ln>
        </p:spPr>
      </p:sp>
      <p:sp>
        <p:nvSpPr>
          <p:cNvPr id="20" name="Text 15"/>
          <p:cNvSpPr txBox="1"/>
          <p:nvPr/>
        </p:nvSpPr>
        <p:spPr>
          <a:xfrm>
            <a:off x="8488375" y="2057400"/>
            <a:ext cx="278892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Missing or contradictory item</a:t>
            </a:r>
            <a:endParaRPr lang="en-US" sz="1250" dirty="0"/>
          </a:p>
        </p:txBody>
      </p:sp>
      <p:sp>
        <p:nvSpPr>
          <p:cNvPr id="21" name="Shape 16"/>
          <p:cNvSpPr/>
          <p:nvPr/>
        </p:nvSpPr>
        <p:spPr>
          <a:xfrm>
            <a:off x="9745675" y="2697480"/>
            <a:ext cx="274320" cy="201168"/>
          </a:xfrm>
          <a:prstGeom prst="downArrow">
            <a:avLst/>
          </a:prstGeom>
          <a:solidFill>
            <a:srgbClr val="5C6B73"/>
          </a:solidFill>
          <a:ln w="12700">
            <a:solidFill>
              <a:srgbClr val="5C6B73"/>
            </a:solidFill>
            <a:prstDash val="solid"/>
          </a:ln>
        </p:spPr>
      </p:sp>
      <p:sp>
        <p:nvSpPr>
          <p:cNvPr id="22" name="Shape 17"/>
          <p:cNvSpPr/>
          <p:nvPr/>
        </p:nvSpPr>
        <p:spPr>
          <a:xfrm>
            <a:off x="8396935" y="2926080"/>
            <a:ext cx="2971800" cy="914400"/>
          </a:xfrm>
          <a:prstGeom prst="roundRect">
            <a:avLst>
              <a:gd name="adj" fmla="val 8000"/>
            </a:avLst>
          </a:prstGeom>
          <a:solidFill>
            <a:srgbClr val="D64545"/>
          </a:solidFill>
          <a:ln w="12700">
            <a:solidFill>
              <a:srgbClr val="D64545"/>
            </a:solidFill>
            <a:prstDash val="solid"/>
          </a:ln>
        </p:spPr>
      </p:sp>
      <p:sp>
        <p:nvSpPr>
          <p:cNvPr id="23" name="Text 18"/>
          <p:cNvSpPr txBox="1"/>
          <p:nvPr/>
        </p:nvSpPr>
        <p:spPr>
          <a:xfrm>
            <a:off x="8534095" y="2999232"/>
            <a:ext cx="2697480" cy="804672"/>
          </a:xfrm>
          <a:prstGeom prst="rect">
            <a:avLst/>
          </a:prstGeom>
          <a:noFill/>
          <a:ln/>
        </p:spPr>
        <p:txBody>
          <a:bodyPr wrap="square" lIns="0" tIns="0" rIns="0" bIns="0" rtlCol="0" anchor="t"/>
          <a:lstStyle/>
          <a:p>
            <a:pPr algn="l" indent="0" marL="0">
              <a:buNone/>
            </a:pPr>
            <a:r>
              <a:rPr lang="en-US" sz="1250" b="1" dirty="0">
                <a:solidFill>
                  <a:srgbClr val="FFFFFF"/>
                </a:solidFill>
                <a:latin typeface="Calibri" pitchFamily="34" charset="0"/>
                <a:ea typeface="Calibri" pitchFamily="34" charset="-122"/>
                <a:cs typeface="Calibri" pitchFamily="34" charset="-120"/>
              </a:rPr>
              <a:t>Critical</a:t>
            </a:r>
            <a:endParaRPr lang="en-US" sz="1300" dirty="0"/>
          </a:p>
          <a:p>
            <a:pPr algn="l" indent="0" marL="0">
              <a:buNone/>
            </a:pPr>
            <a:r>
              <a:rPr lang="en-US" sz="1050" dirty="0">
                <a:solidFill>
                  <a:srgbClr val="FFFFFF"/>
                </a:solidFill>
                <a:latin typeface="Calibri" pitchFamily="34" charset="0"/>
                <a:ea typeface="Calibri" pitchFamily="34" charset="-122"/>
                <a:cs typeface="Calibri" pitchFamily="34" charset="-120"/>
              </a:rPr>
              <a:t>No source-faithful output is possible. Stop and ask the user one question.</a:t>
            </a:r>
            <a:endParaRPr lang="en-US" sz="1300" dirty="0"/>
          </a:p>
        </p:txBody>
      </p:sp>
      <p:sp>
        <p:nvSpPr>
          <p:cNvPr id="24" name="Shape 19"/>
          <p:cNvSpPr/>
          <p:nvPr/>
        </p:nvSpPr>
        <p:spPr>
          <a:xfrm>
            <a:off x="9745675" y="3840480"/>
            <a:ext cx="274320" cy="201168"/>
          </a:xfrm>
          <a:prstGeom prst="downArrow">
            <a:avLst/>
          </a:prstGeom>
          <a:solidFill>
            <a:srgbClr val="5C6B73"/>
          </a:solidFill>
          <a:ln w="12700">
            <a:solidFill>
              <a:srgbClr val="5C6B73"/>
            </a:solidFill>
            <a:prstDash val="solid"/>
          </a:ln>
        </p:spPr>
      </p:sp>
      <p:sp>
        <p:nvSpPr>
          <p:cNvPr id="25" name="Shape 20"/>
          <p:cNvSpPr/>
          <p:nvPr/>
        </p:nvSpPr>
        <p:spPr>
          <a:xfrm>
            <a:off x="8396935" y="4069080"/>
            <a:ext cx="2971800" cy="914400"/>
          </a:xfrm>
          <a:prstGeom prst="roundRect">
            <a:avLst>
              <a:gd name="adj" fmla="val 8000"/>
            </a:avLst>
          </a:prstGeom>
          <a:solidFill>
            <a:srgbClr val="F0A202"/>
          </a:solidFill>
          <a:ln w="12700">
            <a:solidFill>
              <a:srgbClr val="F0A202"/>
            </a:solidFill>
            <a:prstDash val="solid"/>
          </a:ln>
        </p:spPr>
      </p:sp>
      <p:sp>
        <p:nvSpPr>
          <p:cNvPr id="26" name="Text 21"/>
          <p:cNvSpPr txBox="1"/>
          <p:nvPr/>
        </p:nvSpPr>
        <p:spPr>
          <a:xfrm>
            <a:off x="8534095" y="4142232"/>
            <a:ext cx="2697480" cy="804672"/>
          </a:xfrm>
          <a:prstGeom prst="rect">
            <a:avLst/>
          </a:prstGeom>
          <a:noFill/>
          <a:ln/>
        </p:spPr>
        <p:txBody>
          <a:bodyPr wrap="square" lIns="0" tIns="0" rIns="0" bIns="0" rtlCol="0" anchor="t"/>
          <a:lstStyle/>
          <a:p>
            <a:pPr algn="l" indent="0" marL="0">
              <a:buNone/>
            </a:pPr>
            <a:r>
              <a:rPr lang="en-US" sz="1250" b="1" dirty="0">
                <a:solidFill>
                  <a:srgbClr val="12303D"/>
                </a:solidFill>
                <a:latin typeface="Calibri" pitchFamily="34" charset="0"/>
                <a:ea typeface="Calibri" pitchFamily="34" charset="-122"/>
                <a:cs typeface="Calibri" pitchFamily="34" charset="-120"/>
              </a:rPr>
              <a:t>Blocking</a:t>
            </a:r>
            <a:endParaRPr lang="en-US" sz="1300" dirty="0"/>
          </a:p>
          <a:p>
            <a:pPr algn="l" indent="0" marL="0">
              <a:buNone/>
            </a:pPr>
            <a:r>
              <a:rPr lang="en-US" sz="1050" dirty="0">
                <a:solidFill>
                  <a:srgbClr val="12303D"/>
                </a:solidFill>
                <a:latin typeface="Calibri" pitchFamily="34" charset="0"/>
                <a:ea typeface="Calibri" pitchFamily="34" charset="-122"/>
                <a:cs typeface="Calibri" pitchFamily="34" charset="-120"/>
              </a:rPr>
              <a:t>A developer would build it wrong. Keep the row, one owner marker in the cell, row Blocked.</a:t>
            </a:r>
            <a:endParaRPr lang="en-US" sz="1300" dirty="0"/>
          </a:p>
        </p:txBody>
      </p:sp>
      <p:sp>
        <p:nvSpPr>
          <p:cNvPr id="27" name="Shape 22"/>
          <p:cNvSpPr/>
          <p:nvPr/>
        </p:nvSpPr>
        <p:spPr>
          <a:xfrm>
            <a:off x="9745675" y="4983480"/>
            <a:ext cx="274320" cy="201168"/>
          </a:xfrm>
          <a:prstGeom prst="downArrow">
            <a:avLst/>
          </a:prstGeom>
          <a:solidFill>
            <a:srgbClr val="5C6B73"/>
          </a:solidFill>
          <a:ln w="12700">
            <a:solidFill>
              <a:srgbClr val="5C6B73"/>
            </a:solidFill>
            <a:prstDash val="solid"/>
          </a:ln>
        </p:spPr>
      </p:sp>
      <p:sp>
        <p:nvSpPr>
          <p:cNvPr id="28" name="Shape 23"/>
          <p:cNvSpPr/>
          <p:nvPr/>
        </p:nvSpPr>
        <p:spPr>
          <a:xfrm>
            <a:off x="8396935" y="5212080"/>
            <a:ext cx="2971800" cy="914400"/>
          </a:xfrm>
          <a:prstGeom prst="roundRect">
            <a:avLst>
              <a:gd name="adj" fmla="val 8000"/>
            </a:avLst>
          </a:prstGeom>
          <a:solidFill>
            <a:srgbClr val="1F7A8C"/>
          </a:solidFill>
          <a:ln w="12700">
            <a:solidFill>
              <a:srgbClr val="1F7A8C"/>
            </a:solidFill>
            <a:prstDash val="solid"/>
          </a:ln>
        </p:spPr>
      </p:sp>
      <p:sp>
        <p:nvSpPr>
          <p:cNvPr id="29" name="Text 24"/>
          <p:cNvSpPr txBox="1"/>
          <p:nvPr/>
        </p:nvSpPr>
        <p:spPr>
          <a:xfrm>
            <a:off x="8534095" y="5285232"/>
            <a:ext cx="2697480" cy="804672"/>
          </a:xfrm>
          <a:prstGeom prst="rect">
            <a:avLst/>
          </a:prstGeom>
          <a:noFill/>
          <a:ln/>
        </p:spPr>
        <p:txBody>
          <a:bodyPr wrap="square" lIns="0" tIns="0" rIns="0" bIns="0" rtlCol="0" anchor="t"/>
          <a:lstStyle/>
          <a:p>
            <a:pPr algn="l" indent="0" marL="0">
              <a:buNone/>
            </a:pPr>
            <a:r>
              <a:rPr lang="en-US" sz="1250" b="1" dirty="0">
                <a:solidFill>
                  <a:srgbClr val="FFFFFF"/>
                </a:solidFill>
                <a:latin typeface="Calibri" pitchFamily="34" charset="0"/>
                <a:ea typeface="Calibri" pitchFamily="34" charset="-122"/>
                <a:cs typeface="Calibri" pitchFamily="34" charset="-120"/>
              </a:rPr>
              <a:t>Non-blocking</a:t>
            </a:r>
            <a:endParaRPr lang="en-US" sz="1300" dirty="0"/>
          </a:p>
          <a:p>
            <a:pPr algn="l" indent="0" marL="0">
              <a:buNone/>
            </a:pPr>
            <a:r>
              <a:rPr lang="en-US" sz="1050" dirty="0">
                <a:solidFill>
                  <a:srgbClr val="FFFFFF"/>
                </a:solidFill>
                <a:latin typeface="Calibri" pitchFamily="34" charset="0"/>
                <a:ea typeface="Calibri" pitchFamily="34" charset="-122"/>
                <a:cs typeface="Calibri" pitchFamily="34" charset="-120"/>
              </a:rPr>
              <a:t>Everything else. Recorded in the internal artifact only.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R — Role: the generator drafts, people decide</a:t>
            </a:r>
            <a:endParaRPr lang="en-US" sz="2800" dirty="0"/>
          </a:p>
        </p:txBody>
      </p:sp>
      <p:sp>
        <p:nvSpPr>
          <p:cNvPr id="3" name="Shape 1"/>
          <p:cNvSpPr/>
          <p:nvPr/>
        </p:nvSpPr>
        <p:spPr>
          <a:xfrm>
            <a:off x="548640" y="1325880"/>
            <a:ext cx="3429000" cy="2148840"/>
          </a:xfrm>
          <a:prstGeom prst="roundRect">
            <a:avLst>
              <a:gd name="adj" fmla="val 5106"/>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4" name="Shape 2"/>
          <p:cNvSpPr/>
          <p:nvPr/>
        </p:nvSpPr>
        <p:spPr>
          <a:xfrm>
            <a:off x="777240" y="1554480"/>
            <a:ext cx="640080" cy="640080"/>
          </a:xfrm>
          <a:prstGeom prst="ellipse">
            <a:avLst/>
          </a:prstGeom>
          <a:solidFill>
            <a:srgbClr val="F0A202"/>
          </a:solidFill>
          <a:ln w="12700">
            <a:solidFill>
              <a:srgbClr val="F0A202"/>
            </a:solidFill>
            <a:prstDash val="solid"/>
          </a:ln>
        </p:spPr>
      </p:sp>
      <p:pic>
        <p:nvPicPr>
          <p:cNvPr id="5" name="Image 0" descr="preencoded.png">    </p:cNvPr>
          <p:cNvPicPr>
            <a:picLocks noChangeAspect="1"/>
          </p:cNvPicPr>
          <p:nvPr/>
        </p:nvPicPr>
        <p:blipFill>
          <a:blip r:embed="rId1"/>
          <a:stretch>
            <a:fillRect/>
          </a:stretch>
        </p:blipFill>
        <p:spPr>
          <a:xfrm>
            <a:off x="930859" y="1708099"/>
            <a:ext cx="332842" cy="332842"/>
          </a:xfrm>
          <a:prstGeom prst="rect">
            <a:avLst/>
          </a:prstGeom>
        </p:spPr>
      </p:pic>
      <p:sp>
        <p:nvSpPr>
          <p:cNvPr id="6" name="Text 3"/>
          <p:cNvSpPr txBox="1"/>
          <p:nvPr/>
        </p:nvSpPr>
        <p:spPr>
          <a:xfrm>
            <a:off x="1554480" y="158191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Generator</a:t>
            </a:r>
            <a:endParaRPr lang="en-US" sz="1600" dirty="0"/>
          </a:p>
        </p:txBody>
      </p:sp>
      <p:sp>
        <p:nvSpPr>
          <p:cNvPr id="7" name="Text 4"/>
          <p:cNvSpPr txBox="1"/>
          <p:nvPr/>
        </p:nvSpPr>
        <p:spPr>
          <a:xfrm>
            <a:off x="777240" y="2286000"/>
            <a:ext cx="2971800" cy="1097280"/>
          </a:xfrm>
          <a:prstGeom prst="rect">
            <a:avLst/>
          </a:prstGeom>
          <a:noFill/>
          <a:ln/>
        </p:spPr>
        <p:txBody>
          <a:bodyPr wrap="square" lIns="0" tIns="0" rIns="0" bIns="0" rtlCol="0" anchor="t"/>
          <a:lstStyle/>
          <a:p>
            <a:pPr algn="l" indent="0" marL="0">
              <a:buNone/>
            </a:pPr>
            <a:r>
              <a:rPr lang="en-US" sz="1200" dirty="0">
                <a:solidFill>
                  <a:srgbClr val="1E2A30"/>
                </a:solidFill>
                <a:latin typeface="Calibri" pitchFamily="34" charset="0"/>
                <a:ea typeface="Calibri" pitchFamily="34" charset="-122"/>
                <a:cs typeface="Calibri" pitchFamily="34" charset="-120"/>
              </a:rPr>
              <a:t>Generates, structures, maps, and checks. It never decides purpose, accuracy, or feasibility on its own.</a:t>
            </a:r>
            <a:endParaRPr lang="en-US" sz="1200" dirty="0"/>
          </a:p>
        </p:txBody>
      </p:sp>
      <p:sp>
        <p:nvSpPr>
          <p:cNvPr id="8" name="Shape 5"/>
          <p:cNvSpPr/>
          <p:nvPr/>
        </p:nvSpPr>
        <p:spPr>
          <a:xfrm>
            <a:off x="4381348" y="1325880"/>
            <a:ext cx="3429000" cy="2148840"/>
          </a:xfrm>
          <a:prstGeom prst="roundRect">
            <a:avLst>
              <a:gd name="adj" fmla="val 5106"/>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9" name="Shape 6"/>
          <p:cNvSpPr/>
          <p:nvPr/>
        </p:nvSpPr>
        <p:spPr>
          <a:xfrm>
            <a:off x="4609948" y="1554480"/>
            <a:ext cx="640080" cy="640080"/>
          </a:xfrm>
          <a:prstGeom prst="ellipse">
            <a:avLst/>
          </a:prstGeom>
          <a:solidFill>
            <a:srgbClr val="1F7A8C"/>
          </a:solidFill>
          <a:ln w="12700">
            <a:solidFill>
              <a:srgbClr val="1F7A8C"/>
            </a:solidFill>
            <a:prstDash val="solid"/>
          </a:ln>
        </p:spPr>
      </p:sp>
      <p:pic>
        <p:nvPicPr>
          <p:cNvPr id="10" name="Image 1" descr="preencoded.png">    </p:cNvPr>
          <p:cNvPicPr>
            <a:picLocks noChangeAspect="1"/>
          </p:cNvPicPr>
          <p:nvPr/>
        </p:nvPicPr>
        <p:blipFill>
          <a:blip r:embed="rId2"/>
          <a:stretch>
            <a:fillRect/>
          </a:stretch>
        </p:blipFill>
        <p:spPr>
          <a:xfrm>
            <a:off x="4763567" y="1708099"/>
            <a:ext cx="332842" cy="332842"/>
          </a:xfrm>
          <a:prstGeom prst="rect">
            <a:avLst/>
          </a:prstGeom>
        </p:spPr>
      </p:pic>
      <p:sp>
        <p:nvSpPr>
          <p:cNvPr id="11" name="Text 7"/>
          <p:cNvSpPr txBox="1"/>
          <p:nvPr/>
        </p:nvSpPr>
        <p:spPr>
          <a:xfrm>
            <a:off x="5387188" y="158191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Learning Design</a:t>
            </a:r>
            <a:endParaRPr lang="en-US" sz="1600" dirty="0"/>
          </a:p>
        </p:txBody>
      </p:sp>
      <p:sp>
        <p:nvSpPr>
          <p:cNvPr id="12" name="Text 8"/>
          <p:cNvSpPr txBox="1"/>
          <p:nvPr/>
        </p:nvSpPr>
        <p:spPr>
          <a:xfrm>
            <a:off x="4609948" y="2286000"/>
            <a:ext cx="2971800" cy="1097280"/>
          </a:xfrm>
          <a:prstGeom prst="rect">
            <a:avLst/>
          </a:prstGeom>
          <a:noFill/>
          <a:ln/>
        </p:spPr>
        <p:txBody>
          <a:bodyPr wrap="square" lIns="0" tIns="0" rIns="0" bIns="0" rtlCol="0" anchor="t"/>
          <a:lstStyle/>
          <a:p>
            <a:pPr algn="l" indent="0" marL="0">
              <a:buNone/>
            </a:pPr>
            <a:r>
              <a:rPr lang="en-US" sz="1200" dirty="0">
                <a:solidFill>
                  <a:srgbClr val="1E2A30"/>
                </a:solidFill>
                <a:latin typeface="Calibri" pitchFamily="34" charset="0"/>
                <a:ea typeface="Calibri" pitchFamily="34" charset="-122"/>
                <a:cs typeface="Calibri" pitchFamily="34" charset="-120"/>
              </a:rPr>
              <a:t>Learner purpose and instructional decisions. Owns the [LD TO COMPLETE], [LD TO DECIDE], and [LD TO IDENTIFY] markers.</a:t>
            </a:r>
            <a:endParaRPr lang="en-US" sz="1200" dirty="0"/>
          </a:p>
        </p:txBody>
      </p:sp>
      <p:sp>
        <p:nvSpPr>
          <p:cNvPr id="13" name="Shape 9"/>
          <p:cNvSpPr/>
          <p:nvPr/>
        </p:nvSpPr>
        <p:spPr>
          <a:xfrm>
            <a:off x="8214055" y="1325880"/>
            <a:ext cx="3429000" cy="2148840"/>
          </a:xfrm>
          <a:prstGeom prst="roundRect">
            <a:avLst>
              <a:gd name="adj" fmla="val 5106"/>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4" name="Shape 10"/>
          <p:cNvSpPr/>
          <p:nvPr/>
        </p:nvSpPr>
        <p:spPr>
          <a:xfrm>
            <a:off x="8442655" y="1554480"/>
            <a:ext cx="640080" cy="640080"/>
          </a:xfrm>
          <a:prstGeom prst="ellipse">
            <a:avLst/>
          </a:prstGeom>
          <a:solidFill>
            <a:srgbClr val="1F7A8C"/>
          </a:solidFill>
          <a:ln w="12700">
            <a:solidFill>
              <a:srgbClr val="1F7A8C"/>
            </a:solidFill>
            <a:prstDash val="solid"/>
          </a:ln>
        </p:spPr>
      </p:sp>
      <p:pic>
        <p:nvPicPr>
          <p:cNvPr id="15" name="Image 2" descr="preencoded.png">    </p:cNvPr>
          <p:cNvPicPr>
            <a:picLocks noChangeAspect="1"/>
          </p:cNvPicPr>
          <p:nvPr/>
        </p:nvPicPr>
        <p:blipFill>
          <a:blip r:embed="rId3"/>
          <a:stretch>
            <a:fillRect/>
          </a:stretch>
        </p:blipFill>
        <p:spPr>
          <a:xfrm>
            <a:off x="8596274" y="1708099"/>
            <a:ext cx="332842" cy="332842"/>
          </a:xfrm>
          <a:prstGeom prst="rect">
            <a:avLst/>
          </a:prstGeom>
        </p:spPr>
      </p:pic>
      <p:sp>
        <p:nvSpPr>
          <p:cNvPr id="16" name="Text 11"/>
          <p:cNvSpPr txBox="1"/>
          <p:nvPr/>
        </p:nvSpPr>
        <p:spPr>
          <a:xfrm>
            <a:off x="9219895" y="158191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Subject-matter experts</a:t>
            </a:r>
            <a:endParaRPr lang="en-US" sz="1600" dirty="0"/>
          </a:p>
        </p:txBody>
      </p:sp>
      <p:sp>
        <p:nvSpPr>
          <p:cNvPr id="17" name="Text 12"/>
          <p:cNvSpPr txBox="1"/>
          <p:nvPr/>
        </p:nvSpPr>
        <p:spPr>
          <a:xfrm>
            <a:off x="8442655" y="2286000"/>
            <a:ext cx="2971800" cy="1097280"/>
          </a:xfrm>
          <a:prstGeom prst="rect">
            <a:avLst/>
          </a:prstGeom>
          <a:noFill/>
          <a:ln/>
        </p:spPr>
        <p:txBody>
          <a:bodyPr wrap="square" lIns="0" tIns="0" rIns="0" bIns="0" rtlCol="0" anchor="t"/>
          <a:lstStyle/>
          <a:p>
            <a:pPr algn="l" indent="0" marL="0">
              <a:buNone/>
            </a:pPr>
            <a:r>
              <a:rPr lang="en-US" sz="1200" dirty="0">
                <a:solidFill>
                  <a:srgbClr val="1E2A30"/>
                </a:solidFill>
                <a:latin typeface="Calibri" pitchFamily="34" charset="0"/>
                <a:ea typeface="Calibri" pitchFamily="34" charset="-122"/>
                <a:cs typeface="Calibri" pitchFamily="34" charset="-120"/>
              </a:rPr>
              <a:t>Accuracy, procedures, terminology, and answer logic. Owns [SME TO CONFIRM], which is never a catch-all.</a:t>
            </a:r>
            <a:endParaRPr lang="en-US" sz="1200" dirty="0"/>
          </a:p>
        </p:txBody>
      </p:sp>
      <p:sp>
        <p:nvSpPr>
          <p:cNvPr id="18" name="Shape 13"/>
          <p:cNvSpPr/>
          <p:nvPr/>
        </p:nvSpPr>
        <p:spPr>
          <a:xfrm>
            <a:off x="548640" y="3794760"/>
            <a:ext cx="3429000" cy="2148840"/>
          </a:xfrm>
          <a:prstGeom prst="roundRect">
            <a:avLst>
              <a:gd name="adj" fmla="val 5106"/>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9" name="Shape 14"/>
          <p:cNvSpPr/>
          <p:nvPr/>
        </p:nvSpPr>
        <p:spPr>
          <a:xfrm>
            <a:off x="777240" y="4023360"/>
            <a:ext cx="640080" cy="640080"/>
          </a:xfrm>
          <a:prstGeom prst="ellipse">
            <a:avLst/>
          </a:prstGeom>
          <a:solidFill>
            <a:srgbClr val="1F7A8C"/>
          </a:solidFill>
          <a:ln w="12700">
            <a:solidFill>
              <a:srgbClr val="1F7A8C"/>
            </a:solidFill>
            <a:prstDash val="solid"/>
          </a:ln>
        </p:spPr>
      </p:sp>
      <p:pic>
        <p:nvPicPr>
          <p:cNvPr id="20" name="Image 3" descr="preencoded.png">    </p:cNvPr>
          <p:cNvPicPr>
            <a:picLocks noChangeAspect="1"/>
          </p:cNvPicPr>
          <p:nvPr/>
        </p:nvPicPr>
        <p:blipFill>
          <a:blip r:embed="rId4"/>
          <a:stretch>
            <a:fillRect/>
          </a:stretch>
        </p:blipFill>
        <p:spPr>
          <a:xfrm>
            <a:off x="930859" y="4176979"/>
            <a:ext cx="332842" cy="332842"/>
          </a:xfrm>
          <a:prstGeom prst="rect">
            <a:avLst/>
          </a:prstGeom>
        </p:spPr>
      </p:pic>
      <p:sp>
        <p:nvSpPr>
          <p:cNvPr id="21" name="Text 15"/>
          <p:cNvSpPr txBox="1"/>
          <p:nvPr/>
        </p:nvSpPr>
        <p:spPr>
          <a:xfrm>
            <a:off x="1554480" y="405079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Multimedia</a:t>
            </a:r>
            <a:endParaRPr lang="en-US" sz="1600" dirty="0"/>
          </a:p>
        </p:txBody>
      </p:sp>
      <p:sp>
        <p:nvSpPr>
          <p:cNvPr id="22" name="Text 16"/>
          <p:cNvSpPr txBox="1"/>
          <p:nvPr/>
        </p:nvSpPr>
        <p:spPr>
          <a:xfrm>
            <a:off x="777240" y="4754880"/>
            <a:ext cx="2971800" cy="1097280"/>
          </a:xfrm>
          <a:prstGeom prst="rect">
            <a:avLst/>
          </a:prstGeom>
          <a:noFill/>
          <a:ln/>
        </p:spPr>
        <p:txBody>
          <a:bodyPr wrap="square" lIns="0" tIns="0" rIns="0" bIns="0" rtlCol="0" anchor="t"/>
          <a:lstStyle/>
          <a:p>
            <a:pPr algn="l" indent="0" marL="0">
              <a:buNone/>
            </a:pPr>
            <a:r>
              <a:rPr lang="en-US" sz="1200" dirty="0">
                <a:solidFill>
                  <a:srgbClr val="1E2A30"/>
                </a:solidFill>
                <a:latin typeface="Calibri" pitchFamily="34" charset="0"/>
                <a:ea typeface="Calibri" pitchFamily="34" charset="-122"/>
                <a:cs typeface="Calibri" pitchFamily="34" charset="-120"/>
              </a:rPr>
              <a:t>Supplies or validates assets, stock, and requests. Owns [MULTIMEDIA TO PROVIDE] and [MULTIMEDIA TO CONFIRM].</a:t>
            </a:r>
            <a:endParaRPr lang="en-US" sz="1200" dirty="0"/>
          </a:p>
        </p:txBody>
      </p:sp>
      <p:sp>
        <p:nvSpPr>
          <p:cNvPr id="23" name="Shape 17"/>
          <p:cNvSpPr/>
          <p:nvPr/>
        </p:nvSpPr>
        <p:spPr>
          <a:xfrm>
            <a:off x="4381348" y="3794760"/>
            <a:ext cx="3429000" cy="2148840"/>
          </a:xfrm>
          <a:prstGeom prst="roundRect">
            <a:avLst>
              <a:gd name="adj" fmla="val 5106"/>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4" name="Shape 18"/>
          <p:cNvSpPr/>
          <p:nvPr/>
        </p:nvSpPr>
        <p:spPr>
          <a:xfrm>
            <a:off x="4609948" y="4023360"/>
            <a:ext cx="640080" cy="640080"/>
          </a:xfrm>
          <a:prstGeom prst="ellipse">
            <a:avLst/>
          </a:prstGeom>
          <a:solidFill>
            <a:srgbClr val="1F7A8C"/>
          </a:solidFill>
          <a:ln w="12700">
            <a:solidFill>
              <a:srgbClr val="1F7A8C"/>
            </a:solidFill>
            <a:prstDash val="solid"/>
          </a:ln>
        </p:spPr>
      </p:sp>
      <p:pic>
        <p:nvPicPr>
          <p:cNvPr id="25" name="Image 4" descr="preencoded.png">    </p:cNvPr>
          <p:cNvPicPr>
            <a:picLocks noChangeAspect="1"/>
          </p:cNvPicPr>
          <p:nvPr/>
        </p:nvPicPr>
        <p:blipFill>
          <a:blip r:embed="rId5"/>
          <a:stretch>
            <a:fillRect/>
          </a:stretch>
        </p:blipFill>
        <p:spPr>
          <a:xfrm>
            <a:off x="4763567" y="4176979"/>
            <a:ext cx="332842" cy="332842"/>
          </a:xfrm>
          <a:prstGeom prst="rect">
            <a:avLst/>
          </a:prstGeom>
        </p:spPr>
      </p:pic>
      <p:sp>
        <p:nvSpPr>
          <p:cNvPr id="26" name="Text 19"/>
          <p:cNvSpPr txBox="1"/>
          <p:nvPr/>
        </p:nvSpPr>
        <p:spPr>
          <a:xfrm>
            <a:off x="5387188" y="405079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Accessibility</a:t>
            </a:r>
            <a:endParaRPr lang="en-US" sz="1600" dirty="0"/>
          </a:p>
        </p:txBody>
      </p:sp>
      <p:sp>
        <p:nvSpPr>
          <p:cNvPr id="27" name="Text 20"/>
          <p:cNvSpPr txBox="1"/>
          <p:nvPr/>
        </p:nvSpPr>
        <p:spPr>
          <a:xfrm>
            <a:off x="4609948" y="4754880"/>
            <a:ext cx="2971800" cy="1097280"/>
          </a:xfrm>
          <a:prstGeom prst="rect">
            <a:avLst/>
          </a:prstGeom>
          <a:noFill/>
          <a:ln/>
        </p:spPr>
        <p:txBody>
          <a:bodyPr wrap="square" lIns="0" tIns="0" rIns="0" bIns="0" rtlCol="0" anchor="t"/>
          <a:lstStyle/>
          <a:p>
            <a:pPr algn="l" indent="0" marL="0">
              <a:buNone/>
            </a:pPr>
            <a:r>
              <a:rPr lang="en-US" sz="1200" dirty="0">
                <a:solidFill>
                  <a:srgbClr val="1E2A30"/>
                </a:solidFill>
                <a:latin typeface="Calibri" pitchFamily="34" charset="0"/>
                <a:ea typeface="Calibri" pitchFamily="34" charset="-122"/>
                <a:cs typeface="Calibri" pitchFamily="34" charset="-120"/>
              </a:rPr>
              <a:t>Validates exceptional treatments and equivalents. Owns [ACCESSIBILITY TO CONFIRM].</a:t>
            </a:r>
            <a:endParaRPr lang="en-US" sz="1200" dirty="0"/>
          </a:p>
        </p:txBody>
      </p:sp>
      <p:sp>
        <p:nvSpPr>
          <p:cNvPr id="28" name="Shape 21"/>
          <p:cNvSpPr/>
          <p:nvPr/>
        </p:nvSpPr>
        <p:spPr>
          <a:xfrm>
            <a:off x="8214055" y="3794760"/>
            <a:ext cx="3429000" cy="2148840"/>
          </a:xfrm>
          <a:prstGeom prst="roundRect">
            <a:avLst>
              <a:gd name="adj" fmla="val 5106"/>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9" name="Shape 22"/>
          <p:cNvSpPr/>
          <p:nvPr/>
        </p:nvSpPr>
        <p:spPr>
          <a:xfrm>
            <a:off x="8442655" y="4023360"/>
            <a:ext cx="640080" cy="640080"/>
          </a:xfrm>
          <a:prstGeom prst="ellipse">
            <a:avLst/>
          </a:prstGeom>
          <a:solidFill>
            <a:srgbClr val="1F7A8C"/>
          </a:solidFill>
          <a:ln w="12700">
            <a:solidFill>
              <a:srgbClr val="1F7A8C"/>
            </a:solidFill>
            <a:prstDash val="solid"/>
          </a:ln>
        </p:spPr>
      </p:sp>
      <p:pic>
        <p:nvPicPr>
          <p:cNvPr id="30" name="Image 5" descr="preencoded.png">    </p:cNvPr>
          <p:cNvPicPr>
            <a:picLocks noChangeAspect="1"/>
          </p:cNvPicPr>
          <p:nvPr/>
        </p:nvPicPr>
        <p:blipFill>
          <a:blip r:embed="rId6"/>
          <a:stretch>
            <a:fillRect/>
          </a:stretch>
        </p:blipFill>
        <p:spPr>
          <a:xfrm>
            <a:off x="8596274" y="4176979"/>
            <a:ext cx="332842" cy="332842"/>
          </a:xfrm>
          <a:prstGeom prst="rect">
            <a:avLst/>
          </a:prstGeom>
        </p:spPr>
      </p:pic>
      <p:sp>
        <p:nvSpPr>
          <p:cNvPr id="31" name="Text 23"/>
          <p:cNvSpPr txBox="1"/>
          <p:nvPr/>
        </p:nvSpPr>
        <p:spPr>
          <a:xfrm>
            <a:off x="9219895" y="405079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Development</a:t>
            </a:r>
            <a:endParaRPr lang="en-US" sz="1600" dirty="0"/>
          </a:p>
        </p:txBody>
      </p:sp>
      <p:sp>
        <p:nvSpPr>
          <p:cNvPr id="32" name="Text 24"/>
          <p:cNvSpPr txBox="1"/>
          <p:nvPr/>
        </p:nvSpPr>
        <p:spPr>
          <a:xfrm>
            <a:off x="8442655" y="4754880"/>
            <a:ext cx="2971800" cy="1097280"/>
          </a:xfrm>
          <a:prstGeom prst="rect">
            <a:avLst/>
          </a:prstGeom>
          <a:noFill/>
          <a:ln/>
        </p:spPr>
        <p:txBody>
          <a:bodyPr wrap="square" lIns="0" tIns="0" rIns="0" bIns="0" rtlCol="0" anchor="t"/>
          <a:lstStyle/>
          <a:p>
            <a:pPr algn="l" indent="0" marL="0">
              <a:buNone/>
            </a:pPr>
            <a:r>
              <a:rPr lang="en-US" sz="1200" dirty="0">
                <a:solidFill>
                  <a:srgbClr val="1E2A30"/>
                </a:solidFill>
                <a:latin typeface="Calibri" pitchFamily="34" charset="0"/>
                <a:ea typeface="Calibri" pitchFamily="34" charset="-122"/>
                <a:cs typeface="Calibri" pitchFamily="34" charset="-120"/>
              </a:rPr>
              <a:t>Component feasibility, platform behaviour, and defaults. Owns [DEVELOPER TO ADVISE] and the Development standard.</a:t>
            </a:r>
            <a:endParaRPr lang="en-US" sz="1200" dirty="0"/>
          </a:p>
        </p:txBody>
      </p:sp>
      <p:sp>
        <p:nvSpPr>
          <p:cNvPr id="33" name="Text 25"/>
          <p:cNvSpPr txBox="1"/>
          <p:nvPr/>
        </p:nvSpPr>
        <p:spPr>
          <a:xfrm>
            <a:off x="548640" y="6172200"/>
            <a:ext cx="11094415" cy="411480"/>
          </a:xfrm>
          <a:prstGeom prst="rect">
            <a:avLst/>
          </a:prstGeom>
          <a:noFill/>
          <a:ln/>
        </p:spPr>
        <p:txBody>
          <a:bodyPr wrap="square" lIns="0" tIns="0" rIns="0" bIns="0" rtlCol="0" anchor="t"/>
          <a:lstStyle/>
          <a:p>
            <a:pPr algn="l" indent="0" marL="0">
              <a:buNone/>
            </a:pPr>
            <a:r>
              <a:rPr lang="en-US" sz="1200" i="1" dirty="0">
                <a:solidFill>
                  <a:srgbClr val="5C6B73"/>
                </a:solidFill>
                <a:latin typeface="Calibri" pitchFamily="34" charset="0"/>
                <a:ea typeface="Calibri" pitchFamily="34" charset="-122"/>
                <a:cs typeface="Calibri" pitchFamily="34" charset="-120"/>
              </a:rPr>
              <a:t>P.ROLE_MODE: Design generates a storyboard; QA audits an existing storyboard against the QA table and returns the record and the SME Verification List.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A — Action: seven internal steps, always in this order</a:t>
            </a:r>
            <a:endParaRPr lang="en-US" sz="2800" dirty="0"/>
          </a:p>
        </p:txBody>
      </p:sp>
      <p:sp>
        <p:nvSpPr>
          <p:cNvPr id="3" name="Shape 1"/>
          <p:cNvSpPr/>
          <p:nvPr/>
        </p:nvSpPr>
        <p:spPr>
          <a:xfrm>
            <a:off x="548640" y="1371600"/>
            <a:ext cx="1586827" cy="731520"/>
          </a:xfrm>
          <a:prstGeom prst="homePlate">
            <a:avLst/>
          </a:prstGeom>
          <a:solidFill>
            <a:srgbClr val="1F7A8C"/>
          </a:solidFill>
          <a:ln w="12700">
            <a:solidFill>
              <a:srgbClr val="FFFFFF"/>
            </a:solidFill>
            <a:prstDash val="solid"/>
          </a:ln>
        </p:spPr>
      </p:sp>
      <p:sp>
        <p:nvSpPr>
          <p:cNvPr id="4" name="Text 2"/>
          <p:cNvSpPr txBox="1"/>
          <p:nvPr/>
        </p:nvSpPr>
        <p:spPr>
          <a:xfrm>
            <a:off x="640080" y="1371600"/>
            <a:ext cx="809587"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a:t>
            </a:r>
            <a:endParaRPr lang="en-US" sz="1800" dirty="0"/>
          </a:p>
        </p:txBody>
      </p:sp>
      <p:sp>
        <p:nvSpPr>
          <p:cNvPr id="5" name="Text 3"/>
          <p:cNvSpPr txBox="1"/>
          <p:nvPr/>
        </p:nvSpPr>
        <p:spPr>
          <a:xfrm>
            <a:off x="594360" y="2194560"/>
            <a:ext cx="1266787" cy="640080"/>
          </a:xfrm>
          <a:prstGeom prst="rect">
            <a:avLst/>
          </a:prstGeom>
          <a:noFill/>
          <a:ln/>
        </p:spPr>
        <p:txBody>
          <a:bodyPr wrap="square" lIns="0" tIns="0" rIns="0" bIns="0" rtlCol="0" anchor="t"/>
          <a:lstStyle/>
          <a:p>
            <a:pPr algn="ctr" indent="0" marL="0">
              <a:buNone/>
            </a:pPr>
            <a:r>
              <a:rPr lang="en-US" sz="1050" dirty="0">
                <a:solidFill>
                  <a:srgbClr val="12303D"/>
                </a:solidFill>
                <a:latin typeface="Calibri" pitchFamily="34" charset="0"/>
                <a:ea typeface="Calibri" pitchFamily="34" charset="-122"/>
                <a:cs typeface="Calibri" pitchFamily="34" charset="-120"/>
              </a:rPr>
              <a:t>Intake and source access</a:t>
            </a:r>
            <a:endParaRPr lang="en-US" sz="1050" dirty="0"/>
          </a:p>
        </p:txBody>
      </p:sp>
      <p:sp>
        <p:nvSpPr>
          <p:cNvPr id="6" name="Shape 4"/>
          <p:cNvSpPr/>
          <p:nvPr/>
        </p:nvSpPr>
        <p:spPr>
          <a:xfrm>
            <a:off x="1906867" y="1371600"/>
            <a:ext cx="1586827" cy="731520"/>
          </a:xfrm>
          <a:prstGeom prst="chevron">
            <a:avLst/>
          </a:prstGeom>
          <a:solidFill>
            <a:srgbClr val="12303D"/>
          </a:solidFill>
          <a:ln w="12700">
            <a:solidFill>
              <a:srgbClr val="FFFFFF"/>
            </a:solidFill>
            <a:prstDash val="solid"/>
          </a:ln>
        </p:spPr>
      </p:sp>
      <p:sp>
        <p:nvSpPr>
          <p:cNvPr id="7" name="Text 5"/>
          <p:cNvSpPr txBox="1"/>
          <p:nvPr/>
        </p:nvSpPr>
        <p:spPr>
          <a:xfrm>
            <a:off x="2290915" y="1371600"/>
            <a:ext cx="809587"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0A</a:t>
            </a:r>
            <a:endParaRPr lang="en-US" sz="1800" dirty="0"/>
          </a:p>
        </p:txBody>
      </p:sp>
      <p:sp>
        <p:nvSpPr>
          <p:cNvPr id="8" name="Text 6"/>
          <p:cNvSpPr txBox="1"/>
          <p:nvPr/>
        </p:nvSpPr>
        <p:spPr>
          <a:xfrm>
            <a:off x="1952587" y="2194560"/>
            <a:ext cx="1266787" cy="640080"/>
          </a:xfrm>
          <a:prstGeom prst="rect">
            <a:avLst/>
          </a:prstGeom>
          <a:noFill/>
          <a:ln/>
        </p:spPr>
        <p:txBody>
          <a:bodyPr wrap="square" lIns="0" tIns="0" rIns="0" bIns="0" rtlCol="0" anchor="t"/>
          <a:lstStyle/>
          <a:p>
            <a:pPr algn="ctr" indent="0" marL="0">
              <a:buNone/>
            </a:pPr>
            <a:r>
              <a:rPr lang="en-US" sz="1050" dirty="0">
                <a:solidFill>
                  <a:srgbClr val="12303D"/>
                </a:solidFill>
                <a:latin typeface="Calibri" pitchFamily="34" charset="0"/>
                <a:ea typeface="Calibri" pitchFamily="34" charset="-122"/>
                <a:cs typeface="Calibri" pitchFamily="34" charset="-120"/>
              </a:rPr>
              <a:t>Interaction and Development references</a:t>
            </a:r>
            <a:endParaRPr lang="en-US" sz="1050" dirty="0"/>
          </a:p>
        </p:txBody>
      </p:sp>
      <p:sp>
        <p:nvSpPr>
          <p:cNvPr id="9" name="Shape 7"/>
          <p:cNvSpPr/>
          <p:nvPr/>
        </p:nvSpPr>
        <p:spPr>
          <a:xfrm>
            <a:off x="3265094" y="1371600"/>
            <a:ext cx="1586827" cy="731520"/>
          </a:xfrm>
          <a:prstGeom prst="chevron">
            <a:avLst/>
          </a:prstGeom>
          <a:solidFill>
            <a:srgbClr val="1F7A8C"/>
          </a:solidFill>
          <a:ln w="12700">
            <a:solidFill>
              <a:srgbClr val="FFFFFF"/>
            </a:solidFill>
            <a:prstDash val="solid"/>
          </a:ln>
        </p:spPr>
      </p:sp>
      <p:sp>
        <p:nvSpPr>
          <p:cNvPr id="10" name="Text 8"/>
          <p:cNvSpPr txBox="1"/>
          <p:nvPr/>
        </p:nvSpPr>
        <p:spPr>
          <a:xfrm>
            <a:off x="3649142" y="1371600"/>
            <a:ext cx="809587"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9"/>
          <p:cNvSpPr txBox="1"/>
          <p:nvPr/>
        </p:nvSpPr>
        <p:spPr>
          <a:xfrm>
            <a:off x="3310814" y="2194560"/>
            <a:ext cx="1266787" cy="640080"/>
          </a:xfrm>
          <a:prstGeom prst="rect">
            <a:avLst/>
          </a:prstGeom>
          <a:noFill/>
          <a:ln/>
        </p:spPr>
        <p:txBody>
          <a:bodyPr wrap="square" lIns="0" tIns="0" rIns="0" bIns="0" rtlCol="0" anchor="t"/>
          <a:lstStyle/>
          <a:p>
            <a:pPr algn="ctr" indent="0" marL="0">
              <a:buNone/>
            </a:pPr>
            <a:r>
              <a:rPr lang="en-US" sz="1050" dirty="0">
                <a:solidFill>
                  <a:srgbClr val="12303D"/>
                </a:solidFill>
                <a:latin typeface="Calibri" pitchFamily="34" charset="0"/>
                <a:ea typeface="Calibri" pitchFamily="34" charset="-122"/>
                <a:cs typeface="Calibri" pitchFamily="34" charset="-120"/>
              </a:rPr>
              <a:t>Objectives as job tasks, with evidence</a:t>
            </a:r>
            <a:endParaRPr lang="en-US" sz="1050" dirty="0"/>
          </a:p>
        </p:txBody>
      </p:sp>
      <p:sp>
        <p:nvSpPr>
          <p:cNvPr id="12" name="Shape 10"/>
          <p:cNvSpPr/>
          <p:nvPr/>
        </p:nvSpPr>
        <p:spPr>
          <a:xfrm>
            <a:off x="4623321" y="1371600"/>
            <a:ext cx="1586827" cy="731520"/>
          </a:xfrm>
          <a:prstGeom prst="chevron">
            <a:avLst/>
          </a:prstGeom>
          <a:solidFill>
            <a:srgbClr val="F0A202"/>
          </a:solidFill>
          <a:ln w="12700">
            <a:solidFill>
              <a:srgbClr val="FFFFFF"/>
            </a:solidFill>
            <a:prstDash val="solid"/>
          </a:ln>
        </p:spPr>
      </p:sp>
      <p:sp>
        <p:nvSpPr>
          <p:cNvPr id="13" name="Text 11"/>
          <p:cNvSpPr txBox="1"/>
          <p:nvPr/>
        </p:nvSpPr>
        <p:spPr>
          <a:xfrm>
            <a:off x="5007369" y="1371600"/>
            <a:ext cx="809587" cy="731520"/>
          </a:xfrm>
          <a:prstGeom prst="rect">
            <a:avLst/>
          </a:prstGeom>
          <a:noFill/>
          <a:ln/>
        </p:spPr>
        <p:txBody>
          <a:bodyPr wrap="square" lIns="0" tIns="0" rIns="0" bIns="0" rtlCol="0" anchor="ctr"/>
          <a:lstStyle/>
          <a:p>
            <a:pPr algn="ctr" indent="0" marL="0">
              <a:buNone/>
            </a:pPr>
            <a:r>
              <a:rPr lang="en-US" sz="1800" b="1" dirty="0">
                <a:solidFill>
                  <a:srgbClr val="12303D"/>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4669041" y="2194560"/>
            <a:ext cx="1266787" cy="640080"/>
          </a:xfrm>
          <a:prstGeom prst="rect">
            <a:avLst/>
          </a:prstGeom>
          <a:noFill/>
          <a:ln/>
        </p:spPr>
        <p:txBody>
          <a:bodyPr wrap="square" lIns="0" tIns="0" rIns="0" bIns="0" rtlCol="0" anchor="t"/>
          <a:lstStyle/>
          <a:p>
            <a:pPr algn="ctr" indent="0" marL="0">
              <a:buNone/>
            </a:pPr>
            <a:r>
              <a:rPr lang="en-US" sz="1050" dirty="0">
                <a:solidFill>
                  <a:srgbClr val="12303D"/>
                </a:solidFill>
                <a:latin typeface="Calibri" pitchFamily="34" charset="0"/>
                <a:ea typeface="Calibri" pitchFamily="34" charset="-122"/>
                <a:cs typeface="Calibri" pitchFamily="34" charset="-120"/>
              </a:rPr>
              <a:t>Verification gate</a:t>
            </a:r>
            <a:endParaRPr lang="en-US" sz="1050" dirty="0"/>
          </a:p>
        </p:txBody>
      </p:sp>
      <p:sp>
        <p:nvSpPr>
          <p:cNvPr id="15" name="Shape 13"/>
          <p:cNvSpPr/>
          <p:nvPr/>
        </p:nvSpPr>
        <p:spPr>
          <a:xfrm>
            <a:off x="5981548" y="1371600"/>
            <a:ext cx="1586827" cy="731520"/>
          </a:xfrm>
          <a:prstGeom prst="chevron">
            <a:avLst/>
          </a:prstGeom>
          <a:solidFill>
            <a:srgbClr val="1F7A8C"/>
          </a:solidFill>
          <a:ln w="12700">
            <a:solidFill>
              <a:srgbClr val="FFFFFF"/>
            </a:solidFill>
            <a:prstDash val="solid"/>
          </a:ln>
        </p:spPr>
      </p:sp>
      <p:sp>
        <p:nvSpPr>
          <p:cNvPr id="16" name="Text 14"/>
          <p:cNvSpPr txBox="1"/>
          <p:nvPr/>
        </p:nvSpPr>
        <p:spPr>
          <a:xfrm>
            <a:off x="6365596" y="1371600"/>
            <a:ext cx="809587"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6027268" y="2194560"/>
            <a:ext cx="1266787" cy="640080"/>
          </a:xfrm>
          <a:prstGeom prst="rect">
            <a:avLst/>
          </a:prstGeom>
          <a:noFill/>
          <a:ln/>
        </p:spPr>
        <p:txBody>
          <a:bodyPr wrap="square" lIns="0" tIns="0" rIns="0" bIns="0" rtlCol="0" anchor="t"/>
          <a:lstStyle/>
          <a:p>
            <a:pPr algn="ctr" indent="0" marL="0">
              <a:buNone/>
            </a:pPr>
            <a:r>
              <a:rPr lang="en-US" sz="1050" dirty="0">
                <a:solidFill>
                  <a:srgbClr val="12303D"/>
                </a:solidFill>
                <a:latin typeface="Calibri" pitchFamily="34" charset="0"/>
                <a:ea typeface="Calibri" pitchFamily="34" charset="-122"/>
                <a:cs typeface="Calibri" pitchFamily="34" charset="-120"/>
              </a:rPr>
              <a:t>Module architecture</a:t>
            </a:r>
            <a:endParaRPr lang="en-US" sz="1050" dirty="0"/>
          </a:p>
        </p:txBody>
      </p:sp>
      <p:sp>
        <p:nvSpPr>
          <p:cNvPr id="18" name="Shape 16"/>
          <p:cNvSpPr/>
          <p:nvPr/>
        </p:nvSpPr>
        <p:spPr>
          <a:xfrm>
            <a:off x="7339775" y="1371600"/>
            <a:ext cx="1586827" cy="731520"/>
          </a:xfrm>
          <a:prstGeom prst="chevron">
            <a:avLst/>
          </a:prstGeom>
          <a:solidFill>
            <a:srgbClr val="12303D"/>
          </a:solidFill>
          <a:ln w="12700">
            <a:solidFill>
              <a:srgbClr val="FFFFFF"/>
            </a:solidFill>
            <a:prstDash val="solid"/>
          </a:ln>
        </p:spPr>
      </p:sp>
      <p:sp>
        <p:nvSpPr>
          <p:cNvPr id="19" name="Text 17"/>
          <p:cNvSpPr txBox="1"/>
          <p:nvPr/>
        </p:nvSpPr>
        <p:spPr>
          <a:xfrm>
            <a:off x="7723823" y="1371600"/>
            <a:ext cx="809587"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0" name="Text 18"/>
          <p:cNvSpPr txBox="1"/>
          <p:nvPr/>
        </p:nvSpPr>
        <p:spPr>
          <a:xfrm>
            <a:off x="7385495" y="2194560"/>
            <a:ext cx="1266787" cy="640080"/>
          </a:xfrm>
          <a:prstGeom prst="rect">
            <a:avLst/>
          </a:prstGeom>
          <a:noFill/>
          <a:ln/>
        </p:spPr>
        <p:txBody>
          <a:bodyPr wrap="square" lIns="0" tIns="0" rIns="0" bIns="0" rtlCol="0" anchor="t"/>
          <a:lstStyle/>
          <a:p>
            <a:pPr algn="ctr" indent="0" marL="0">
              <a:buNone/>
            </a:pPr>
            <a:r>
              <a:rPr lang="en-US" sz="1050" dirty="0">
                <a:solidFill>
                  <a:srgbClr val="12303D"/>
                </a:solidFill>
                <a:latin typeface="Calibri" pitchFamily="34" charset="0"/>
                <a:ea typeface="Calibri" pitchFamily="34" charset="-122"/>
                <a:cs typeface="Calibri" pitchFamily="34" charset="-120"/>
              </a:rPr>
              <a:t>Design each slide</a:t>
            </a:r>
            <a:endParaRPr lang="en-US" sz="1050" dirty="0"/>
          </a:p>
        </p:txBody>
      </p:sp>
      <p:sp>
        <p:nvSpPr>
          <p:cNvPr id="21" name="Shape 19"/>
          <p:cNvSpPr/>
          <p:nvPr/>
        </p:nvSpPr>
        <p:spPr>
          <a:xfrm>
            <a:off x="8698001" y="1371600"/>
            <a:ext cx="1586827" cy="731520"/>
          </a:xfrm>
          <a:prstGeom prst="chevron">
            <a:avLst/>
          </a:prstGeom>
          <a:solidFill>
            <a:srgbClr val="1F7A8C"/>
          </a:solidFill>
          <a:ln w="12700">
            <a:solidFill>
              <a:srgbClr val="FFFFFF"/>
            </a:solidFill>
            <a:prstDash val="solid"/>
          </a:ln>
        </p:spPr>
      </p:sp>
      <p:sp>
        <p:nvSpPr>
          <p:cNvPr id="22" name="Text 20"/>
          <p:cNvSpPr txBox="1"/>
          <p:nvPr/>
        </p:nvSpPr>
        <p:spPr>
          <a:xfrm>
            <a:off x="9082049" y="1371600"/>
            <a:ext cx="809587"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txBox="1"/>
          <p:nvPr/>
        </p:nvSpPr>
        <p:spPr>
          <a:xfrm>
            <a:off x="8743721" y="2194560"/>
            <a:ext cx="1266787" cy="640080"/>
          </a:xfrm>
          <a:prstGeom prst="rect">
            <a:avLst/>
          </a:prstGeom>
          <a:noFill/>
          <a:ln/>
        </p:spPr>
        <p:txBody>
          <a:bodyPr wrap="square" lIns="0" tIns="0" rIns="0" bIns="0" rtlCol="0" anchor="t"/>
          <a:lstStyle/>
          <a:p>
            <a:pPr algn="ctr" indent="0" marL="0">
              <a:buNone/>
            </a:pPr>
            <a:r>
              <a:rPr lang="en-US" sz="1050" dirty="0">
                <a:solidFill>
                  <a:srgbClr val="12303D"/>
                </a:solidFill>
                <a:latin typeface="Calibri" pitchFamily="34" charset="0"/>
                <a:ea typeface="Calibri" pitchFamily="34" charset="-122"/>
                <a:cs typeface="Calibri" pitchFamily="34" charset="-120"/>
              </a:rPr>
              <a:t>Assemble, validate, deliver</a:t>
            </a:r>
            <a:endParaRPr lang="en-US" sz="1050" dirty="0"/>
          </a:p>
        </p:txBody>
      </p:sp>
      <p:sp>
        <p:nvSpPr>
          <p:cNvPr id="24" name="Shape 22"/>
          <p:cNvSpPr/>
          <p:nvPr/>
        </p:nvSpPr>
        <p:spPr>
          <a:xfrm>
            <a:off x="10056228" y="1371600"/>
            <a:ext cx="1586827" cy="731520"/>
          </a:xfrm>
          <a:prstGeom prst="chevron">
            <a:avLst/>
          </a:prstGeom>
          <a:solidFill>
            <a:srgbClr val="12303D"/>
          </a:solidFill>
          <a:ln w="12700">
            <a:solidFill>
              <a:srgbClr val="FFFFFF"/>
            </a:solidFill>
            <a:prstDash val="solid"/>
          </a:ln>
        </p:spPr>
      </p:sp>
      <p:sp>
        <p:nvSpPr>
          <p:cNvPr id="25" name="Text 23"/>
          <p:cNvSpPr txBox="1"/>
          <p:nvPr/>
        </p:nvSpPr>
        <p:spPr>
          <a:xfrm>
            <a:off x="10440276" y="1371600"/>
            <a:ext cx="809587"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6" name="Text 24"/>
          <p:cNvSpPr txBox="1"/>
          <p:nvPr/>
        </p:nvSpPr>
        <p:spPr>
          <a:xfrm>
            <a:off x="10101948" y="2194560"/>
            <a:ext cx="1266787" cy="640080"/>
          </a:xfrm>
          <a:prstGeom prst="rect">
            <a:avLst/>
          </a:prstGeom>
          <a:noFill/>
          <a:ln/>
        </p:spPr>
        <p:txBody>
          <a:bodyPr wrap="square" lIns="0" tIns="0" rIns="0" bIns="0" rtlCol="0" anchor="t"/>
          <a:lstStyle/>
          <a:p>
            <a:pPr algn="ctr" indent="0" marL="0">
              <a:buNone/>
            </a:pPr>
            <a:r>
              <a:rPr lang="en-US" sz="1050" dirty="0">
                <a:solidFill>
                  <a:srgbClr val="12303D"/>
                </a:solidFill>
                <a:latin typeface="Calibri" pitchFamily="34" charset="0"/>
                <a:ea typeface="Calibri" pitchFamily="34" charset="-122"/>
                <a:cs typeface="Calibri" pitchFamily="34" charset="-120"/>
              </a:rPr>
              <a:t>Adapted project prompt (on request)</a:t>
            </a:r>
            <a:endParaRPr lang="en-US" sz="1050" dirty="0"/>
          </a:p>
        </p:txBody>
      </p:sp>
      <p:sp>
        <p:nvSpPr>
          <p:cNvPr id="27" name="Text 25"/>
          <p:cNvSpPr txBox="1"/>
          <p:nvPr/>
        </p:nvSpPr>
        <p:spPr>
          <a:xfrm>
            <a:off x="548640" y="2880360"/>
            <a:ext cx="5486400" cy="365760"/>
          </a:xfrm>
          <a:prstGeom prst="rect">
            <a:avLst/>
          </a:prstGeom>
          <a:noFill/>
          <a:ln/>
        </p:spPr>
        <p:txBody>
          <a:bodyPr wrap="square" lIns="0" tIns="0" rIns="0" bIns="0" rtlCol="0" anchor="t"/>
          <a:lstStyle/>
          <a:p>
            <a:pPr algn="l" indent="0" marL="0">
              <a:buNone/>
            </a:pPr>
            <a:r>
              <a:rPr lang="en-US" sz="1500" b="1" dirty="0">
                <a:solidFill>
                  <a:srgbClr val="12303D"/>
                </a:solidFill>
                <a:latin typeface="Calibri" pitchFamily="34" charset="0"/>
                <a:ea typeface="Calibri" pitchFamily="34" charset="-122"/>
                <a:cs typeface="Calibri" pitchFamily="34" charset="-120"/>
              </a:rPr>
              <a:t>Inside Step 4, for every slide</a:t>
            </a:r>
            <a:endParaRPr lang="en-US" sz="1500" dirty="0"/>
          </a:p>
        </p:txBody>
      </p:sp>
      <p:sp>
        <p:nvSpPr>
          <p:cNvPr id="28" name="Shape 26"/>
          <p:cNvSpPr/>
          <p:nvPr/>
        </p:nvSpPr>
        <p:spPr>
          <a:xfrm>
            <a:off x="548640" y="3291840"/>
            <a:ext cx="1316736" cy="914400"/>
          </a:xfrm>
          <a:prstGeom prst="roundRect">
            <a:avLst>
              <a:gd name="adj" fmla="val 10000"/>
            </a:avLst>
          </a:prstGeom>
          <a:solidFill>
            <a:srgbClr val="EEF6F5"/>
          </a:solidFill>
          <a:ln w="12700">
            <a:solidFill>
              <a:srgbClr val="EEF6F5"/>
            </a:solidFill>
            <a:prstDash val="solid"/>
          </a:ln>
        </p:spPr>
      </p:sp>
      <p:sp>
        <p:nvSpPr>
          <p:cNvPr id="29" name="Text 27"/>
          <p:cNvSpPr txBox="1"/>
          <p:nvPr/>
        </p:nvSpPr>
        <p:spPr>
          <a:xfrm>
            <a:off x="640080" y="3291840"/>
            <a:ext cx="1133856" cy="91440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4a Content-first sequence</a:t>
            </a:r>
            <a:endParaRPr lang="en-US" sz="1050" dirty="0"/>
          </a:p>
        </p:txBody>
      </p:sp>
      <p:sp>
        <p:nvSpPr>
          <p:cNvPr id="30" name="Shape 28"/>
          <p:cNvSpPr/>
          <p:nvPr/>
        </p:nvSpPr>
        <p:spPr>
          <a:xfrm>
            <a:off x="1945451" y="3291840"/>
            <a:ext cx="1316736" cy="914400"/>
          </a:xfrm>
          <a:prstGeom prst="roundRect">
            <a:avLst>
              <a:gd name="adj" fmla="val 10000"/>
            </a:avLst>
          </a:prstGeom>
          <a:solidFill>
            <a:srgbClr val="EEF6F5"/>
          </a:solidFill>
          <a:ln w="12700">
            <a:solidFill>
              <a:srgbClr val="EEF6F5"/>
            </a:solidFill>
            <a:prstDash val="solid"/>
          </a:ln>
        </p:spPr>
      </p:sp>
      <p:sp>
        <p:nvSpPr>
          <p:cNvPr id="31" name="Text 29"/>
          <p:cNvSpPr txBox="1"/>
          <p:nvPr/>
        </p:nvSpPr>
        <p:spPr>
          <a:xfrm>
            <a:off x="2036891" y="3291840"/>
            <a:ext cx="1133856" cy="91440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4b Display versus learning interaction</a:t>
            </a:r>
            <a:endParaRPr lang="en-US" sz="1050" dirty="0"/>
          </a:p>
        </p:txBody>
      </p:sp>
      <p:sp>
        <p:nvSpPr>
          <p:cNvPr id="32" name="Shape 30"/>
          <p:cNvSpPr/>
          <p:nvPr/>
        </p:nvSpPr>
        <p:spPr>
          <a:xfrm>
            <a:off x="3342263" y="3291840"/>
            <a:ext cx="1316736" cy="914400"/>
          </a:xfrm>
          <a:prstGeom prst="roundRect">
            <a:avLst>
              <a:gd name="adj" fmla="val 10000"/>
            </a:avLst>
          </a:prstGeom>
          <a:solidFill>
            <a:srgbClr val="EEF6F5"/>
          </a:solidFill>
          <a:ln w="12700">
            <a:solidFill>
              <a:srgbClr val="EEF6F5"/>
            </a:solidFill>
            <a:prstDash val="solid"/>
          </a:ln>
        </p:spPr>
      </p:sp>
      <p:sp>
        <p:nvSpPr>
          <p:cNvPr id="33" name="Text 31"/>
          <p:cNvSpPr txBox="1"/>
          <p:nvPr/>
        </p:nvSpPr>
        <p:spPr>
          <a:xfrm>
            <a:off x="3433703" y="3291840"/>
            <a:ext cx="1133856" cy="91440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4c Component minimums, 18 specs</a:t>
            </a:r>
            <a:endParaRPr lang="en-US" sz="1050" dirty="0"/>
          </a:p>
        </p:txBody>
      </p:sp>
      <p:sp>
        <p:nvSpPr>
          <p:cNvPr id="34" name="Shape 32"/>
          <p:cNvSpPr/>
          <p:nvPr/>
        </p:nvSpPr>
        <p:spPr>
          <a:xfrm>
            <a:off x="4739074" y="3291840"/>
            <a:ext cx="1316736" cy="914400"/>
          </a:xfrm>
          <a:prstGeom prst="roundRect">
            <a:avLst>
              <a:gd name="adj" fmla="val 10000"/>
            </a:avLst>
          </a:prstGeom>
          <a:solidFill>
            <a:srgbClr val="EEF6F5"/>
          </a:solidFill>
          <a:ln w="12700">
            <a:solidFill>
              <a:srgbClr val="EEF6F5"/>
            </a:solidFill>
            <a:prstDash val="solid"/>
          </a:ln>
        </p:spPr>
      </p:sp>
      <p:sp>
        <p:nvSpPr>
          <p:cNvPr id="35" name="Text 33"/>
          <p:cNvSpPr txBox="1"/>
          <p:nvPr/>
        </p:nvSpPr>
        <p:spPr>
          <a:xfrm>
            <a:off x="4830514" y="3291840"/>
            <a:ext cx="1133856" cy="91440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4d Completeness check</a:t>
            </a:r>
            <a:endParaRPr lang="en-US" sz="1050" dirty="0"/>
          </a:p>
        </p:txBody>
      </p:sp>
      <p:sp>
        <p:nvSpPr>
          <p:cNvPr id="36" name="Shape 34"/>
          <p:cNvSpPr/>
          <p:nvPr/>
        </p:nvSpPr>
        <p:spPr>
          <a:xfrm>
            <a:off x="6135885" y="3291840"/>
            <a:ext cx="1316736" cy="914400"/>
          </a:xfrm>
          <a:prstGeom prst="roundRect">
            <a:avLst>
              <a:gd name="adj" fmla="val 10000"/>
            </a:avLst>
          </a:prstGeom>
          <a:solidFill>
            <a:srgbClr val="EEF6F5"/>
          </a:solidFill>
          <a:ln w="12700">
            <a:solidFill>
              <a:srgbClr val="EEF6F5"/>
            </a:solidFill>
            <a:prstDash val="solid"/>
          </a:ln>
        </p:spPr>
      </p:sp>
      <p:sp>
        <p:nvSpPr>
          <p:cNvPr id="37" name="Text 35"/>
          <p:cNvSpPr txBox="1"/>
          <p:nvPr/>
        </p:nvSpPr>
        <p:spPr>
          <a:xfrm>
            <a:off x="6227325" y="3291840"/>
            <a:ext cx="1133856" cy="91440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4e Plain-pair parsing</a:t>
            </a:r>
            <a:endParaRPr lang="en-US" sz="1050" dirty="0"/>
          </a:p>
        </p:txBody>
      </p:sp>
      <p:sp>
        <p:nvSpPr>
          <p:cNvPr id="38" name="Shape 36"/>
          <p:cNvSpPr/>
          <p:nvPr/>
        </p:nvSpPr>
        <p:spPr>
          <a:xfrm>
            <a:off x="7532697" y="3291840"/>
            <a:ext cx="1316736" cy="914400"/>
          </a:xfrm>
          <a:prstGeom prst="roundRect">
            <a:avLst>
              <a:gd name="adj" fmla="val 10000"/>
            </a:avLst>
          </a:prstGeom>
          <a:solidFill>
            <a:srgbClr val="EEF6F5"/>
          </a:solidFill>
          <a:ln w="12700">
            <a:solidFill>
              <a:srgbClr val="EEF6F5"/>
            </a:solidFill>
            <a:prstDash val="solid"/>
          </a:ln>
        </p:spPr>
      </p:sp>
      <p:sp>
        <p:nvSpPr>
          <p:cNvPr id="39" name="Text 37"/>
          <p:cNvSpPr txBox="1"/>
          <p:nvPr/>
        </p:nvSpPr>
        <p:spPr>
          <a:xfrm>
            <a:off x="7624137" y="3291840"/>
            <a:ext cx="1133856" cy="91440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4f Assessment and feedback wording</a:t>
            </a:r>
            <a:endParaRPr lang="en-US" sz="1050" dirty="0"/>
          </a:p>
        </p:txBody>
      </p:sp>
      <p:sp>
        <p:nvSpPr>
          <p:cNvPr id="40" name="Shape 38"/>
          <p:cNvSpPr/>
          <p:nvPr/>
        </p:nvSpPr>
        <p:spPr>
          <a:xfrm>
            <a:off x="8929508" y="3291840"/>
            <a:ext cx="1316736" cy="914400"/>
          </a:xfrm>
          <a:prstGeom prst="roundRect">
            <a:avLst>
              <a:gd name="adj" fmla="val 10000"/>
            </a:avLst>
          </a:prstGeom>
          <a:solidFill>
            <a:srgbClr val="EEF6F5"/>
          </a:solidFill>
          <a:ln w="12700">
            <a:solidFill>
              <a:srgbClr val="EEF6F5"/>
            </a:solidFill>
            <a:prstDash val="solid"/>
          </a:ln>
        </p:spPr>
      </p:sp>
      <p:sp>
        <p:nvSpPr>
          <p:cNvPr id="41" name="Text 39"/>
          <p:cNvSpPr txBox="1"/>
          <p:nvPr/>
        </p:nvSpPr>
        <p:spPr>
          <a:xfrm>
            <a:off x="9020948" y="3291840"/>
            <a:ext cx="1133856" cy="91440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4g Multimedia schema</a:t>
            </a:r>
            <a:endParaRPr lang="en-US" sz="1050" dirty="0"/>
          </a:p>
        </p:txBody>
      </p:sp>
      <p:sp>
        <p:nvSpPr>
          <p:cNvPr id="42" name="Shape 40"/>
          <p:cNvSpPr/>
          <p:nvPr/>
        </p:nvSpPr>
        <p:spPr>
          <a:xfrm>
            <a:off x="10326319" y="3291840"/>
            <a:ext cx="1316736" cy="914400"/>
          </a:xfrm>
          <a:prstGeom prst="roundRect">
            <a:avLst>
              <a:gd name="adj" fmla="val 10000"/>
            </a:avLst>
          </a:prstGeom>
          <a:solidFill>
            <a:srgbClr val="EEF6F5"/>
          </a:solidFill>
          <a:ln w="12700">
            <a:solidFill>
              <a:srgbClr val="EEF6F5"/>
            </a:solidFill>
            <a:prstDash val="solid"/>
          </a:ln>
        </p:spPr>
      </p:sp>
      <p:sp>
        <p:nvSpPr>
          <p:cNvPr id="43" name="Text 41"/>
          <p:cNvSpPr txBox="1"/>
          <p:nvPr/>
        </p:nvSpPr>
        <p:spPr>
          <a:xfrm>
            <a:off x="10417759" y="3291840"/>
            <a:ext cx="1133856" cy="91440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4h Accessibility: baseline once, exceptions only</a:t>
            </a:r>
            <a:endParaRPr lang="en-US" sz="1050" dirty="0"/>
          </a:p>
        </p:txBody>
      </p:sp>
      <p:sp>
        <p:nvSpPr>
          <p:cNvPr id="44" name="Shape 42"/>
          <p:cNvSpPr/>
          <p:nvPr/>
        </p:nvSpPr>
        <p:spPr>
          <a:xfrm>
            <a:off x="548640" y="4434840"/>
            <a:ext cx="5410048" cy="1965960"/>
          </a:xfrm>
          <a:prstGeom prst="roundRect">
            <a:avLst>
              <a:gd name="adj" fmla="val 5581"/>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45" name="Text 43"/>
          <p:cNvSpPr txBox="1"/>
          <p:nvPr/>
        </p:nvSpPr>
        <p:spPr>
          <a:xfrm>
            <a:off x="777240" y="4572000"/>
            <a:ext cx="4952848" cy="1737360"/>
          </a:xfrm>
          <a:prstGeom prst="rect">
            <a:avLst/>
          </a:prstGeom>
          <a:noFill/>
          <a:ln/>
        </p:spPr>
        <p:txBody>
          <a:bodyPr wrap="square" lIns="0" tIns="0" rIns="0" bIns="0" rtlCol="0" anchor="t"/>
          <a:lstStyle/>
          <a:p>
            <a:pPr algn="l" indent="0" marL="0">
              <a:spcAft>
                <a:spcPts val="600"/>
              </a:spcAft>
              <a:buNone/>
            </a:pPr>
            <a:r>
              <a:rPr lang="en-US" sz="1400" b="1" dirty="0">
                <a:solidFill>
                  <a:srgbClr val="12303D"/>
                </a:solidFill>
                <a:latin typeface="Calibri" pitchFamily="34" charset="0"/>
                <a:ea typeface="Calibri" pitchFamily="34" charset="-122"/>
                <a:cs typeface="Calibri" pitchFamily="34" charset="-120"/>
              </a:rPr>
              <a:t>Step 1 turns objectives into job tasks</a:t>
            </a:r>
            <a:endParaRPr lang="en-US" sz="1300" dirty="0"/>
          </a:p>
          <a:p>
            <a:pPr algn="l" indent="0" marL="0">
              <a:spcAft>
                <a:spcPts val="400"/>
              </a:spcAft>
              <a:buNone/>
            </a:pPr>
            <a:r>
              <a:rPr lang="en-US" sz="1150" dirty="0">
                <a:solidFill>
                  <a:srgbClr val="1E2A30"/>
                </a:solidFill>
                <a:latin typeface="Calibri" pitchFamily="34" charset="0"/>
                <a:ea typeface="Calibri" pitchFamily="34" charset="-122"/>
                <a:cs typeface="Calibri" pitchFamily="34" charset="-120"/>
              </a:rPr>
              <a:t>Terminal: "Process a training request from receipt to confirmed approval."</a:t>
            </a:r>
            <a:endParaRPr lang="en-US" sz="1300" dirty="0"/>
          </a:p>
          <a:p>
            <a:pPr algn="l" indent="0" marL="0">
              <a:spcAft>
                <a:spcPts val="400"/>
              </a:spcAft>
              <a:buNone/>
            </a:pPr>
            <a:r>
              <a:rPr lang="en-US" sz="1150" dirty="0">
                <a:solidFill>
                  <a:srgbClr val="1E2A30"/>
                </a:solidFill>
                <a:latin typeface="Calibri" pitchFamily="34" charset="0"/>
                <a:ea typeface="Calibri" pitchFamily="34" charset="-122"/>
                <a:cs typeface="Calibri" pitchFamily="34" charset="-120"/>
              </a:rPr>
              <a:t>Enabling: "Determine which approval authority a request type requires, using the approval reference."</a:t>
            </a:r>
            <a:endParaRPr lang="en-US" sz="1300" dirty="0"/>
          </a:p>
          <a:p>
            <a:pPr algn="l" indent="0" marL="0">
              <a:buNone/>
            </a:pPr>
            <a:r>
              <a:rPr lang="en-US" sz="1150" i="1" dirty="0">
                <a:solidFill>
                  <a:srgbClr val="5C6B73"/>
                </a:solidFill>
                <a:latin typeface="Calibri" pitchFamily="34" charset="0"/>
                <a:ea typeface="Calibri" pitchFamily="34" charset="-122"/>
                <a:cs typeface="Calibri" pitchFamily="34" charset="-120"/>
              </a:rPr>
              <a:t>Job verbs, job order, one quoted source per objective. Bloom stays internal.</a:t>
            </a:r>
            <a:endParaRPr lang="en-US" sz="1300" dirty="0"/>
          </a:p>
        </p:txBody>
      </p:sp>
      <p:sp>
        <p:nvSpPr>
          <p:cNvPr id="46" name="Shape 44"/>
          <p:cNvSpPr/>
          <p:nvPr/>
        </p:nvSpPr>
        <p:spPr>
          <a:xfrm>
            <a:off x="6233008" y="4434840"/>
            <a:ext cx="5410048" cy="1965960"/>
          </a:xfrm>
          <a:prstGeom prst="roundRect">
            <a:avLst>
              <a:gd name="adj" fmla="val 5581"/>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47" name="Text 45"/>
          <p:cNvSpPr txBox="1"/>
          <p:nvPr/>
        </p:nvSpPr>
        <p:spPr>
          <a:xfrm>
            <a:off x="6461608" y="4572000"/>
            <a:ext cx="4952848" cy="1737360"/>
          </a:xfrm>
          <a:prstGeom prst="rect">
            <a:avLst/>
          </a:prstGeom>
          <a:noFill/>
          <a:ln/>
        </p:spPr>
        <p:txBody>
          <a:bodyPr wrap="square" lIns="0" tIns="0" rIns="0" bIns="0" rtlCol="0" anchor="t"/>
          <a:lstStyle/>
          <a:p>
            <a:pPr algn="l" indent="0" marL="0">
              <a:spcAft>
                <a:spcPts val="600"/>
              </a:spcAft>
              <a:buNone/>
            </a:pPr>
            <a:r>
              <a:rPr lang="en-US" sz="1400" b="1" dirty="0">
                <a:solidFill>
                  <a:srgbClr val="12303D"/>
                </a:solidFill>
                <a:latin typeface="Calibri" pitchFamily="34" charset="0"/>
                <a:ea typeface="Calibri" pitchFamily="34" charset="-122"/>
                <a:cs typeface="Calibri" pitchFamily="34" charset="-120"/>
              </a:rPr>
              <a:t>Step 2 is a gate, not a report</a:t>
            </a:r>
            <a:endParaRPr lang="en-US" sz="1300" dirty="0"/>
          </a:p>
          <a:p>
            <a:pPr algn="l" indent="0" marL="0">
              <a:spcAft>
                <a:spcPts val="400"/>
              </a:spcAft>
              <a:buNone/>
            </a:pPr>
            <a:r>
              <a:rPr lang="en-US" sz="1150" dirty="0">
                <a:solidFill>
                  <a:srgbClr val="1E2A30"/>
                </a:solidFill>
                <a:latin typeface="Calibri" pitchFamily="34" charset="0"/>
                <a:ea typeface="Calibri" pitchFamily="34" charset="-122"/>
                <a:cs typeface="Calibri" pitchFamily="34" charset="-120"/>
              </a:rPr>
              <a:t>Design starts only when every objective is verified or gap-approved, the source hierarchy is applied, scenario seeds are logged, and every gap is classified.</a:t>
            </a:r>
            <a:endParaRPr lang="en-US" sz="1300" dirty="0"/>
          </a:p>
          <a:p>
            <a:pPr algn="l" indent="0" marL="0">
              <a:buNone/>
            </a:pPr>
            <a:r>
              <a:rPr lang="en-US" sz="1150" i="1" dirty="0">
                <a:solidFill>
                  <a:srgbClr val="5C6B73"/>
                </a:solidFill>
                <a:latin typeface="Calibri" pitchFamily="34" charset="0"/>
                <a:ea typeface="Calibri" pitchFamily="34" charset="-122"/>
                <a:cs typeface="Calibri" pitchFamily="34" charset="-120"/>
              </a:rPr>
              <a:t>The gate is shown only on request or when a Critical gap stops generation.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F — Format: locked document, one owner per column</a:t>
            </a:r>
            <a:endParaRPr lang="en-US" sz="2800" dirty="0"/>
          </a:p>
        </p:txBody>
      </p:sp>
      <p:sp>
        <p:nvSpPr>
          <p:cNvPr id="3" name="Shape 1"/>
          <p:cNvSpPr/>
          <p:nvPr/>
        </p:nvSpPr>
        <p:spPr>
          <a:xfrm>
            <a:off x="548640" y="1371600"/>
            <a:ext cx="4206240" cy="457200"/>
          </a:xfrm>
          <a:prstGeom prst="roundRect">
            <a:avLst>
              <a:gd name="adj" fmla="val 14000"/>
            </a:avLst>
          </a:prstGeom>
          <a:solidFill>
            <a:srgbClr val="CDE7E3"/>
          </a:solidFill>
          <a:ln w="12700">
            <a:solidFill>
              <a:srgbClr val="CDE7E3"/>
            </a:solidFill>
            <a:prstDash val="solid"/>
          </a:ln>
        </p:spPr>
      </p:sp>
      <p:sp>
        <p:nvSpPr>
          <p:cNvPr id="4" name="Text 2"/>
          <p:cNvSpPr txBox="1"/>
          <p:nvPr/>
        </p:nvSpPr>
        <p:spPr>
          <a:xfrm>
            <a:off x="731520" y="1371600"/>
            <a:ext cx="3840480" cy="457200"/>
          </a:xfrm>
          <a:prstGeom prst="rect">
            <a:avLst/>
          </a:prstGeom>
          <a:noFill/>
          <a:ln/>
        </p:spPr>
        <p:txBody>
          <a:bodyPr wrap="square" lIns="0" tIns="0" rIns="0" bIns="0" rtlCol="0" anchor="ctr"/>
          <a:lstStyle/>
          <a:p>
            <a:pPr algn="l" indent="0" marL="0">
              <a:buNone/>
            </a:pPr>
            <a:r>
              <a:rPr lang="en-US" sz="1200" dirty="0">
                <a:solidFill>
                  <a:srgbClr val="12303D"/>
                </a:solidFill>
                <a:latin typeface="Calibri" pitchFamily="34" charset="0"/>
                <a:ea typeface="Calibri" pitchFamily="34" charset="-122"/>
                <a:cs typeface="Calibri" pitchFamily="34" charset="-120"/>
              </a:rPr>
              <a:t>Project or Module Title</a:t>
            </a:r>
            <a:endParaRPr lang="en-US" sz="1200" dirty="0"/>
          </a:p>
        </p:txBody>
      </p:sp>
      <p:sp>
        <p:nvSpPr>
          <p:cNvPr id="5" name="Shape 3"/>
          <p:cNvSpPr/>
          <p:nvPr/>
        </p:nvSpPr>
        <p:spPr>
          <a:xfrm>
            <a:off x="548640" y="1938528"/>
            <a:ext cx="4206240" cy="457200"/>
          </a:xfrm>
          <a:prstGeom prst="roundRect">
            <a:avLst>
              <a:gd name="adj" fmla="val 14000"/>
            </a:avLst>
          </a:prstGeom>
          <a:solidFill>
            <a:srgbClr val="CDE7E3"/>
          </a:solidFill>
          <a:ln w="12700">
            <a:solidFill>
              <a:srgbClr val="CDE7E3"/>
            </a:solidFill>
            <a:prstDash val="solid"/>
          </a:ln>
        </p:spPr>
      </p:sp>
      <p:sp>
        <p:nvSpPr>
          <p:cNvPr id="6" name="Text 4"/>
          <p:cNvSpPr txBox="1"/>
          <p:nvPr/>
        </p:nvSpPr>
        <p:spPr>
          <a:xfrm>
            <a:off x="731520" y="1938528"/>
            <a:ext cx="3840480" cy="457200"/>
          </a:xfrm>
          <a:prstGeom prst="rect">
            <a:avLst/>
          </a:prstGeom>
          <a:noFill/>
          <a:ln/>
        </p:spPr>
        <p:txBody>
          <a:bodyPr wrap="square" lIns="0" tIns="0" rIns="0" bIns="0" rtlCol="0" anchor="ctr"/>
          <a:lstStyle/>
          <a:p>
            <a:pPr algn="l" indent="0" marL="0">
              <a:buNone/>
            </a:pPr>
            <a:r>
              <a:rPr lang="en-US" sz="1200" dirty="0">
                <a:solidFill>
                  <a:srgbClr val="12303D"/>
                </a:solidFill>
                <a:latin typeface="Calibri" pitchFamily="34" charset="0"/>
                <a:ea typeface="Calibri" pitchFamily="34" charset="-122"/>
                <a:cs typeface="Calibri" pitchFamily="34" charset="-120"/>
              </a:rPr>
              <a:t>Document Control (when available)</a:t>
            </a:r>
            <a:endParaRPr lang="en-US" sz="1200" dirty="0"/>
          </a:p>
        </p:txBody>
      </p:sp>
      <p:sp>
        <p:nvSpPr>
          <p:cNvPr id="7" name="Shape 5"/>
          <p:cNvSpPr/>
          <p:nvPr/>
        </p:nvSpPr>
        <p:spPr>
          <a:xfrm>
            <a:off x="548640" y="2505456"/>
            <a:ext cx="4206240" cy="457200"/>
          </a:xfrm>
          <a:prstGeom prst="roundRect">
            <a:avLst>
              <a:gd name="adj" fmla="val 14000"/>
            </a:avLst>
          </a:prstGeom>
          <a:solidFill>
            <a:srgbClr val="CDE7E3"/>
          </a:solidFill>
          <a:ln w="12700">
            <a:solidFill>
              <a:srgbClr val="CDE7E3"/>
            </a:solidFill>
            <a:prstDash val="solid"/>
          </a:ln>
        </p:spPr>
      </p:sp>
      <p:sp>
        <p:nvSpPr>
          <p:cNvPr id="8" name="Text 6"/>
          <p:cNvSpPr txBox="1"/>
          <p:nvPr/>
        </p:nvSpPr>
        <p:spPr>
          <a:xfrm>
            <a:off x="731520" y="2505456"/>
            <a:ext cx="3840480" cy="457200"/>
          </a:xfrm>
          <a:prstGeom prst="rect">
            <a:avLst/>
          </a:prstGeom>
          <a:noFill/>
          <a:ln/>
        </p:spPr>
        <p:txBody>
          <a:bodyPr wrap="square" lIns="0" tIns="0" rIns="0" bIns="0" rtlCol="0" anchor="ctr"/>
          <a:lstStyle/>
          <a:p>
            <a:pPr algn="l" indent="0" marL="0">
              <a:buNone/>
            </a:pPr>
            <a:r>
              <a:rPr lang="en-US" sz="1200" dirty="0">
                <a:solidFill>
                  <a:srgbClr val="12303D"/>
                </a:solidFill>
                <a:latin typeface="Calibri" pitchFamily="34" charset="0"/>
                <a:ea typeface="Calibri" pitchFamily="34" charset="-122"/>
                <a:cs typeface="Calibri" pitchFamily="34" charset="-120"/>
              </a:rPr>
              <a:t>1. Style</a:t>
            </a:r>
            <a:endParaRPr lang="en-US" sz="1200" dirty="0"/>
          </a:p>
        </p:txBody>
      </p:sp>
      <p:sp>
        <p:nvSpPr>
          <p:cNvPr id="9" name="Shape 7"/>
          <p:cNvSpPr/>
          <p:nvPr/>
        </p:nvSpPr>
        <p:spPr>
          <a:xfrm>
            <a:off x="548640" y="3072384"/>
            <a:ext cx="4206240" cy="457200"/>
          </a:xfrm>
          <a:prstGeom prst="roundRect">
            <a:avLst>
              <a:gd name="adj" fmla="val 14000"/>
            </a:avLst>
          </a:prstGeom>
          <a:solidFill>
            <a:srgbClr val="CDE7E3"/>
          </a:solidFill>
          <a:ln w="12700">
            <a:solidFill>
              <a:srgbClr val="CDE7E3"/>
            </a:solidFill>
            <a:prstDash val="solid"/>
          </a:ln>
        </p:spPr>
      </p:sp>
      <p:sp>
        <p:nvSpPr>
          <p:cNvPr id="10" name="Text 8"/>
          <p:cNvSpPr txBox="1"/>
          <p:nvPr/>
        </p:nvSpPr>
        <p:spPr>
          <a:xfrm>
            <a:off x="731520" y="3072384"/>
            <a:ext cx="3840480" cy="457200"/>
          </a:xfrm>
          <a:prstGeom prst="rect">
            <a:avLst/>
          </a:prstGeom>
          <a:noFill/>
          <a:ln/>
        </p:spPr>
        <p:txBody>
          <a:bodyPr wrap="square" lIns="0" tIns="0" rIns="0" bIns="0" rtlCol="0" anchor="ctr"/>
          <a:lstStyle/>
          <a:p>
            <a:pPr algn="l" indent="0" marL="0">
              <a:buNone/>
            </a:pPr>
            <a:r>
              <a:rPr lang="en-US" sz="1200" dirty="0">
                <a:solidFill>
                  <a:srgbClr val="12303D"/>
                </a:solidFill>
                <a:latin typeface="Calibri" pitchFamily="34" charset="0"/>
                <a:ea typeface="Calibri" pitchFamily="34" charset="-122"/>
                <a:cs typeface="Calibri" pitchFamily="34" charset="-120"/>
              </a:rPr>
              <a:t>2. Developer Notes – All Slides</a:t>
            </a:r>
            <a:endParaRPr lang="en-US" sz="1200" dirty="0"/>
          </a:p>
        </p:txBody>
      </p:sp>
      <p:sp>
        <p:nvSpPr>
          <p:cNvPr id="11" name="Shape 9"/>
          <p:cNvSpPr/>
          <p:nvPr/>
        </p:nvSpPr>
        <p:spPr>
          <a:xfrm>
            <a:off x="548640" y="3639312"/>
            <a:ext cx="4206240" cy="457200"/>
          </a:xfrm>
          <a:prstGeom prst="roundRect">
            <a:avLst>
              <a:gd name="adj" fmla="val 14000"/>
            </a:avLst>
          </a:prstGeom>
          <a:solidFill>
            <a:srgbClr val="CDE7E3"/>
          </a:solidFill>
          <a:ln w="12700">
            <a:solidFill>
              <a:srgbClr val="CDE7E3"/>
            </a:solidFill>
            <a:prstDash val="solid"/>
          </a:ln>
        </p:spPr>
      </p:sp>
      <p:sp>
        <p:nvSpPr>
          <p:cNvPr id="12" name="Text 10"/>
          <p:cNvSpPr txBox="1"/>
          <p:nvPr/>
        </p:nvSpPr>
        <p:spPr>
          <a:xfrm>
            <a:off x="731520" y="3639312"/>
            <a:ext cx="3840480" cy="457200"/>
          </a:xfrm>
          <a:prstGeom prst="rect">
            <a:avLst/>
          </a:prstGeom>
          <a:noFill/>
          <a:ln/>
        </p:spPr>
        <p:txBody>
          <a:bodyPr wrap="square" lIns="0" tIns="0" rIns="0" bIns="0" rtlCol="0" anchor="ctr"/>
          <a:lstStyle/>
          <a:p>
            <a:pPr algn="l" indent="0" marL="0">
              <a:buNone/>
            </a:pPr>
            <a:r>
              <a:rPr lang="en-US" sz="1200" dirty="0">
                <a:solidFill>
                  <a:srgbClr val="12303D"/>
                </a:solidFill>
                <a:latin typeface="Calibri" pitchFamily="34" charset="0"/>
                <a:ea typeface="Calibri" pitchFamily="34" charset="-122"/>
                <a:cs typeface="Calibri" pitchFamily="34" charset="-120"/>
              </a:rPr>
              <a:t>3. Learning Objectives: # | Objective | Level</a:t>
            </a:r>
            <a:endParaRPr lang="en-US" sz="1200" dirty="0"/>
          </a:p>
        </p:txBody>
      </p:sp>
      <p:sp>
        <p:nvSpPr>
          <p:cNvPr id="13" name="Shape 11"/>
          <p:cNvSpPr/>
          <p:nvPr/>
        </p:nvSpPr>
        <p:spPr>
          <a:xfrm>
            <a:off x="548640" y="4206240"/>
            <a:ext cx="4206240" cy="457200"/>
          </a:xfrm>
          <a:prstGeom prst="roundRect">
            <a:avLst>
              <a:gd name="adj" fmla="val 14000"/>
            </a:avLst>
          </a:prstGeom>
          <a:solidFill>
            <a:srgbClr val="F0A202"/>
          </a:solidFill>
          <a:ln w="12700">
            <a:solidFill>
              <a:srgbClr val="F0A202"/>
            </a:solidFill>
            <a:prstDash val="solid"/>
          </a:ln>
        </p:spPr>
      </p:sp>
      <p:sp>
        <p:nvSpPr>
          <p:cNvPr id="14" name="Text 12"/>
          <p:cNvSpPr txBox="1"/>
          <p:nvPr/>
        </p:nvSpPr>
        <p:spPr>
          <a:xfrm>
            <a:off x="731520" y="4206240"/>
            <a:ext cx="3840480" cy="457200"/>
          </a:xfrm>
          <a:prstGeom prst="rect">
            <a:avLst/>
          </a:prstGeom>
          <a:noFill/>
          <a:ln/>
        </p:spPr>
        <p:txBody>
          <a:bodyPr wrap="square" lIns="0" tIns="0" rIns="0" bIns="0" rtlCol="0" anchor="ctr"/>
          <a:lstStyle/>
          <a:p>
            <a:pPr algn="l" indent="0" marL="0">
              <a:buNone/>
            </a:pPr>
            <a:r>
              <a:rPr lang="en-US" sz="1200" b="1" dirty="0">
                <a:solidFill>
                  <a:srgbClr val="12303D"/>
                </a:solidFill>
                <a:latin typeface="Calibri" pitchFamily="34" charset="0"/>
                <a:ea typeface="Calibri" pitchFamily="34" charset="-122"/>
                <a:cs typeface="Calibri" pitchFamily="34" charset="-120"/>
              </a:rPr>
              <a:t>4. Storyboard table</a:t>
            </a:r>
            <a:endParaRPr lang="en-US" sz="1200" dirty="0"/>
          </a:p>
        </p:txBody>
      </p:sp>
      <p:sp>
        <p:nvSpPr>
          <p:cNvPr id="15" name="Shape 13"/>
          <p:cNvSpPr/>
          <p:nvPr/>
        </p:nvSpPr>
        <p:spPr>
          <a:xfrm>
            <a:off x="548640" y="4892040"/>
            <a:ext cx="841248" cy="502920"/>
          </a:xfrm>
          <a:prstGeom prst="rect">
            <a:avLst/>
          </a:prstGeom>
          <a:solidFill>
            <a:srgbClr val="FFFFFF"/>
          </a:solidFill>
          <a:ln w="12700">
            <a:solidFill>
              <a:srgbClr val="12303D"/>
            </a:solidFill>
            <a:prstDash val="solid"/>
          </a:ln>
        </p:spPr>
      </p:sp>
      <p:sp>
        <p:nvSpPr>
          <p:cNvPr id="16" name="Text 14"/>
          <p:cNvSpPr txBox="1"/>
          <p:nvPr/>
        </p:nvSpPr>
        <p:spPr>
          <a:xfrm>
            <a:off x="576072" y="4892040"/>
            <a:ext cx="786384" cy="502920"/>
          </a:xfrm>
          <a:prstGeom prst="rect">
            <a:avLst/>
          </a:prstGeom>
          <a:noFill/>
          <a:ln/>
        </p:spPr>
        <p:txBody>
          <a:bodyPr wrap="square" lIns="0" tIns="0" rIns="0" bIns="0" rtlCol="0" anchor="ctr"/>
          <a:lstStyle/>
          <a:p>
            <a:pPr algn="ctr" indent="0" marL="0">
              <a:buNone/>
            </a:pPr>
            <a:r>
              <a:rPr lang="en-US" sz="950" b="1" dirty="0">
                <a:solidFill>
                  <a:srgbClr val="12303D"/>
                </a:solidFill>
                <a:latin typeface="Calibri" pitchFamily="34" charset="0"/>
                <a:ea typeface="Calibri" pitchFamily="34" charset="-122"/>
                <a:cs typeface="Calibri" pitchFamily="34" charset="-120"/>
              </a:rPr>
              <a:t>Slide #</a:t>
            </a:r>
            <a:endParaRPr lang="en-US" sz="950" dirty="0"/>
          </a:p>
        </p:txBody>
      </p:sp>
      <p:sp>
        <p:nvSpPr>
          <p:cNvPr id="17" name="Shape 15"/>
          <p:cNvSpPr/>
          <p:nvPr/>
        </p:nvSpPr>
        <p:spPr>
          <a:xfrm>
            <a:off x="1389888" y="4892040"/>
            <a:ext cx="841248" cy="502920"/>
          </a:xfrm>
          <a:prstGeom prst="rect">
            <a:avLst/>
          </a:prstGeom>
          <a:solidFill>
            <a:srgbClr val="FFFFFF"/>
          </a:solidFill>
          <a:ln w="12700">
            <a:solidFill>
              <a:srgbClr val="12303D"/>
            </a:solidFill>
            <a:prstDash val="solid"/>
          </a:ln>
        </p:spPr>
      </p:sp>
      <p:sp>
        <p:nvSpPr>
          <p:cNvPr id="18" name="Text 16"/>
          <p:cNvSpPr txBox="1"/>
          <p:nvPr/>
        </p:nvSpPr>
        <p:spPr>
          <a:xfrm>
            <a:off x="1417320" y="4892040"/>
            <a:ext cx="786384" cy="502920"/>
          </a:xfrm>
          <a:prstGeom prst="rect">
            <a:avLst/>
          </a:prstGeom>
          <a:noFill/>
          <a:ln/>
        </p:spPr>
        <p:txBody>
          <a:bodyPr wrap="square" lIns="0" tIns="0" rIns="0" bIns="0" rtlCol="0" anchor="ctr"/>
          <a:lstStyle/>
          <a:p>
            <a:pPr algn="ctr" indent="0" marL="0">
              <a:buNone/>
            </a:pPr>
            <a:r>
              <a:rPr lang="en-US" sz="950" b="1" dirty="0">
                <a:solidFill>
                  <a:srgbClr val="12303D"/>
                </a:solidFill>
                <a:latin typeface="Calibri" pitchFamily="34" charset="0"/>
                <a:ea typeface="Calibri" pitchFamily="34" charset="-122"/>
                <a:cs typeface="Calibri" pitchFamily="34" charset="-120"/>
              </a:rPr>
              <a:t>Slide Title</a:t>
            </a:r>
            <a:endParaRPr lang="en-US" sz="950" dirty="0"/>
          </a:p>
        </p:txBody>
      </p:sp>
      <p:sp>
        <p:nvSpPr>
          <p:cNvPr id="19" name="Shape 17"/>
          <p:cNvSpPr/>
          <p:nvPr/>
        </p:nvSpPr>
        <p:spPr>
          <a:xfrm>
            <a:off x="2231136" y="4892040"/>
            <a:ext cx="841248" cy="502920"/>
          </a:xfrm>
          <a:prstGeom prst="rect">
            <a:avLst/>
          </a:prstGeom>
          <a:solidFill>
            <a:srgbClr val="FFFFFF"/>
          </a:solidFill>
          <a:ln w="12700">
            <a:solidFill>
              <a:srgbClr val="12303D"/>
            </a:solidFill>
            <a:prstDash val="solid"/>
          </a:ln>
        </p:spPr>
      </p:sp>
      <p:sp>
        <p:nvSpPr>
          <p:cNvPr id="20" name="Text 18"/>
          <p:cNvSpPr txBox="1"/>
          <p:nvPr/>
        </p:nvSpPr>
        <p:spPr>
          <a:xfrm>
            <a:off x="2258568" y="4892040"/>
            <a:ext cx="786384" cy="502920"/>
          </a:xfrm>
          <a:prstGeom prst="rect">
            <a:avLst/>
          </a:prstGeom>
          <a:noFill/>
          <a:ln/>
        </p:spPr>
        <p:txBody>
          <a:bodyPr wrap="square" lIns="0" tIns="0" rIns="0" bIns="0" rtlCol="0" anchor="ctr"/>
          <a:lstStyle/>
          <a:p>
            <a:pPr algn="ctr" indent="0" marL="0">
              <a:buNone/>
            </a:pPr>
            <a:r>
              <a:rPr lang="en-US" sz="950" b="1" dirty="0">
                <a:solidFill>
                  <a:srgbClr val="12303D"/>
                </a:solidFill>
                <a:latin typeface="Calibri" pitchFamily="34" charset="0"/>
                <a:ea typeface="Calibri" pitchFamily="34" charset="-122"/>
                <a:cs typeface="Calibri" pitchFamily="34" charset="-120"/>
              </a:rPr>
              <a:t>Text Content</a:t>
            </a:r>
            <a:endParaRPr lang="en-US" sz="950" dirty="0"/>
          </a:p>
        </p:txBody>
      </p:sp>
      <p:sp>
        <p:nvSpPr>
          <p:cNvPr id="21" name="Shape 19"/>
          <p:cNvSpPr/>
          <p:nvPr/>
        </p:nvSpPr>
        <p:spPr>
          <a:xfrm>
            <a:off x="3072384" y="4892040"/>
            <a:ext cx="841248" cy="502920"/>
          </a:xfrm>
          <a:prstGeom prst="rect">
            <a:avLst/>
          </a:prstGeom>
          <a:solidFill>
            <a:srgbClr val="FFFFFF"/>
          </a:solidFill>
          <a:ln w="12700">
            <a:solidFill>
              <a:srgbClr val="12303D"/>
            </a:solidFill>
            <a:prstDash val="solid"/>
          </a:ln>
        </p:spPr>
      </p:sp>
      <p:sp>
        <p:nvSpPr>
          <p:cNvPr id="22" name="Text 20"/>
          <p:cNvSpPr txBox="1"/>
          <p:nvPr/>
        </p:nvSpPr>
        <p:spPr>
          <a:xfrm>
            <a:off x="3099816" y="4892040"/>
            <a:ext cx="786384" cy="502920"/>
          </a:xfrm>
          <a:prstGeom prst="rect">
            <a:avLst/>
          </a:prstGeom>
          <a:noFill/>
          <a:ln/>
        </p:spPr>
        <p:txBody>
          <a:bodyPr wrap="square" lIns="0" tIns="0" rIns="0" bIns="0" rtlCol="0" anchor="ctr"/>
          <a:lstStyle/>
          <a:p>
            <a:pPr algn="ctr" indent="0" marL="0">
              <a:buNone/>
            </a:pPr>
            <a:r>
              <a:rPr lang="en-US" sz="950" b="1" dirty="0">
                <a:solidFill>
                  <a:srgbClr val="12303D"/>
                </a:solidFill>
                <a:latin typeface="Calibri" pitchFamily="34" charset="0"/>
                <a:ea typeface="Calibri" pitchFamily="34" charset="-122"/>
                <a:cs typeface="Calibri" pitchFamily="34" charset="-120"/>
              </a:rPr>
              <a:t>Multimedia</a:t>
            </a:r>
            <a:endParaRPr lang="en-US" sz="950" dirty="0"/>
          </a:p>
        </p:txBody>
      </p:sp>
      <p:sp>
        <p:nvSpPr>
          <p:cNvPr id="23" name="Shape 21"/>
          <p:cNvSpPr/>
          <p:nvPr/>
        </p:nvSpPr>
        <p:spPr>
          <a:xfrm>
            <a:off x="3913632" y="4892040"/>
            <a:ext cx="841248" cy="502920"/>
          </a:xfrm>
          <a:prstGeom prst="rect">
            <a:avLst/>
          </a:prstGeom>
          <a:solidFill>
            <a:srgbClr val="FFFFFF"/>
          </a:solidFill>
          <a:ln w="12700">
            <a:solidFill>
              <a:srgbClr val="12303D"/>
            </a:solidFill>
            <a:prstDash val="solid"/>
          </a:ln>
        </p:spPr>
      </p:sp>
      <p:sp>
        <p:nvSpPr>
          <p:cNvPr id="24" name="Text 22"/>
          <p:cNvSpPr txBox="1"/>
          <p:nvPr/>
        </p:nvSpPr>
        <p:spPr>
          <a:xfrm>
            <a:off x="3941064" y="4892040"/>
            <a:ext cx="786384" cy="502920"/>
          </a:xfrm>
          <a:prstGeom prst="rect">
            <a:avLst/>
          </a:prstGeom>
          <a:noFill/>
          <a:ln/>
        </p:spPr>
        <p:txBody>
          <a:bodyPr wrap="square" lIns="0" tIns="0" rIns="0" bIns="0" rtlCol="0" anchor="ctr"/>
          <a:lstStyle/>
          <a:p>
            <a:pPr algn="ctr" indent="0" marL="0">
              <a:buNone/>
            </a:pPr>
            <a:r>
              <a:rPr lang="en-US" sz="950" b="1" dirty="0">
                <a:solidFill>
                  <a:srgbClr val="12303D"/>
                </a:solidFill>
                <a:latin typeface="Calibri" pitchFamily="34" charset="0"/>
                <a:ea typeface="Calibri" pitchFamily="34" charset="-122"/>
                <a:cs typeface="Calibri" pitchFamily="34" charset="-120"/>
              </a:rPr>
              <a:t>Interaction</a:t>
            </a:r>
            <a:endParaRPr lang="en-US" sz="950" dirty="0"/>
          </a:p>
        </p:txBody>
      </p:sp>
      <p:sp>
        <p:nvSpPr>
          <p:cNvPr id="25" name="Text 23"/>
          <p:cNvSpPr txBox="1"/>
          <p:nvPr/>
        </p:nvSpPr>
        <p:spPr>
          <a:xfrm>
            <a:off x="548640" y="5486400"/>
            <a:ext cx="4206240" cy="640080"/>
          </a:xfrm>
          <a:prstGeom prst="rect">
            <a:avLst/>
          </a:prstGeom>
          <a:noFill/>
          <a:ln/>
        </p:spPr>
        <p:txBody>
          <a:bodyPr wrap="square" lIns="0" tIns="0" rIns="0" bIns="0" rtlCol="0" anchor="t"/>
          <a:lstStyle/>
          <a:p>
            <a:pPr algn="l" indent="0" marL="0">
              <a:buNone/>
            </a:pPr>
            <a:r>
              <a:rPr lang="en-US" sz="1100" i="1" dirty="0">
                <a:solidFill>
                  <a:srgbClr val="5C6B73"/>
                </a:solidFill>
                <a:latin typeface="Calibri" pitchFamily="34" charset="0"/>
                <a:ea typeface="Calibri" pitchFamily="34" charset="-122"/>
                <a:cs typeface="Calibri" pitchFamily="34" charset="-120"/>
              </a:rPr>
              <a:t>One row per slide. Real black borders, merged title rows, template preserved when supplied.</a:t>
            </a:r>
            <a:endParaRPr lang="en-US" sz="1100" dirty="0"/>
          </a:p>
        </p:txBody>
      </p:sp>
      <p:sp>
        <p:nvSpPr>
          <p:cNvPr id="26" name="Text 24"/>
          <p:cNvSpPr txBox="1"/>
          <p:nvPr/>
        </p:nvSpPr>
        <p:spPr>
          <a:xfrm>
            <a:off x="5120640" y="1325880"/>
            <a:ext cx="6522415" cy="365760"/>
          </a:xfrm>
          <a:prstGeom prst="rect">
            <a:avLst/>
          </a:prstGeom>
          <a:noFill/>
          <a:ln/>
        </p:spPr>
        <p:txBody>
          <a:bodyPr wrap="square" lIns="0" tIns="0" rIns="0" bIns="0" rtlCol="0" anchor="t"/>
          <a:lstStyle/>
          <a:p>
            <a:pPr algn="l" indent="0" marL="0">
              <a:buNone/>
            </a:pPr>
            <a:r>
              <a:rPr lang="en-US" sz="1400" b="1" dirty="0">
                <a:solidFill>
                  <a:srgbClr val="12303D"/>
                </a:solidFill>
                <a:latin typeface="Calibri" pitchFamily="34" charset="0"/>
                <a:ea typeface="Calibri" pitchFamily="34" charset="-122"/>
                <a:cs typeface="Calibri" pitchFamily="34" charset="-120"/>
              </a:rPr>
              <a:t>Column ownership: every object lives in exactly one place</a:t>
            </a:r>
            <a:endParaRPr lang="en-US" sz="1400" dirty="0"/>
          </a:p>
        </p:txBody>
      </p:sp>
      <p:sp>
        <p:nvSpPr>
          <p:cNvPr id="27" name="Shape 25"/>
          <p:cNvSpPr/>
          <p:nvPr/>
        </p:nvSpPr>
        <p:spPr>
          <a:xfrm>
            <a:off x="5120640" y="1783080"/>
            <a:ext cx="2052218" cy="2971800"/>
          </a:xfrm>
          <a:prstGeom prst="roundRect">
            <a:avLst>
              <a:gd name="adj" fmla="val 534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8" name="Text 26"/>
          <p:cNvSpPr txBox="1"/>
          <p:nvPr/>
        </p:nvSpPr>
        <p:spPr>
          <a:xfrm>
            <a:off x="5303520" y="1920240"/>
            <a:ext cx="1686458" cy="365760"/>
          </a:xfrm>
          <a:prstGeom prst="rect">
            <a:avLst/>
          </a:prstGeom>
          <a:noFill/>
          <a:ln/>
        </p:spPr>
        <p:txBody>
          <a:bodyPr wrap="square" lIns="0" tIns="0" rIns="0" bIns="0" rtlCol="0" anchor="t"/>
          <a:lstStyle/>
          <a:p>
            <a:pPr algn="l" indent="0" marL="0">
              <a:buNone/>
            </a:pPr>
            <a:r>
              <a:rPr lang="en-US" sz="1300" b="1" dirty="0">
                <a:solidFill>
                  <a:srgbClr val="1F7A8C"/>
                </a:solidFill>
                <a:latin typeface="Calibri" pitchFamily="34" charset="0"/>
                <a:ea typeface="Calibri" pitchFamily="34" charset="-122"/>
                <a:cs typeface="Calibri" pitchFamily="34" charset="-120"/>
              </a:rPr>
              <a:t>Text Content</a:t>
            </a:r>
            <a:endParaRPr lang="en-US" sz="1300" dirty="0"/>
          </a:p>
        </p:txBody>
      </p:sp>
      <p:sp>
        <p:nvSpPr>
          <p:cNvPr id="29" name="Text 27"/>
          <p:cNvSpPr txBox="1"/>
          <p:nvPr/>
        </p:nvSpPr>
        <p:spPr>
          <a:xfrm>
            <a:off x="5303520" y="2331720"/>
            <a:ext cx="1732178" cy="23317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Title as Heading 1</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Body and section headings</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Stem and task instruction</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Options, items, targets, categories</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Card, tab, and panel content</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One narration script</a:t>
            </a:r>
            <a:endParaRPr lang="en-US" sz="1100" dirty="0"/>
          </a:p>
        </p:txBody>
      </p:sp>
      <p:sp>
        <p:nvSpPr>
          <p:cNvPr id="30" name="Shape 28"/>
          <p:cNvSpPr/>
          <p:nvPr/>
        </p:nvSpPr>
        <p:spPr>
          <a:xfrm>
            <a:off x="7355738" y="1783080"/>
            <a:ext cx="2052218" cy="2971800"/>
          </a:xfrm>
          <a:prstGeom prst="roundRect">
            <a:avLst>
              <a:gd name="adj" fmla="val 534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31" name="Text 29"/>
          <p:cNvSpPr txBox="1"/>
          <p:nvPr/>
        </p:nvSpPr>
        <p:spPr>
          <a:xfrm>
            <a:off x="7538618" y="1920240"/>
            <a:ext cx="1686458" cy="365760"/>
          </a:xfrm>
          <a:prstGeom prst="rect">
            <a:avLst/>
          </a:prstGeom>
          <a:noFill/>
          <a:ln/>
        </p:spPr>
        <p:txBody>
          <a:bodyPr wrap="square" lIns="0" tIns="0" rIns="0" bIns="0" rtlCol="0" anchor="t"/>
          <a:lstStyle/>
          <a:p>
            <a:pPr algn="l" indent="0" marL="0">
              <a:buNone/>
            </a:pPr>
            <a:r>
              <a:rPr lang="en-US" sz="1300" b="1" dirty="0">
                <a:solidFill>
                  <a:srgbClr val="1F7A8C"/>
                </a:solidFill>
                <a:latin typeface="Calibri" pitchFamily="34" charset="0"/>
                <a:ea typeface="Calibri" pitchFamily="34" charset="-122"/>
                <a:cs typeface="Calibri" pitchFamily="34" charset="-120"/>
              </a:rPr>
              <a:t>Multimedia</a:t>
            </a:r>
            <a:endParaRPr lang="en-US" sz="1300" dirty="0"/>
          </a:p>
        </p:txBody>
      </p:sp>
      <p:sp>
        <p:nvSpPr>
          <p:cNvPr id="32" name="Text 30"/>
          <p:cNvSpPr txBox="1"/>
          <p:nvPr/>
        </p:nvSpPr>
        <p:spPr>
          <a:xfrm>
            <a:off x="7538618" y="2331720"/>
            <a:ext cx="1732178" cy="23317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Layout/Visual</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Asset/Request, only when needed</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Alt Text</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Mock-up when a layout has more than five objects</a:t>
            </a:r>
            <a:endParaRPr lang="en-US" sz="1100" dirty="0"/>
          </a:p>
        </p:txBody>
      </p:sp>
      <p:sp>
        <p:nvSpPr>
          <p:cNvPr id="33" name="Shape 31"/>
          <p:cNvSpPr/>
          <p:nvPr/>
        </p:nvSpPr>
        <p:spPr>
          <a:xfrm>
            <a:off x="9590837" y="1783080"/>
            <a:ext cx="2052218" cy="2971800"/>
          </a:xfrm>
          <a:prstGeom prst="roundRect">
            <a:avLst>
              <a:gd name="adj" fmla="val 534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34" name="Text 32"/>
          <p:cNvSpPr txBox="1"/>
          <p:nvPr/>
        </p:nvSpPr>
        <p:spPr>
          <a:xfrm>
            <a:off x="9773717" y="1920240"/>
            <a:ext cx="1686458" cy="365760"/>
          </a:xfrm>
          <a:prstGeom prst="rect">
            <a:avLst/>
          </a:prstGeom>
          <a:noFill/>
          <a:ln/>
        </p:spPr>
        <p:txBody>
          <a:bodyPr wrap="square" lIns="0" tIns="0" rIns="0" bIns="0" rtlCol="0" anchor="t"/>
          <a:lstStyle/>
          <a:p>
            <a:pPr algn="l" indent="0" marL="0">
              <a:buNone/>
            </a:pPr>
            <a:r>
              <a:rPr lang="en-US" sz="1300" b="1" dirty="0">
                <a:solidFill>
                  <a:srgbClr val="1F7A8C"/>
                </a:solidFill>
                <a:latin typeface="Calibri" pitchFamily="34" charset="0"/>
                <a:ea typeface="Calibri" pitchFamily="34" charset="-122"/>
                <a:cs typeface="Calibri" pitchFamily="34" charset="-120"/>
              </a:rPr>
              <a:t>Interaction</a:t>
            </a:r>
            <a:endParaRPr lang="en-US" sz="1300" dirty="0"/>
          </a:p>
        </p:txBody>
      </p:sp>
      <p:sp>
        <p:nvSpPr>
          <p:cNvPr id="35" name="Text 33"/>
          <p:cNvSpPr txBox="1"/>
          <p:nvPr/>
        </p:nvSpPr>
        <p:spPr>
          <a:xfrm>
            <a:off x="9773717" y="2331720"/>
            <a:ext cx="1732178" cy="23317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Component name and Mode</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Object map by cross-reference</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Plain-pair correct results</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Three feedback states</a:t>
            </a:r>
            <a:endParaRPr lang="en-US" sz="1100" dirty="0"/>
          </a:p>
          <a:p>
            <a:pPr marL="342900" indent="-342900">
              <a:spcAft>
                <a:spcPts val="400"/>
              </a:spcAft>
              <a:buSzPct val="100000"/>
              <a:buChar char="•"/>
            </a:pPr>
            <a:r>
              <a:rPr lang="en-US" sz="1100" dirty="0">
                <a:solidFill>
                  <a:srgbClr val="1E2A30"/>
                </a:solidFill>
                <a:latin typeface="Calibri" pitchFamily="34" charset="0"/>
                <a:ea typeface="Calibri" pitchFamily="34" charset="-122"/>
                <a:cs typeface="Calibri" pitchFamily="34" charset="-120"/>
              </a:rPr>
              <a:t>Scoring, placement, randomization</a:t>
            </a:r>
            <a:endParaRPr lang="en-US" sz="1100" dirty="0"/>
          </a:p>
        </p:txBody>
      </p:sp>
      <p:sp>
        <p:nvSpPr>
          <p:cNvPr id="36" name="Text 34"/>
          <p:cNvSpPr txBox="1"/>
          <p:nvPr/>
        </p:nvSpPr>
        <p:spPr>
          <a:xfrm>
            <a:off x="5120640" y="4937760"/>
            <a:ext cx="6522415" cy="320040"/>
          </a:xfrm>
          <a:prstGeom prst="rect">
            <a:avLst/>
          </a:prstGeom>
          <a:noFill/>
          <a:ln/>
        </p:spPr>
        <p:txBody>
          <a:bodyPr wrap="square" lIns="0" tIns="0" rIns="0" bIns="0" rtlCol="0" anchor="t"/>
          <a:lstStyle/>
          <a:p>
            <a:pPr algn="l" indent="0" marL="0">
              <a:buNone/>
            </a:pPr>
            <a:r>
              <a:rPr lang="en-US" sz="1300" b="1" dirty="0">
                <a:solidFill>
                  <a:srgbClr val="12303D"/>
                </a:solidFill>
                <a:latin typeface="Calibri" pitchFamily="34" charset="0"/>
                <a:ea typeface="Calibri" pitchFamily="34" charset="-122"/>
                <a:cs typeface="Calibri" pitchFamily="34" charset="-120"/>
              </a:rPr>
              <a:t>Five interaction modes</a:t>
            </a:r>
            <a:endParaRPr lang="en-US" sz="1300" dirty="0"/>
          </a:p>
        </p:txBody>
      </p:sp>
      <p:sp>
        <p:nvSpPr>
          <p:cNvPr id="37" name="Shape 35"/>
          <p:cNvSpPr/>
          <p:nvPr/>
        </p:nvSpPr>
        <p:spPr>
          <a:xfrm>
            <a:off x="5120640" y="5303520"/>
            <a:ext cx="1216701" cy="502920"/>
          </a:xfrm>
          <a:prstGeom prst="roundRect">
            <a:avLst>
              <a:gd name="adj" fmla="val 18182"/>
            </a:avLst>
          </a:prstGeom>
          <a:solidFill>
            <a:srgbClr val="EEF6F5"/>
          </a:solidFill>
          <a:ln w="12700">
            <a:solidFill>
              <a:srgbClr val="EEF6F5"/>
            </a:solidFill>
            <a:prstDash val="solid"/>
          </a:ln>
        </p:spPr>
      </p:sp>
      <p:sp>
        <p:nvSpPr>
          <p:cNvPr id="38" name="Text 36"/>
          <p:cNvSpPr txBox="1"/>
          <p:nvPr/>
        </p:nvSpPr>
        <p:spPr>
          <a:xfrm>
            <a:off x="5166360" y="5303520"/>
            <a:ext cx="1125261" cy="50292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1 Static: cell blank</a:t>
            </a:r>
            <a:endParaRPr lang="en-US" sz="1050" dirty="0"/>
          </a:p>
        </p:txBody>
      </p:sp>
      <p:sp>
        <p:nvSpPr>
          <p:cNvPr id="39" name="Shape 37"/>
          <p:cNvSpPr/>
          <p:nvPr/>
        </p:nvSpPr>
        <p:spPr>
          <a:xfrm>
            <a:off x="6447069" y="5303520"/>
            <a:ext cx="1216701" cy="502920"/>
          </a:xfrm>
          <a:prstGeom prst="roundRect">
            <a:avLst>
              <a:gd name="adj" fmla="val 18182"/>
            </a:avLst>
          </a:prstGeom>
          <a:solidFill>
            <a:srgbClr val="EEF6F5"/>
          </a:solidFill>
          <a:ln w="12700">
            <a:solidFill>
              <a:srgbClr val="EEF6F5"/>
            </a:solidFill>
            <a:prstDash val="solid"/>
          </a:ln>
        </p:spPr>
      </p:sp>
      <p:sp>
        <p:nvSpPr>
          <p:cNvPr id="40" name="Text 38"/>
          <p:cNvSpPr txBox="1"/>
          <p:nvPr/>
        </p:nvSpPr>
        <p:spPr>
          <a:xfrm>
            <a:off x="6492789" y="5303520"/>
            <a:ext cx="1125261" cy="50292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2 Exploratory display</a:t>
            </a:r>
            <a:endParaRPr lang="en-US" sz="1050" dirty="0"/>
          </a:p>
        </p:txBody>
      </p:sp>
      <p:sp>
        <p:nvSpPr>
          <p:cNvPr id="41" name="Shape 39"/>
          <p:cNvSpPr/>
          <p:nvPr/>
        </p:nvSpPr>
        <p:spPr>
          <a:xfrm>
            <a:off x="7773497" y="5303520"/>
            <a:ext cx="1216701" cy="502920"/>
          </a:xfrm>
          <a:prstGeom prst="roundRect">
            <a:avLst>
              <a:gd name="adj" fmla="val 18182"/>
            </a:avLst>
          </a:prstGeom>
          <a:solidFill>
            <a:srgbClr val="EEF6F5"/>
          </a:solidFill>
          <a:ln w="12700">
            <a:solidFill>
              <a:srgbClr val="EEF6F5"/>
            </a:solidFill>
            <a:prstDash val="solid"/>
          </a:ln>
        </p:spPr>
      </p:sp>
      <p:sp>
        <p:nvSpPr>
          <p:cNvPr id="42" name="Text 40"/>
          <p:cNvSpPr txBox="1"/>
          <p:nvPr/>
        </p:nvSpPr>
        <p:spPr>
          <a:xfrm>
            <a:off x="7819217" y="5303520"/>
            <a:ext cx="1125261" cy="50292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3 Non-scored practice</a:t>
            </a:r>
            <a:endParaRPr lang="en-US" sz="1050" dirty="0"/>
          </a:p>
        </p:txBody>
      </p:sp>
      <p:sp>
        <p:nvSpPr>
          <p:cNvPr id="43" name="Shape 41"/>
          <p:cNvSpPr/>
          <p:nvPr/>
        </p:nvSpPr>
        <p:spPr>
          <a:xfrm>
            <a:off x="9099926" y="5303520"/>
            <a:ext cx="1216701" cy="502920"/>
          </a:xfrm>
          <a:prstGeom prst="roundRect">
            <a:avLst>
              <a:gd name="adj" fmla="val 18182"/>
            </a:avLst>
          </a:prstGeom>
          <a:solidFill>
            <a:srgbClr val="EEF6F5"/>
          </a:solidFill>
          <a:ln w="12700">
            <a:solidFill>
              <a:srgbClr val="EEF6F5"/>
            </a:solidFill>
            <a:prstDash val="solid"/>
          </a:ln>
        </p:spPr>
      </p:sp>
      <p:sp>
        <p:nvSpPr>
          <p:cNvPr id="44" name="Text 42"/>
          <p:cNvSpPr txBox="1"/>
          <p:nvPr/>
        </p:nvSpPr>
        <p:spPr>
          <a:xfrm>
            <a:off x="9145646" y="5303520"/>
            <a:ext cx="1125261" cy="50292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4 Scored assessment</a:t>
            </a:r>
            <a:endParaRPr lang="en-US" sz="1050" dirty="0"/>
          </a:p>
        </p:txBody>
      </p:sp>
      <p:sp>
        <p:nvSpPr>
          <p:cNvPr id="45" name="Shape 43"/>
          <p:cNvSpPr/>
          <p:nvPr/>
        </p:nvSpPr>
        <p:spPr>
          <a:xfrm>
            <a:off x="10426355" y="5303520"/>
            <a:ext cx="1216701" cy="502920"/>
          </a:xfrm>
          <a:prstGeom prst="roundRect">
            <a:avLst>
              <a:gd name="adj" fmla="val 18182"/>
            </a:avLst>
          </a:prstGeom>
          <a:solidFill>
            <a:srgbClr val="EEF6F5"/>
          </a:solidFill>
          <a:ln w="12700">
            <a:solidFill>
              <a:srgbClr val="EEF6F5"/>
            </a:solidFill>
            <a:prstDash val="solid"/>
          </a:ln>
        </p:spPr>
      </p:sp>
      <p:sp>
        <p:nvSpPr>
          <p:cNvPr id="46" name="Text 44"/>
          <p:cNvSpPr txBox="1"/>
          <p:nvPr/>
        </p:nvSpPr>
        <p:spPr>
          <a:xfrm>
            <a:off x="10472075" y="5303520"/>
            <a:ext cx="1125261" cy="502920"/>
          </a:xfrm>
          <a:prstGeom prst="rect">
            <a:avLst/>
          </a:prstGeom>
          <a:noFill/>
          <a:ln/>
        </p:spPr>
        <p:txBody>
          <a:bodyPr wrap="square" lIns="0" tIns="0" rIns="0" bIns="0" rtlCol="0" anchor="ctr"/>
          <a:lstStyle/>
          <a:p>
            <a:pPr algn="ctr" indent="0" marL="0">
              <a:buNone/>
            </a:pPr>
            <a:r>
              <a:rPr lang="en-US" sz="1050" b="1" dirty="0">
                <a:solidFill>
                  <a:srgbClr val="12303D"/>
                </a:solidFill>
                <a:latin typeface="Calibri" pitchFamily="34" charset="0"/>
                <a:ea typeface="Calibri" pitchFamily="34" charset="-122"/>
                <a:cs typeface="Calibri" pitchFamily="34" charset="-120"/>
              </a:rPr>
              <a:t>5 Custom or complex</a:t>
            </a:r>
            <a:endParaRPr lang="en-US" sz="1050" dirty="0"/>
          </a:p>
        </p:txBody>
      </p:sp>
      <p:sp>
        <p:nvSpPr>
          <p:cNvPr id="47" name="Text 45"/>
          <p:cNvSpPr txBox="1"/>
          <p:nvPr/>
        </p:nvSpPr>
        <p:spPr>
          <a:xfrm>
            <a:off x="5120640" y="5943600"/>
            <a:ext cx="6522415" cy="457200"/>
          </a:xfrm>
          <a:prstGeom prst="rect">
            <a:avLst/>
          </a:prstGeom>
          <a:noFill/>
          <a:ln/>
        </p:spPr>
        <p:txBody>
          <a:bodyPr wrap="square" lIns="0" tIns="0" rIns="0" bIns="0" rtlCol="0" anchor="t"/>
          <a:lstStyle/>
          <a:p>
            <a:pPr algn="l" indent="0" marL="0">
              <a:buNone/>
            </a:pPr>
            <a:r>
              <a:rPr lang="en-US" sz="1100" i="1" dirty="0">
                <a:solidFill>
                  <a:srgbClr val="5C6B73"/>
                </a:solidFill>
                <a:latin typeface="Calibri" pitchFamily="34" charset="0"/>
                <a:ea typeface="Calibri" pitchFamily="34" charset="-122"/>
                <a:cs typeface="Calibri" pitchFamily="34" charset="-120"/>
              </a:rPr>
              <a:t>Internal Slide Notes hold source anchors, rationale, misconception logic, and build logic. They are never exported.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T — Tone: one voice for three readers</a:t>
            </a:r>
            <a:endParaRPr lang="en-US" sz="2800" dirty="0"/>
          </a:p>
        </p:txBody>
      </p:sp>
      <p:sp>
        <p:nvSpPr>
          <p:cNvPr id="3" name="Shape 1"/>
          <p:cNvSpPr/>
          <p:nvPr/>
        </p:nvSpPr>
        <p:spPr>
          <a:xfrm>
            <a:off x="548640" y="1371600"/>
            <a:ext cx="548640" cy="548640"/>
          </a:xfrm>
          <a:prstGeom prst="ellipse">
            <a:avLst/>
          </a:prstGeom>
          <a:solidFill>
            <a:srgbClr val="1F7A8C"/>
          </a:solidFill>
          <a:ln w="12700">
            <a:solidFill>
              <a:srgbClr val="1F7A8C"/>
            </a:solidFill>
            <a:prstDash val="solid"/>
          </a:ln>
        </p:spPr>
      </p:sp>
      <p:pic>
        <p:nvPicPr>
          <p:cNvPr id="4" name="Image 0" descr="preencoded.png">    </p:cNvPr>
          <p:cNvPicPr>
            <a:picLocks noChangeAspect="1"/>
          </p:cNvPicPr>
          <p:nvPr/>
        </p:nvPicPr>
        <p:blipFill>
          <a:blip r:embed="rId1"/>
          <a:stretch>
            <a:fillRect/>
          </a:stretch>
        </p:blipFill>
        <p:spPr>
          <a:xfrm>
            <a:off x="680314" y="1503274"/>
            <a:ext cx="285293" cy="285293"/>
          </a:xfrm>
          <a:prstGeom prst="rect">
            <a:avLst/>
          </a:prstGeom>
        </p:spPr>
      </p:pic>
      <p:sp>
        <p:nvSpPr>
          <p:cNvPr id="5" name="Text 2"/>
          <p:cNvSpPr txBox="1"/>
          <p:nvPr/>
        </p:nvSpPr>
        <p:spPr>
          <a:xfrm>
            <a:off x="1280160" y="1371600"/>
            <a:ext cx="5120640" cy="731520"/>
          </a:xfrm>
          <a:prstGeom prst="rect">
            <a:avLst/>
          </a:prstGeom>
          <a:noFill/>
          <a:ln/>
        </p:spPr>
        <p:txBody>
          <a:bodyPr wrap="square" lIns="0" tIns="0" rIns="0" bIns="0" rtlCol="0" anchor="ctr"/>
          <a:lstStyle/>
          <a:p>
            <a:pPr algn="l" indent="0" marL="0">
              <a:buNone/>
            </a:pPr>
            <a:r>
              <a:rPr lang="en-US" sz="1200" dirty="0">
                <a:solidFill>
                  <a:srgbClr val="1E2A30"/>
                </a:solidFill>
                <a:latin typeface="Calibri" pitchFamily="34" charset="0"/>
                <a:ea typeface="Calibri" pitchFamily="34" charset="-122"/>
                <a:cs typeface="Calibri" pitchFamily="34" charset="-120"/>
              </a:rPr>
              <a:t>Complete sentences for every line that states a fact, rule, condition, or action, including card sides and tab panels.</a:t>
            </a:r>
            <a:endParaRPr lang="en-US" sz="1200" dirty="0"/>
          </a:p>
        </p:txBody>
      </p:sp>
      <p:sp>
        <p:nvSpPr>
          <p:cNvPr id="6" name="Shape 3"/>
          <p:cNvSpPr/>
          <p:nvPr/>
        </p:nvSpPr>
        <p:spPr>
          <a:xfrm>
            <a:off x="548640" y="2157984"/>
            <a:ext cx="548640" cy="548640"/>
          </a:xfrm>
          <a:prstGeom prst="ellipse">
            <a:avLst/>
          </a:prstGeom>
          <a:solidFill>
            <a:srgbClr val="1F7A8C"/>
          </a:solidFill>
          <a:ln w="12700">
            <a:solidFill>
              <a:srgbClr val="1F7A8C"/>
            </a:solidFill>
            <a:prstDash val="solid"/>
          </a:ln>
        </p:spPr>
      </p:sp>
      <p:pic>
        <p:nvPicPr>
          <p:cNvPr id="7" name="Image 1" descr="preencoded.png">    </p:cNvPr>
          <p:cNvPicPr>
            <a:picLocks noChangeAspect="1"/>
          </p:cNvPicPr>
          <p:nvPr/>
        </p:nvPicPr>
        <p:blipFill>
          <a:blip r:embed="rId2"/>
          <a:stretch>
            <a:fillRect/>
          </a:stretch>
        </p:blipFill>
        <p:spPr>
          <a:xfrm>
            <a:off x="680314" y="2289658"/>
            <a:ext cx="285293" cy="285293"/>
          </a:xfrm>
          <a:prstGeom prst="rect">
            <a:avLst/>
          </a:prstGeom>
        </p:spPr>
      </p:pic>
      <p:sp>
        <p:nvSpPr>
          <p:cNvPr id="8" name="Text 4"/>
          <p:cNvSpPr txBox="1"/>
          <p:nvPr/>
        </p:nvSpPr>
        <p:spPr>
          <a:xfrm>
            <a:off x="1280160" y="2157984"/>
            <a:ext cx="5120640" cy="731520"/>
          </a:xfrm>
          <a:prstGeom prst="rect">
            <a:avLst/>
          </a:prstGeom>
          <a:noFill/>
          <a:ln/>
        </p:spPr>
        <p:txBody>
          <a:bodyPr wrap="square" lIns="0" tIns="0" rIns="0" bIns="0" rtlCol="0" anchor="ctr"/>
          <a:lstStyle/>
          <a:p>
            <a:pPr algn="l" indent="0" marL="0">
              <a:buNone/>
            </a:pPr>
            <a:r>
              <a:rPr lang="en-US" sz="1200" dirty="0">
                <a:solidFill>
                  <a:srgbClr val="1E2A30"/>
                </a:solidFill>
                <a:latin typeface="Calibri" pitchFamily="34" charset="0"/>
                <a:ea typeface="Calibri" pitchFamily="34" charset="-122"/>
                <a:cs typeface="Calibri" pitchFamily="34" charset="-120"/>
              </a:rPr>
              <a:t>One term per thing across the title, Text Content, Multimedia, Interaction, and narration: stage, step, or phase, never a mix.</a:t>
            </a:r>
            <a:endParaRPr lang="en-US" sz="1200" dirty="0"/>
          </a:p>
        </p:txBody>
      </p:sp>
      <p:sp>
        <p:nvSpPr>
          <p:cNvPr id="9" name="Shape 5"/>
          <p:cNvSpPr/>
          <p:nvPr/>
        </p:nvSpPr>
        <p:spPr>
          <a:xfrm>
            <a:off x="548640" y="2944368"/>
            <a:ext cx="548640" cy="548640"/>
          </a:xfrm>
          <a:prstGeom prst="ellipse">
            <a:avLst/>
          </a:prstGeom>
          <a:solidFill>
            <a:srgbClr val="1F7A8C"/>
          </a:solidFill>
          <a:ln w="12700">
            <a:solidFill>
              <a:srgbClr val="1F7A8C"/>
            </a:solidFill>
            <a:prstDash val="solid"/>
          </a:ln>
        </p:spPr>
      </p:sp>
      <p:pic>
        <p:nvPicPr>
          <p:cNvPr id="10" name="Image 2" descr="preencoded.png">    </p:cNvPr>
          <p:cNvPicPr>
            <a:picLocks noChangeAspect="1"/>
          </p:cNvPicPr>
          <p:nvPr/>
        </p:nvPicPr>
        <p:blipFill>
          <a:blip r:embed="rId3"/>
          <a:stretch>
            <a:fillRect/>
          </a:stretch>
        </p:blipFill>
        <p:spPr>
          <a:xfrm>
            <a:off x="680314" y="3076042"/>
            <a:ext cx="285293" cy="285293"/>
          </a:xfrm>
          <a:prstGeom prst="rect">
            <a:avLst/>
          </a:prstGeom>
        </p:spPr>
      </p:pic>
      <p:sp>
        <p:nvSpPr>
          <p:cNvPr id="11" name="Text 6"/>
          <p:cNvSpPr txBox="1"/>
          <p:nvPr/>
        </p:nvSpPr>
        <p:spPr>
          <a:xfrm>
            <a:off x="1280160" y="2944368"/>
            <a:ext cx="5120640" cy="731520"/>
          </a:xfrm>
          <a:prstGeom prst="rect">
            <a:avLst/>
          </a:prstGeom>
          <a:noFill/>
          <a:ln/>
        </p:spPr>
        <p:txBody>
          <a:bodyPr wrap="square" lIns="0" tIns="0" rIns="0" bIns="0" rtlCol="0" anchor="ctr"/>
          <a:lstStyle/>
          <a:p>
            <a:pPr algn="l" indent="0" marL="0">
              <a:buNone/>
            </a:pPr>
            <a:r>
              <a:rPr lang="en-US" sz="1200" dirty="0">
                <a:solidFill>
                  <a:srgbClr val="1E2A30"/>
                </a:solidFill>
                <a:latin typeface="Calibri" pitchFamily="34" charset="0"/>
                <a:ea typeface="Calibri" pitchFamily="34" charset="-122"/>
                <a:cs typeface="Calibri" pitchFamily="34" charset="-120"/>
              </a:rPr>
              <a:t>Acronyms spelled out at first use, on screen and separately in narration; none undefined in a title.</a:t>
            </a:r>
            <a:endParaRPr lang="en-US" sz="1200" dirty="0"/>
          </a:p>
        </p:txBody>
      </p:sp>
      <p:sp>
        <p:nvSpPr>
          <p:cNvPr id="12" name="Shape 7"/>
          <p:cNvSpPr/>
          <p:nvPr/>
        </p:nvSpPr>
        <p:spPr>
          <a:xfrm>
            <a:off x="548640" y="3730752"/>
            <a:ext cx="548640" cy="548640"/>
          </a:xfrm>
          <a:prstGeom prst="ellipse">
            <a:avLst/>
          </a:prstGeom>
          <a:solidFill>
            <a:srgbClr val="1F7A8C"/>
          </a:solidFill>
          <a:ln w="12700">
            <a:solidFill>
              <a:srgbClr val="1F7A8C"/>
            </a:solidFill>
            <a:prstDash val="solid"/>
          </a:ln>
        </p:spPr>
      </p:sp>
      <p:pic>
        <p:nvPicPr>
          <p:cNvPr id="13" name="Image 3" descr="preencoded.png">    </p:cNvPr>
          <p:cNvPicPr>
            <a:picLocks noChangeAspect="1"/>
          </p:cNvPicPr>
          <p:nvPr/>
        </p:nvPicPr>
        <p:blipFill>
          <a:blip r:embed="rId4"/>
          <a:stretch>
            <a:fillRect/>
          </a:stretch>
        </p:blipFill>
        <p:spPr>
          <a:xfrm>
            <a:off x="680314" y="3862426"/>
            <a:ext cx="285293" cy="285293"/>
          </a:xfrm>
          <a:prstGeom prst="rect">
            <a:avLst/>
          </a:prstGeom>
        </p:spPr>
      </p:pic>
      <p:sp>
        <p:nvSpPr>
          <p:cNvPr id="14" name="Text 8"/>
          <p:cNvSpPr txBox="1"/>
          <p:nvPr/>
        </p:nvSpPr>
        <p:spPr>
          <a:xfrm>
            <a:off x="1280160" y="3730752"/>
            <a:ext cx="5120640" cy="731520"/>
          </a:xfrm>
          <a:prstGeom prst="rect">
            <a:avLst/>
          </a:prstGeom>
          <a:noFill/>
          <a:ln/>
        </p:spPr>
        <p:txBody>
          <a:bodyPr wrap="square" lIns="0" tIns="0" rIns="0" bIns="0" rtlCol="0" anchor="ctr"/>
          <a:lstStyle/>
          <a:p>
            <a:pPr algn="l" indent="0" marL="0">
              <a:buNone/>
            </a:pPr>
            <a:r>
              <a:rPr lang="en-US" sz="1200" dirty="0">
                <a:solidFill>
                  <a:srgbClr val="1E2A30"/>
                </a:solidFill>
                <a:latin typeface="Calibri" pitchFamily="34" charset="0"/>
                <a:ea typeface="Calibri" pitchFamily="34" charset="-122"/>
                <a:cs typeface="Calibri" pitchFamily="34" charset="-120"/>
              </a:rPr>
              <a:t>At most about seven items or two panels of four, and three new acronyms per slide. Split, never compress.</a:t>
            </a:r>
            <a:endParaRPr lang="en-US" sz="1200" dirty="0"/>
          </a:p>
        </p:txBody>
      </p:sp>
      <p:sp>
        <p:nvSpPr>
          <p:cNvPr id="15" name="Shape 9"/>
          <p:cNvSpPr/>
          <p:nvPr/>
        </p:nvSpPr>
        <p:spPr>
          <a:xfrm>
            <a:off x="548640" y="4517136"/>
            <a:ext cx="548640" cy="548640"/>
          </a:xfrm>
          <a:prstGeom prst="ellipse">
            <a:avLst/>
          </a:prstGeom>
          <a:solidFill>
            <a:srgbClr val="1F7A8C"/>
          </a:solidFill>
          <a:ln w="12700">
            <a:solidFill>
              <a:srgbClr val="1F7A8C"/>
            </a:solidFill>
            <a:prstDash val="solid"/>
          </a:ln>
        </p:spPr>
      </p:sp>
      <p:pic>
        <p:nvPicPr>
          <p:cNvPr id="16" name="Image 4" descr="preencoded.png">    </p:cNvPr>
          <p:cNvPicPr>
            <a:picLocks noChangeAspect="1"/>
          </p:cNvPicPr>
          <p:nvPr/>
        </p:nvPicPr>
        <p:blipFill>
          <a:blip r:embed="rId5"/>
          <a:stretch>
            <a:fillRect/>
          </a:stretch>
        </p:blipFill>
        <p:spPr>
          <a:xfrm>
            <a:off x="680314" y="4648810"/>
            <a:ext cx="285293" cy="285293"/>
          </a:xfrm>
          <a:prstGeom prst="rect">
            <a:avLst/>
          </a:prstGeom>
        </p:spPr>
      </p:pic>
      <p:sp>
        <p:nvSpPr>
          <p:cNvPr id="17" name="Text 10"/>
          <p:cNvSpPr txBox="1"/>
          <p:nvPr/>
        </p:nvSpPr>
        <p:spPr>
          <a:xfrm>
            <a:off x="1280160" y="4517136"/>
            <a:ext cx="5120640" cy="731520"/>
          </a:xfrm>
          <a:prstGeom prst="rect">
            <a:avLst/>
          </a:prstGeom>
          <a:noFill/>
          <a:ln/>
        </p:spPr>
        <p:txBody>
          <a:bodyPr wrap="square" lIns="0" tIns="0" rIns="0" bIns="0" rtlCol="0" anchor="ctr"/>
          <a:lstStyle/>
          <a:p>
            <a:pPr algn="l" indent="0" marL="0">
              <a:buNone/>
            </a:pPr>
            <a:r>
              <a:rPr lang="en-US" sz="1200" dirty="0">
                <a:solidFill>
                  <a:srgbClr val="1E2A30"/>
                </a:solidFill>
                <a:latin typeface="Calibri" pitchFamily="34" charset="0"/>
                <a:ea typeface="Calibri" pitchFamily="34" charset="-122"/>
                <a:cs typeface="Calibri" pitchFamily="34" charset="-120"/>
              </a:rPr>
              <a:t>"Select", never "click". Active voice, second person, the configured spelling variant.</a:t>
            </a:r>
            <a:endParaRPr lang="en-US" sz="1200" dirty="0"/>
          </a:p>
        </p:txBody>
      </p:sp>
      <p:sp>
        <p:nvSpPr>
          <p:cNvPr id="18" name="Shape 11"/>
          <p:cNvSpPr/>
          <p:nvPr/>
        </p:nvSpPr>
        <p:spPr>
          <a:xfrm>
            <a:off x="548640" y="5303520"/>
            <a:ext cx="548640" cy="548640"/>
          </a:xfrm>
          <a:prstGeom prst="ellipse">
            <a:avLst/>
          </a:prstGeom>
          <a:solidFill>
            <a:srgbClr val="1F7A8C"/>
          </a:solidFill>
          <a:ln w="12700">
            <a:solidFill>
              <a:srgbClr val="1F7A8C"/>
            </a:solidFill>
            <a:prstDash val="solid"/>
          </a:ln>
        </p:spPr>
      </p:sp>
      <p:pic>
        <p:nvPicPr>
          <p:cNvPr id="19" name="Image 5" descr="preencoded.png">    </p:cNvPr>
          <p:cNvPicPr>
            <a:picLocks noChangeAspect="1"/>
          </p:cNvPicPr>
          <p:nvPr/>
        </p:nvPicPr>
        <p:blipFill>
          <a:blip r:embed="rId6"/>
          <a:stretch>
            <a:fillRect/>
          </a:stretch>
        </p:blipFill>
        <p:spPr>
          <a:xfrm>
            <a:off x="680314" y="5435194"/>
            <a:ext cx="285293" cy="285293"/>
          </a:xfrm>
          <a:prstGeom prst="rect">
            <a:avLst/>
          </a:prstGeom>
        </p:spPr>
      </p:pic>
      <p:sp>
        <p:nvSpPr>
          <p:cNvPr id="20" name="Text 12"/>
          <p:cNvSpPr txBox="1"/>
          <p:nvPr/>
        </p:nvSpPr>
        <p:spPr>
          <a:xfrm>
            <a:off x="1280160" y="5303520"/>
            <a:ext cx="5120640" cy="731520"/>
          </a:xfrm>
          <a:prstGeom prst="rect">
            <a:avLst/>
          </a:prstGeom>
          <a:noFill/>
          <a:ln/>
        </p:spPr>
        <p:txBody>
          <a:bodyPr wrap="square" lIns="0" tIns="0" rIns="0" bIns="0" rtlCol="0" anchor="ctr"/>
          <a:lstStyle/>
          <a:p>
            <a:pPr algn="l" indent="0" marL="0">
              <a:buNone/>
            </a:pPr>
            <a:r>
              <a:rPr lang="en-US" sz="1200" dirty="0">
                <a:solidFill>
                  <a:srgbClr val="1E2A30"/>
                </a:solidFill>
                <a:latin typeface="Calibri" pitchFamily="34" charset="0"/>
                <a:ea typeface="Calibri" pitchFamily="34" charset="-122"/>
                <a:cs typeface="Calibri" pitchFamily="34" charset="-120"/>
              </a:rPr>
              <a:t>Controlled wording (SHALL, SHOULD, MAY; controlled procedural steps) reproduced verbatim, with a plain-language gloss after it.</a:t>
            </a:r>
            <a:endParaRPr lang="en-US" sz="1200" dirty="0"/>
          </a:p>
        </p:txBody>
      </p:sp>
      <p:sp>
        <p:nvSpPr>
          <p:cNvPr id="21" name="Shape 13"/>
          <p:cNvSpPr/>
          <p:nvPr/>
        </p:nvSpPr>
        <p:spPr>
          <a:xfrm>
            <a:off x="6720840" y="1325880"/>
            <a:ext cx="4922215" cy="4572000"/>
          </a:xfrm>
          <a:prstGeom prst="roundRect">
            <a:avLst>
              <a:gd name="adj" fmla="val 2400"/>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2" name="Text 14"/>
          <p:cNvSpPr txBox="1"/>
          <p:nvPr/>
        </p:nvSpPr>
        <p:spPr>
          <a:xfrm>
            <a:off x="6949440" y="1463040"/>
            <a:ext cx="4465015" cy="365760"/>
          </a:xfrm>
          <a:prstGeom prst="rect">
            <a:avLst/>
          </a:prstGeom>
          <a:noFill/>
          <a:ln/>
        </p:spPr>
        <p:txBody>
          <a:bodyPr wrap="square" lIns="0" tIns="0" rIns="0" bIns="0" rtlCol="0" anchor="t"/>
          <a:lstStyle/>
          <a:p>
            <a:pPr algn="l" indent="0" marL="0">
              <a:buNone/>
            </a:pPr>
            <a:r>
              <a:rPr lang="en-US" sz="1400" b="1" dirty="0">
                <a:solidFill>
                  <a:srgbClr val="12303D"/>
                </a:solidFill>
                <a:latin typeface="Calibri" pitchFamily="34" charset="0"/>
                <a:ea typeface="Calibri" pitchFamily="34" charset="-122"/>
                <a:cs typeface="Calibri" pitchFamily="34" charset="-120"/>
              </a:rPr>
              <a:t>Narration placement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949440" y="1920240"/>
          <a:ext cx="4465015" cy="914400"/>
        </p:xfrm>
        <a:graphic>
          <a:graphicData uri="http://schemas.openxmlformats.org/drawingml/2006/table">
            <a:tbl>
              <a:tblPr/>
              <a:tblGrid>
                <a:gridCol w="1828800"/>
                <a:gridCol w="2636215"/>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Screen</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1F7A8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Narration</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1F7A8C"/>
                    </a:solidFill>
                  </a:tcPr>
                </a:tc>
              </a:tr>
              <a:tr h="384048">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Splash</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Orientation</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Optional, brief, controls only</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r>
              <a:tr h="384048">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Introduction</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Optional, orienting only</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Learning Objectives</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r>
              <a:tr h="384048">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Teach, example, demonstration</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Allowed when it adds explanation beyond the screen</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Practice, checks, assessment</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None; one neutral lead-in only if approved</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r>
              <a:tr h="384048">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Summary, Conclusion</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None unless approved</a:t>
                      </a:r>
                      <a:endParaRPr lang="en-US" sz="1050" dirty="0">
                        <a:latin typeface="Calibri" charset="0"/>
                        <a:ea typeface="Calibri" charset="0"/>
                        <a:cs typeface="Calibri" charset="0"/>
                      </a:endParaRPr>
                    </a:p>
                  </a:txBody>
                  <a:tcPr marL="45720" marR="45720" marT="45720" marB="45720">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r>
            </a:tbl>
          </a:graphicData>
        </a:graphic>
      </p:graphicFrame>
      <p:sp>
        <p:nvSpPr>
          <p:cNvPr id="24" name="Text 15"/>
          <p:cNvSpPr txBox="1"/>
          <p:nvPr/>
        </p:nvSpPr>
        <p:spPr>
          <a:xfrm>
            <a:off x="6949440" y="5257800"/>
            <a:ext cx="4465015" cy="502920"/>
          </a:xfrm>
          <a:prstGeom prst="rect">
            <a:avLst/>
          </a:prstGeom>
          <a:noFill/>
          <a:ln/>
        </p:spPr>
        <p:txBody>
          <a:bodyPr wrap="square" lIns="0" tIns="0" rIns="0" bIns="0" rtlCol="0" anchor="t"/>
          <a:lstStyle/>
          <a:p>
            <a:pPr algn="l" indent="0" marL="0">
              <a:buNone/>
            </a:pPr>
            <a:r>
              <a:rPr lang="en-US" sz="1100" i="1" dirty="0">
                <a:solidFill>
                  <a:srgbClr val="5C6B73"/>
                </a:solidFill>
                <a:latin typeface="Calibri" pitchFamily="34" charset="0"/>
                <a:ea typeface="Calibri" pitchFamily="34" charset="-122"/>
                <a:cs typeface="Calibri" pitchFamily="34" charset="-120"/>
              </a:rPr>
              <a:t>Narration teaches; it never repeats the screen and never cues an answer.</a:t>
            </a:r>
            <a:endParaRPr lang="en-US" sz="1100" dirty="0"/>
          </a:p>
        </p:txBody>
      </p:sp>
      <p:sp>
        <p:nvSpPr>
          <p:cNvPr id="25" name="Text 16"/>
          <p:cNvSpPr txBox="1"/>
          <p:nvPr/>
        </p:nvSpPr>
        <p:spPr>
          <a:xfrm>
            <a:off x="548640" y="6172200"/>
            <a:ext cx="11094415" cy="411480"/>
          </a:xfrm>
          <a:prstGeom prst="rect">
            <a:avLst/>
          </a:prstGeom>
          <a:noFill/>
          <a:ln/>
        </p:spPr>
        <p:txBody>
          <a:bodyPr wrap="square" lIns="0" tIns="0" rIns="0" bIns="0" rtlCol="0" anchor="t"/>
          <a:lstStyle/>
          <a:p>
            <a:pPr algn="l" indent="0" marL="0">
              <a:buNone/>
            </a:pPr>
            <a:r>
              <a:rPr lang="en-US" sz="1200" i="1" dirty="0">
                <a:solidFill>
                  <a:srgbClr val="5C6B73"/>
                </a:solidFill>
                <a:latin typeface="Calibri" pitchFamily="34" charset="0"/>
                <a:ea typeface="Calibri" pitchFamily="34" charset="-122"/>
                <a:cs typeface="Calibri" pitchFamily="34" charset="-120"/>
              </a:rPr>
              <a:t>Learner-task transformation: decision content is organized around the learner's job question, never around the organization chart.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Where the standards live: set once in Part P</a:t>
            </a:r>
            <a:endParaRPr lang="en-US" sz="2800" dirty="0"/>
          </a:p>
        </p:txBody>
      </p:sp>
      <p:sp>
        <p:nvSpPr>
          <p:cNvPr id="3" name="Shape 1"/>
          <p:cNvSpPr/>
          <p:nvPr/>
        </p:nvSpPr>
        <p:spPr>
          <a:xfrm>
            <a:off x="548640" y="1325880"/>
            <a:ext cx="5212080" cy="5074920"/>
          </a:xfrm>
          <a:prstGeom prst="roundRect">
            <a:avLst>
              <a:gd name="adj" fmla="val 2162"/>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4" name="Text 2"/>
          <p:cNvSpPr txBox="1"/>
          <p:nvPr/>
        </p:nvSpPr>
        <p:spPr>
          <a:xfrm>
            <a:off x="777240" y="1463040"/>
            <a:ext cx="4754880" cy="365760"/>
          </a:xfrm>
          <a:prstGeom prst="rect">
            <a:avLst/>
          </a:prstGeom>
          <a:noFill/>
          <a:ln/>
        </p:spPr>
        <p:txBody>
          <a:bodyPr wrap="square" lIns="0" tIns="0" rIns="0" bIns="0" rtlCol="0" anchor="t"/>
          <a:lstStyle/>
          <a:p>
            <a:pPr algn="l" indent="0" marL="0">
              <a:buNone/>
            </a:pPr>
            <a:r>
              <a:rPr lang="en-US" sz="1400" b="1" dirty="0">
                <a:solidFill>
                  <a:srgbClr val="12303D"/>
                </a:solidFill>
                <a:latin typeface="Calibri" pitchFamily="34" charset="0"/>
                <a:ea typeface="Calibri" pitchFamily="34" charset="-122"/>
                <a:cs typeface="Calibri" pitchFamily="34" charset="-120"/>
              </a:rPr>
              <a:t>Part P: 36 configuration keys with defaults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920240"/>
          <a:ext cx="4754880" cy="914400"/>
        </p:xfrm>
        <a:graphic>
          <a:graphicData uri="http://schemas.openxmlformats.org/drawingml/2006/table">
            <a:tbl>
              <a:tblPr/>
              <a:tblGrid>
                <a:gridCol w="1463040"/>
                <a:gridCol w="3291840"/>
              </a:tblGrid>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Accessibility</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WCAG 2.2 AA: 4.5:1 text, 3:1 large text, 3:1 UI</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Language</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Canadian English</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Authoring tool</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DominKnow</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Typography</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Helvetica 16 pt body, 18 pt title</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Limits</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At most 10 modules; fewer than 50 screens</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Performance</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500 KB or less per static image</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Attempts</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2 for knowledge checks and assessment</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Randomize options</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Forward control</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Continue</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Audio controls</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Play, Pause, Replay, Skip Backward, Skip Forward</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First screen</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Separate Splash and Orientation</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7FBFA"/>
                    </a:solidFill>
                  </a:tcPr>
                </a:tc>
              </a:tr>
              <a:tr h="310896">
                <a:tc>
                  <a:txBody>
                    <a:bodyPr/>
                    <a:lstStyle/>
                    <a:p>
                      <a:pPr indent="0" marL="0">
                        <a:buNone/>
                      </a:pPr>
                      <a:r>
                        <a:rPr lang="en-US" sz="1050" b="1" dirty="0">
                          <a:solidFill>
                            <a:srgbClr val="1F7A8C"/>
                          </a:solidFill>
                          <a:latin typeface="Calibri" pitchFamily="34" charset="0"/>
                          <a:ea typeface="Calibri" pitchFamily="34" charset="-122"/>
                          <a:cs typeface="Calibri" pitchFamily="34" charset="-120"/>
                        </a:rPr>
                        <a:t>Sensitive data</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c>
                  <a:txBody>
                    <a:bodyPr/>
                    <a:lstStyle/>
                    <a:p>
                      <a:pPr indent="0" marL="0">
                        <a:buNone/>
                      </a:pPr>
                      <a:r>
                        <a:rPr lang="en-US" sz="1050" dirty="0">
                          <a:solidFill>
                            <a:srgbClr val="1E2A30"/>
                          </a:solidFill>
                          <a:latin typeface="Calibri" pitchFamily="34" charset="0"/>
                          <a:ea typeface="Calibri" pitchFamily="34" charset="-122"/>
                          <a:cs typeface="Calibri" pitchFamily="34" charset="-120"/>
                        </a:rPr>
                        <a:t>Fictional or redacted; no service numbers</a:t>
                      </a:r>
                      <a:endParaRPr lang="en-US" sz="1050" dirty="0">
                        <a:latin typeface="Calibri" charset="0"/>
                        <a:ea typeface="Calibri" charset="0"/>
                        <a:cs typeface="Calibri" charset="0"/>
                      </a:endParaRPr>
                    </a:p>
                  </a:txBody>
                  <a:tcPr marL="36576" marR="36576" marT="36576" marB="36576">
                    <a:lnL w="6350" cap="flat" cmpd="sng" algn="ctr">
                      <a:solidFill>
                        <a:srgbClr val="C9D6D3"/>
                      </a:solidFill>
                      <a:prstDash val="solid"/>
                      <a:round/>
                      <a:headEnd type="none" w="med" len="med"/>
                      <a:tailEnd type="none" w="med" len="med"/>
                    </a:lnL>
                    <a:lnR w="6350" cap="flat" cmpd="sng" algn="ctr">
                      <a:solidFill>
                        <a:srgbClr val="C9D6D3"/>
                      </a:solidFill>
                      <a:prstDash val="solid"/>
                      <a:round/>
                      <a:headEnd type="none" w="med" len="med"/>
                      <a:tailEnd type="none" w="med" len="med"/>
                    </a:lnR>
                    <a:lnT w="6350" cap="flat" cmpd="sng" algn="ctr">
                      <a:solidFill>
                        <a:srgbClr val="C9D6D3"/>
                      </a:solidFill>
                      <a:prstDash val="solid"/>
                      <a:round/>
                      <a:headEnd type="none" w="med" len="med"/>
                      <a:tailEnd type="none" w="med" len="med"/>
                    </a:lnT>
                    <a:lnB w="6350" cap="flat" cmpd="sng" algn="ctr">
                      <a:solidFill>
                        <a:srgbClr val="C9D6D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777240" y="5943600"/>
            <a:ext cx="4754880" cy="365760"/>
          </a:xfrm>
          <a:prstGeom prst="rect">
            <a:avLst/>
          </a:prstGeom>
          <a:noFill/>
          <a:ln/>
        </p:spPr>
        <p:txBody>
          <a:bodyPr wrap="square" lIns="0" tIns="0" rIns="0" bIns="0" rtlCol="0" anchor="t"/>
          <a:lstStyle/>
          <a:p>
            <a:pPr algn="l" indent="0" marL="0">
              <a:buNone/>
            </a:pPr>
            <a:r>
              <a:rPr lang="en-US" sz="1100" i="1" dirty="0">
                <a:solidFill>
                  <a:srgbClr val="5C6B73"/>
                </a:solidFill>
                <a:latin typeface="Calibri" pitchFamily="34" charset="0"/>
                <a:ea typeface="Calibri" pitchFamily="34" charset="-122"/>
                <a:cs typeface="Calibri" pitchFamily="34" charset="-120"/>
              </a:rPr>
              <a:t>Change a value here and it applies everywhere. The body never restates it.</a:t>
            </a:r>
            <a:endParaRPr lang="en-US" sz="1100" dirty="0"/>
          </a:p>
        </p:txBody>
      </p:sp>
      <p:sp>
        <p:nvSpPr>
          <p:cNvPr id="7" name="Shape 4"/>
          <p:cNvSpPr/>
          <p:nvPr/>
        </p:nvSpPr>
        <p:spPr>
          <a:xfrm>
            <a:off x="6035040" y="1325880"/>
            <a:ext cx="5608015" cy="2514600"/>
          </a:xfrm>
          <a:prstGeom prst="roundRect">
            <a:avLst>
              <a:gd name="adj" fmla="val 4364"/>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8" name="Text 5"/>
          <p:cNvSpPr txBox="1"/>
          <p:nvPr/>
        </p:nvSpPr>
        <p:spPr>
          <a:xfrm>
            <a:off x="6263640" y="1463040"/>
            <a:ext cx="5150815" cy="365760"/>
          </a:xfrm>
          <a:prstGeom prst="rect">
            <a:avLst/>
          </a:prstGeom>
          <a:noFill/>
          <a:ln/>
        </p:spPr>
        <p:txBody>
          <a:bodyPr wrap="square" lIns="0" tIns="0" rIns="0" bIns="0" rtlCol="0" anchor="t"/>
          <a:lstStyle/>
          <a:p>
            <a:pPr algn="l" indent="0" marL="0">
              <a:buNone/>
            </a:pPr>
            <a:r>
              <a:rPr lang="en-US" sz="1400" b="1" dirty="0">
                <a:solidFill>
                  <a:srgbClr val="12303D"/>
                </a:solidFill>
                <a:latin typeface="Calibri" pitchFamily="34" charset="0"/>
                <a:ea typeface="Calibri" pitchFamily="34" charset="-122"/>
                <a:cs typeface="Calibri" pitchFamily="34" charset="-120"/>
              </a:rPr>
              <a:t>Feedback wording is fixed</a:t>
            </a:r>
            <a:endParaRPr lang="en-US" sz="1400" dirty="0"/>
          </a:p>
        </p:txBody>
      </p:sp>
      <p:sp>
        <p:nvSpPr>
          <p:cNvPr id="9" name="Shape 6"/>
          <p:cNvSpPr/>
          <p:nvPr/>
        </p:nvSpPr>
        <p:spPr>
          <a:xfrm>
            <a:off x="6263640" y="1920240"/>
            <a:ext cx="2103120" cy="502920"/>
          </a:xfrm>
          <a:prstGeom prst="roundRect">
            <a:avLst>
              <a:gd name="adj" fmla="val 14545"/>
            </a:avLst>
          </a:prstGeom>
          <a:solidFill>
            <a:srgbClr val="1F7A8C"/>
          </a:solidFill>
          <a:ln w="12700">
            <a:solidFill>
              <a:srgbClr val="1F7A8C"/>
            </a:solidFill>
            <a:prstDash val="solid"/>
          </a:ln>
        </p:spPr>
      </p:sp>
      <p:sp>
        <p:nvSpPr>
          <p:cNvPr id="10" name="Text 7"/>
          <p:cNvSpPr txBox="1"/>
          <p:nvPr/>
        </p:nvSpPr>
        <p:spPr>
          <a:xfrm>
            <a:off x="6309360" y="1920240"/>
            <a:ext cx="20116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Correct Feedback</a:t>
            </a:r>
            <a:endParaRPr lang="en-US" sz="950" dirty="0"/>
          </a:p>
        </p:txBody>
      </p:sp>
      <p:sp>
        <p:nvSpPr>
          <p:cNvPr id="11" name="Text 8"/>
          <p:cNvSpPr txBox="1"/>
          <p:nvPr/>
        </p:nvSpPr>
        <p:spPr>
          <a:xfrm>
            <a:off x="8503920" y="1920240"/>
            <a:ext cx="2864815" cy="502920"/>
          </a:xfrm>
          <a:prstGeom prst="rect">
            <a:avLst/>
          </a:prstGeom>
          <a:noFill/>
          <a:ln/>
        </p:spPr>
        <p:txBody>
          <a:bodyPr wrap="square" lIns="0" tIns="0" rIns="0" bIns="0" rtlCol="0" anchor="ctr"/>
          <a:lstStyle/>
          <a:p>
            <a:pPr algn="l" indent="0" marL="0">
              <a:buNone/>
            </a:pPr>
            <a:r>
              <a:rPr lang="en-US" sz="1050" dirty="0">
                <a:solidFill>
                  <a:srgbClr val="1E2A30"/>
                </a:solidFill>
                <a:latin typeface="Calibri" pitchFamily="34" charset="0"/>
                <a:ea typeface="Calibri" pitchFamily="34" charset="-122"/>
                <a:cs typeface="Calibri" pitchFamily="34" charset="-120"/>
              </a:rPr>
              <a:t>"That is correct." … explanation … "Please continue."</a:t>
            </a:r>
            <a:endParaRPr lang="en-US" sz="1050" dirty="0"/>
          </a:p>
        </p:txBody>
      </p:sp>
      <p:sp>
        <p:nvSpPr>
          <p:cNvPr id="12" name="Shape 9"/>
          <p:cNvSpPr/>
          <p:nvPr/>
        </p:nvSpPr>
        <p:spPr>
          <a:xfrm>
            <a:off x="6263640" y="2542032"/>
            <a:ext cx="2103120" cy="502920"/>
          </a:xfrm>
          <a:prstGeom prst="roundRect">
            <a:avLst>
              <a:gd name="adj" fmla="val 14545"/>
            </a:avLst>
          </a:prstGeom>
          <a:solidFill>
            <a:srgbClr val="F0A202"/>
          </a:solidFill>
          <a:ln w="12700">
            <a:solidFill>
              <a:srgbClr val="F0A202"/>
            </a:solidFill>
            <a:prstDash val="solid"/>
          </a:ln>
        </p:spPr>
      </p:sp>
      <p:sp>
        <p:nvSpPr>
          <p:cNvPr id="13" name="Text 10"/>
          <p:cNvSpPr txBox="1"/>
          <p:nvPr/>
        </p:nvSpPr>
        <p:spPr>
          <a:xfrm>
            <a:off x="6309360" y="2542032"/>
            <a:ext cx="2011680" cy="502920"/>
          </a:xfrm>
          <a:prstGeom prst="rect">
            <a:avLst/>
          </a:prstGeom>
          <a:noFill/>
          <a:ln/>
        </p:spPr>
        <p:txBody>
          <a:bodyPr wrap="square" lIns="0" tIns="0" rIns="0" bIns="0" rtlCol="0" anchor="ctr"/>
          <a:lstStyle/>
          <a:p>
            <a:pPr algn="ctr" indent="0" marL="0">
              <a:buNone/>
            </a:pPr>
            <a:r>
              <a:rPr lang="en-US" sz="950" b="1" dirty="0">
                <a:solidFill>
                  <a:srgbClr val="12303D"/>
                </a:solidFill>
                <a:latin typeface="Calibri" pitchFamily="34" charset="0"/>
                <a:ea typeface="Calibri" pitchFamily="34" charset="-122"/>
                <a:cs typeface="Calibri" pitchFamily="34" charset="-120"/>
              </a:rPr>
              <a:t>First Incorrect Feedback (Hint)</a:t>
            </a:r>
            <a:endParaRPr lang="en-US" sz="950" dirty="0"/>
          </a:p>
        </p:txBody>
      </p:sp>
      <p:sp>
        <p:nvSpPr>
          <p:cNvPr id="14" name="Text 11"/>
          <p:cNvSpPr txBox="1"/>
          <p:nvPr/>
        </p:nvSpPr>
        <p:spPr>
          <a:xfrm>
            <a:off x="8503920" y="2542032"/>
            <a:ext cx="2864815" cy="502920"/>
          </a:xfrm>
          <a:prstGeom prst="rect">
            <a:avLst/>
          </a:prstGeom>
          <a:noFill/>
          <a:ln/>
        </p:spPr>
        <p:txBody>
          <a:bodyPr wrap="square" lIns="0" tIns="0" rIns="0" bIns="0" rtlCol="0" anchor="ctr"/>
          <a:lstStyle/>
          <a:p>
            <a:pPr algn="l" indent="0" marL="0">
              <a:buNone/>
            </a:pPr>
            <a:r>
              <a:rPr lang="en-US" sz="1050" dirty="0">
                <a:solidFill>
                  <a:srgbClr val="1E2A30"/>
                </a:solidFill>
                <a:latin typeface="Calibri" pitchFamily="34" charset="0"/>
                <a:ea typeface="Calibri" pitchFamily="34" charset="-122"/>
                <a:cs typeface="Calibri" pitchFamily="34" charset="-120"/>
              </a:rPr>
              <a:t>"That is incorrect. Please try again." … a hint that never reveals the answer</a:t>
            </a:r>
            <a:endParaRPr lang="en-US" sz="1050" dirty="0"/>
          </a:p>
        </p:txBody>
      </p:sp>
      <p:sp>
        <p:nvSpPr>
          <p:cNvPr id="15" name="Shape 12"/>
          <p:cNvSpPr/>
          <p:nvPr/>
        </p:nvSpPr>
        <p:spPr>
          <a:xfrm>
            <a:off x="6263640" y="3163824"/>
            <a:ext cx="2103120" cy="502920"/>
          </a:xfrm>
          <a:prstGeom prst="roundRect">
            <a:avLst>
              <a:gd name="adj" fmla="val 14545"/>
            </a:avLst>
          </a:prstGeom>
          <a:solidFill>
            <a:srgbClr val="D64545"/>
          </a:solidFill>
          <a:ln w="12700">
            <a:solidFill>
              <a:srgbClr val="D64545"/>
            </a:solidFill>
            <a:prstDash val="solid"/>
          </a:ln>
        </p:spPr>
      </p:sp>
      <p:sp>
        <p:nvSpPr>
          <p:cNvPr id="16" name="Text 13"/>
          <p:cNvSpPr txBox="1"/>
          <p:nvPr/>
        </p:nvSpPr>
        <p:spPr>
          <a:xfrm>
            <a:off x="6309360" y="3163824"/>
            <a:ext cx="20116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Final Incorrect Feedback</a:t>
            </a:r>
            <a:endParaRPr lang="en-US" sz="950" dirty="0"/>
          </a:p>
        </p:txBody>
      </p:sp>
      <p:sp>
        <p:nvSpPr>
          <p:cNvPr id="17" name="Text 14"/>
          <p:cNvSpPr txBox="1"/>
          <p:nvPr/>
        </p:nvSpPr>
        <p:spPr>
          <a:xfrm>
            <a:off x="8503920" y="3163824"/>
            <a:ext cx="2864815" cy="502920"/>
          </a:xfrm>
          <a:prstGeom prst="rect">
            <a:avLst/>
          </a:prstGeom>
          <a:noFill/>
          <a:ln/>
        </p:spPr>
        <p:txBody>
          <a:bodyPr wrap="square" lIns="0" tIns="0" rIns="0" bIns="0" rtlCol="0" anchor="ctr"/>
          <a:lstStyle/>
          <a:p>
            <a:pPr algn="l" indent="0" marL="0">
              <a:buNone/>
            </a:pPr>
            <a:r>
              <a:rPr lang="en-US" sz="1050" dirty="0">
                <a:solidFill>
                  <a:srgbClr val="1E2A30"/>
                </a:solidFill>
                <a:latin typeface="Calibri" pitchFamily="34" charset="0"/>
                <a:ea typeface="Calibri" pitchFamily="34" charset="-122"/>
                <a:cs typeface="Calibri" pitchFamily="34" charset="-120"/>
              </a:rPr>
              <a:t>"That is incorrect. Correct answer: …. This is correct because …" … "Please continue."</a:t>
            </a:r>
            <a:endParaRPr lang="en-US" sz="1050" dirty="0"/>
          </a:p>
        </p:txBody>
      </p:sp>
      <p:sp>
        <p:nvSpPr>
          <p:cNvPr id="18" name="Shape 15"/>
          <p:cNvSpPr/>
          <p:nvPr/>
        </p:nvSpPr>
        <p:spPr>
          <a:xfrm>
            <a:off x="6035040" y="4069080"/>
            <a:ext cx="5608015" cy="2331720"/>
          </a:xfrm>
          <a:prstGeom prst="roundRect">
            <a:avLst>
              <a:gd name="adj" fmla="val 4706"/>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9" name="Text 16"/>
          <p:cNvSpPr txBox="1"/>
          <p:nvPr/>
        </p:nvSpPr>
        <p:spPr>
          <a:xfrm>
            <a:off x="6263640" y="4206240"/>
            <a:ext cx="5150815" cy="365760"/>
          </a:xfrm>
          <a:prstGeom prst="rect">
            <a:avLst/>
          </a:prstGeom>
          <a:noFill/>
          <a:ln/>
        </p:spPr>
        <p:txBody>
          <a:bodyPr wrap="square" lIns="0" tIns="0" rIns="0" bIns="0" rtlCol="0" anchor="t"/>
          <a:lstStyle/>
          <a:p>
            <a:pPr algn="l" indent="0" marL="0">
              <a:buNone/>
            </a:pPr>
            <a:r>
              <a:rPr lang="en-US" sz="1400" b="1" dirty="0">
                <a:solidFill>
                  <a:srgbClr val="12303D"/>
                </a:solidFill>
                <a:latin typeface="Calibri" pitchFamily="34" charset="0"/>
                <a:ea typeface="Calibri" pitchFamily="34" charset="-122"/>
                <a:cs typeface="Calibri" pitchFamily="34" charset="-120"/>
              </a:rPr>
              <a:t>Gaps are owned, never invented</a:t>
            </a:r>
            <a:endParaRPr lang="en-US" sz="1400" dirty="0"/>
          </a:p>
        </p:txBody>
      </p:sp>
      <p:sp>
        <p:nvSpPr>
          <p:cNvPr id="20" name="Shape 17"/>
          <p:cNvSpPr/>
          <p:nvPr/>
        </p:nvSpPr>
        <p:spPr>
          <a:xfrm>
            <a:off x="6263640" y="4663440"/>
            <a:ext cx="1205408" cy="438912"/>
          </a:xfrm>
          <a:prstGeom prst="roundRect">
            <a:avLst>
              <a:gd name="adj" fmla="val 16667"/>
            </a:avLst>
          </a:prstGeom>
          <a:solidFill>
            <a:srgbClr val="CDE7E3"/>
          </a:solidFill>
          <a:ln w="12700">
            <a:solidFill>
              <a:srgbClr val="CDE7E3"/>
            </a:solidFill>
            <a:prstDash val="solid"/>
          </a:ln>
        </p:spPr>
      </p:sp>
      <p:sp>
        <p:nvSpPr>
          <p:cNvPr id="21" name="Text 18"/>
          <p:cNvSpPr txBox="1"/>
          <p:nvPr/>
        </p:nvSpPr>
        <p:spPr>
          <a:xfrm>
            <a:off x="6309360" y="4663440"/>
            <a:ext cx="1113968" cy="438912"/>
          </a:xfrm>
          <a:prstGeom prst="rect">
            <a:avLst/>
          </a:prstGeom>
          <a:noFill/>
          <a:ln/>
        </p:spPr>
        <p:txBody>
          <a:bodyPr wrap="square" lIns="0" tIns="0" rIns="0" bIns="0" rtlCol="0" anchor="ctr"/>
          <a:lstStyle/>
          <a:p>
            <a:pPr algn="ctr" indent="0" marL="0">
              <a:buNone/>
            </a:pPr>
            <a:r>
              <a:rPr lang="en-US" sz="900" b="1" dirty="0">
                <a:solidFill>
                  <a:srgbClr val="12303D"/>
                </a:solidFill>
                <a:latin typeface="Calibri" pitchFamily="34" charset="0"/>
                <a:ea typeface="Calibri" pitchFamily="34" charset="-122"/>
                <a:cs typeface="Calibri" pitchFamily="34" charset="-120"/>
              </a:rPr>
              <a:t>[LD TO COMPLETE]</a:t>
            </a:r>
            <a:endParaRPr lang="en-US" sz="900" dirty="0"/>
          </a:p>
        </p:txBody>
      </p:sp>
      <p:sp>
        <p:nvSpPr>
          <p:cNvPr id="22" name="Shape 19"/>
          <p:cNvSpPr/>
          <p:nvPr/>
        </p:nvSpPr>
        <p:spPr>
          <a:xfrm>
            <a:off x="7578776" y="4663440"/>
            <a:ext cx="1205408" cy="438912"/>
          </a:xfrm>
          <a:prstGeom prst="roundRect">
            <a:avLst>
              <a:gd name="adj" fmla="val 16667"/>
            </a:avLst>
          </a:prstGeom>
          <a:solidFill>
            <a:srgbClr val="CDE7E3"/>
          </a:solidFill>
          <a:ln w="12700">
            <a:solidFill>
              <a:srgbClr val="CDE7E3"/>
            </a:solidFill>
            <a:prstDash val="solid"/>
          </a:ln>
        </p:spPr>
      </p:sp>
      <p:sp>
        <p:nvSpPr>
          <p:cNvPr id="23" name="Text 20"/>
          <p:cNvSpPr txBox="1"/>
          <p:nvPr/>
        </p:nvSpPr>
        <p:spPr>
          <a:xfrm>
            <a:off x="7624496" y="4663440"/>
            <a:ext cx="1113968" cy="438912"/>
          </a:xfrm>
          <a:prstGeom prst="rect">
            <a:avLst/>
          </a:prstGeom>
          <a:noFill/>
          <a:ln/>
        </p:spPr>
        <p:txBody>
          <a:bodyPr wrap="square" lIns="0" tIns="0" rIns="0" bIns="0" rtlCol="0" anchor="ctr"/>
          <a:lstStyle/>
          <a:p>
            <a:pPr algn="ctr" indent="0" marL="0">
              <a:buNone/>
            </a:pPr>
            <a:r>
              <a:rPr lang="en-US" sz="900" b="1" dirty="0">
                <a:solidFill>
                  <a:srgbClr val="12303D"/>
                </a:solidFill>
                <a:latin typeface="Calibri" pitchFamily="34" charset="0"/>
                <a:ea typeface="Calibri" pitchFamily="34" charset="-122"/>
                <a:cs typeface="Calibri" pitchFamily="34" charset="-120"/>
              </a:rPr>
              <a:t>[LD TO DECIDE]</a:t>
            </a:r>
            <a:endParaRPr lang="en-US" sz="900" dirty="0"/>
          </a:p>
        </p:txBody>
      </p:sp>
      <p:sp>
        <p:nvSpPr>
          <p:cNvPr id="24" name="Shape 21"/>
          <p:cNvSpPr/>
          <p:nvPr/>
        </p:nvSpPr>
        <p:spPr>
          <a:xfrm>
            <a:off x="8893912" y="4663440"/>
            <a:ext cx="1205408" cy="438912"/>
          </a:xfrm>
          <a:prstGeom prst="roundRect">
            <a:avLst>
              <a:gd name="adj" fmla="val 16667"/>
            </a:avLst>
          </a:prstGeom>
          <a:solidFill>
            <a:srgbClr val="CDE7E3"/>
          </a:solidFill>
          <a:ln w="12700">
            <a:solidFill>
              <a:srgbClr val="CDE7E3"/>
            </a:solidFill>
            <a:prstDash val="solid"/>
          </a:ln>
        </p:spPr>
      </p:sp>
      <p:sp>
        <p:nvSpPr>
          <p:cNvPr id="25" name="Text 22"/>
          <p:cNvSpPr txBox="1"/>
          <p:nvPr/>
        </p:nvSpPr>
        <p:spPr>
          <a:xfrm>
            <a:off x="8939632" y="4663440"/>
            <a:ext cx="1113968" cy="438912"/>
          </a:xfrm>
          <a:prstGeom prst="rect">
            <a:avLst/>
          </a:prstGeom>
          <a:noFill/>
          <a:ln/>
        </p:spPr>
        <p:txBody>
          <a:bodyPr wrap="square" lIns="0" tIns="0" rIns="0" bIns="0" rtlCol="0" anchor="ctr"/>
          <a:lstStyle/>
          <a:p>
            <a:pPr algn="ctr" indent="0" marL="0">
              <a:buNone/>
            </a:pPr>
            <a:r>
              <a:rPr lang="en-US" sz="900" b="1" dirty="0">
                <a:solidFill>
                  <a:srgbClr val="12303D"/>
                </a:solidFill>
                <a:latin typeface="Calibri" pitchFamily="34" charset="0"/>
                <a:ea typeface="Calibri" pitchFamily="34" charset="-122"/>
                <a:cs typeface="Calibri" pitchFamily="34" charset="-120"/>
              </a:rPr>
              <a:t>[LD TO IDENTIFY]</a:t>
            </a:r>
            <a:endParaRPr lang="en-US" sz="900" dirty="0"/>
          </a:p>
        </p:txBody>
      </p:sp>
      <p:sp>
        <p:nvSpPr>
          <p:cNvPr id="26" name="Shape 23"/>
          <p:cNvSpPr/>
          <p:nvPr/>
        </p:nvSpPr>
        <p:spPr>
          <a:xfrm>
            <a:off x="10209047" y="4663440"/>
            <a:ext cx="1205408" cy="438912"/>
          </a:xfrm>
          <a:prstGeom prst="roundRect">
            <a:avLst>
              <a:gd name="adj" fmla="val 16667"/>
            </a:avLst>
          </a:prstGeom>
          <a:solidFill>
            <a:srgbClr val="CDE7E3"/>
          </a:solidFill>
          <a:ln w="12700">
            <a:solidFill>
              <a:srgbClr val="CDE7E3"/>
            </a:solidFill>
            <a:prstDash val="solid"/>
          </a:ln>
        </p:spPr>
      </p:sp>
      <p:sp>
        <p:nvSpPr>
          <p:cNvPr id="27" name="Text 24"/>
          <p:cNvSpPr txBox="1"/>
          <p:nvPr/>
        </p:nvSpPr>
        <p:spPr>
          <a:xfrm>
            <a:off x="10254767" y="4663440"/>
            <a:ext cx="1113968" cy="438912"/>
          </a:xfrm>
          <a:prstGeom prst="rect">
            <a:avLst/>
          </a:prstGeom>
          <a:noFill/>
          <a:ln/>
        </p:spPr>
        <p:txBody>
          <a:bodyPr wrap="square" lIns="0" tIns="0" rIns="0" bIns="0" rtlCol="0" anchor="ctr"/>
          <a:lstStyle/>
          <a:p>
            <a:pPr algn="ctr" indent="0" marL="0">
              <a:buNone/>
            </a:pPr>
            <a:r>
              <a:rPr lang="en-US" sz="900" b="1" dirty="0">
                <a:solidFill>
                  <a:srgbClr val="12303D"/>
                </a:solidFill>
                <a:latin typeface="Calibri" pitchFamily="34" charset="0"/>
                <a:ea typeface="Calibri" pitchFamily="34" charset="-122"/>
                <a:cs typeface="Calibri" pitchFamily="34" charset="-120"/>
              </a:rPr>
              <a:t>[SME TO CONFIRM]</a:t>
            </a:r>
            <a:endParaRPr lang="en-US" sz="900" dirty="0"/>
          </a:p>
        </p:txBody>
      </p:sp>
      <p:sp>
        <p:nvSpPr>
          <p:cNvPr id="28" name="Shape 25"/>
          <p:cNvSpPr/>
          <p:nvPr/>
        </p:nvSpPr>
        <p:spPr>
          <a:xfrm>
            <a:off x="6263640" y="5212080"/>
            <a:ext cx="1205408" cy="438912"/>
          </a:xfrm>
          <a:prstGeom prst="roundRect">
            <a:avLst>
              <a:gd name="adj" fmla="val 16667"/>
            </a:avLst>
          </a:prstGeom>
          <a:solidFill>
            <a:srgbClr val="CDE7E3"/>
          </a:solidFill>
          <a:ln w="12700">
            <a:solidFill>
              <a:srgbClr val="CDE7E3"/>
            </a:solidFill>
            <a:prstDash val="solid"/>
          </a:ln>
        </p:spPr>
      </p:sp>
      <p:sp>
        <p:nvSpPr>
          <p:cNvPr id="29" name="Text 26"/>
          <p:cNvSpPr txBox="1"/>
          <p:nvPr/>
        </p:nvSpPr>
        <p:spPr>
          <a:xfrm>
            <a:off x="6309360" y="5212080"/>
            <a:ext cx="1113968" cy="438912"/>
          </a:xfrm>
          <a:prstGeom prst="rect">
            <a:avLst/>
          </a:prstGeom>
          <a:noFill/>
          <a:ln/>
        </p:spPr>
        <p:txBody>
          <a:bodyPr wrap="square" lIns="0" tIns="0" rIns="0" bIns="0" rtlCol="0" anchor="ctr"/>
          <a:lstStyle/>
          <a:p>
            <a:pPr algn="ctr" indent="0" marL="0">
              <a:buNone/>
            </a:pPr>
            <a:r>
              <a:rPr lang="en-US" sz="900" b="1" dirty="0">
                <a:solidFill>
                  <a:srgbClr val="12303D"/>
                </a:solidFill>
                <a:latin typeface="Calibri" pitchFamily="34" charset="0"/>
                <a:ea typeface="Calibri" pitchFamily="34" charset="-122"/>
                <a:cs typeface="Calibri" pitchFamily="34" charset="-120"/>
              </a:rPr>
              <a:t>[MULTIMEDIA TO PROVIDE]</a:t>
            </a:r>
            <a:endParaRPr lang="en-US" sz="900" dirty="0"/>
          </a:p>
        </p:txBody>
      </p:sp>
      <p:sp>
        <p:nvSpPr>
          <p:cNvPr id="30" name="Shape 27"/>
          <p:cNvSpPr/>
          <p:nvPr/>
        </p:nvSpPr>
        <p:spPr>
          <a:xfrm>
            <a:off x="7578776" y="5212080"/>
            <a:ext cx="1205408" cy="438912"/>
          </a:xfrm>
          <a:prstGeom prst="roundRect">
            <a:avLst>
              <a:gd name="adj" fmla="val 16667"/>
            </a:avLst>
          </a:prstGeom>
          <a:solidFill>
            <a:srgbClr val="CDE7E3"/>
          </a:solidFill>
          <a:ln w="12700">
            <a:solidFill>
              <a:srgbClr val="CDE7E3"/>
            </a:solidFill>
            <a:prstDash val="solid"/>
          </a:ln>
        </p:spPr>
      </p:sp>
      <p:sp>
        <p:nvSpPr>
          <p:cNvPr id="31" name="Text 28"/>
          <p:cNvSpPr txBox="1"/>
          <p:nvPr/>
        </p:nvSpPr>
        <p:spPr>
          <a:xfrm>
            <a:off x="7624496" y="5212080"/>
            <a:ext cx="1113968" cy="438912"/>
          </a:xfrm>
          <a:prstGeom prst="rect">
            <a:avLst/>
          </a:prstGeom>
          <a:noFill/>
          <a:ln/>
        </p:spPr>
        <p:txBody>
          <a:bodyPr wrap="square" lIns="0" tIns="0" rIns="0" bIns="0" rtlCol="0" anchor="ctr"/>
          <a:lstStyle/>
          <a:p>
            <a:pPr algn="ctr" indent="0" marL="0">
              <a:buNone/>
            </a:pPr>
            <a:r>
              <a:rPr lang="en-US" sz="900" b="1" dirty="0">
                <a:solidFill>
                  <a:srgbClr val="12303D"/>
                </a:solidFill>
                <a:latin typeface="Calibri" pitchFamily="34" charset="0"/>
                <a:ea typeface="Calibri" pitchFamily="34" charset="-122"/>
                <a:cs typeface="Calibri" pitchFamily="34" charset="-120"/>
              </a:rPr>
              <a:t>[MULTIMEDIA TO CONFIRM]</a:t>
            </a:r>
            <a:endParaRPr lang="en-US" sz="900" dirty="0"/>
          </a:p>
        </p:txBody>
      </p:sp>
      <p:sp>
        <p:nvSpPr>
          <p:cNvPr id="32" name="Shape 29"/>
          <p:cNvSpPr/>
          <p:nvPr/>
        </p:nvSpPr>
        <p:spPr>
          <a:xfrm>
            <a:off x="8893912" y="5212080"/>
            <a:ext cx="1205408" cy="438912"/>
          </a:xfrm>
          <a:prstGeom prst="roundRect">
            <a:avLst>
              <a:gd name="adj" fmla="val 16667"/>
            </a:avLst>
          </a:prstGeom>
          <a:solidFill>
            <a:srgbClr val="CDE7E3"/>
          </a:solidFill>
          <a:ln w="12700">
            <a:solidFill>
              <a:srgbClr val="CDE7E3"/>
            </a:solidFill>
            <a:prstDash val="solid"/>
          </a:ln>
        </p:spPr>
      </p:sp>
      <p:sp>
        <p:nvSpPr>
          <p:cNvPr id="33" name="Text 30"/>
          <p:cNvSpPr txBox="1"/>
          <p:nvPr/>
        </p:nvSpPr>
        <p:spPr>
          <a:xfrm>
            <a:off x="8939632" y="5212080"/>
            <a:ext cx="1113968" cy="438912"/>
          </a:xfrm>
          <a:prstGeom prst="rect">
            <a:avLst/>
          </a:prstGeom>
          <a:noFill/>
          <a:ln/>
        </p:spPr>
        <p:txBody>
          <a:bodyPr wrap="square" lIns="0" tIns="0" rIns="0" bIns="0" rtlCol="0" anchor="ctr"/>
          <a:lstStyle/>
          <a:p>
            <a:pPr algn="ctr" indent="0" marL="0">
              <a:buNone/>
            </a:pPr>
            <a:r>
              <a:rPr lang="en-US" sz="900" b="1" dirty="0">
                <a:solidFill>
                  <a:srgbClr val="12303D"/>
                </a:solidFill>
                <a:latin typeface="Calibri" pitchFamily="34" charset="0"/>
                <a:ea typeface="Calibri" pitchFamily="34" charset="-122"/>
                <a:cs typeface="Calibri" pitchFamily="34" charset="-120"/>
              </a:rPr>
              <a:t>[ACCESSIBILITY TO CONFIRM]</a:t>
            </a:r>
            <a:endParaRPr lang="en-US" sz="900" dirty="0"/>
          </a:p>
        </p:txBody>
      </p:sp>
      <p:sp>
        <p:nvSpPr>
          <p:cNvPr id="34" name="Shape 31"/>
          <p:cNvSpPr/>
          <p:nvPr/>
        </p:nvSpPr>
        <p:spPr>
          <a:xfrm>
            <a:off x="10209047" y="5212080"/>
            <a:ext cx="1205408" cy="438912"/>
          </a:xfrm>
          <a:prstGeom prst="roundRect">
            <a:avLst>
              <a:gd name="adj" fmla="val 16667"/>
            </a:avLst>
          </a:prstGeom>
          <a:solidFill>
            <a:srgbClr val="CDE7E3"/>
          </a:solidFill>
          <a:ln w="12700">
            <a:solidFill>
              <a:srgbClr val="CDE7E3"/>
            </a:solidFill>
            <a:prstDash val="solid"/>
          </a:ln>
        </p:spPr>
      </p:sp>
      <p:sp>
        <p:nvSpPr>
          <p:cNvPr id="35" name="Text 32"/>
          <p:cNvSpPr txBox="1"/>
          <p:nvPr/>
        </p:nvSpPr>
        <p:spPr>
          <a:xfrm>
            <a:off x="10254767" y="5212080"/>
            <a:ext cx="1113968" cy="438912"/>
          </a:xfrm>
          <a:prstGeom prst="rect">
            <a:avLst/>
          </a:prstGeom>
          <a:noFill/>
          <a:ln/>
        </p:spPr>
        <p:txBody>
          <a:bodyPr wrap="square" lIns="0" tIns="0" rIns="0" bIns="0" rtlCol="0" anchor="ctr"/>
          <a:lstStyle/>
          <a:p>
            <a:pPr algn="ctr" indent="0" marL="0">
              <a:buNone/>
            </a:pPr>
            <a:r>
              <a:rPr lang="en-US" sz="900" b="1" dirty="0">
                <a:solidFill>
                  <a:srgbClr val="12303D"/>
                </a:solidFill>
                <a:latin typeface="Calibri" pitchFamily="34" charset="0"/>
                <a:ea typeface="Calibri" pitchFamily="34" charset="-122"/>
                <a:cs typeface="Calibri" pitchFamily="34" charset="-120"/>
              </a:rPr>
              <a:t>[DEVELOPER TO ADVISE]</a:t>
            </a:r>
            <a:endParaRPr lang="en-US" sz="900" dirty="0"/>
          </a:p>
        </p:txBody>
      </p:sp>
      <p:sp>
        <p:nvSpPr>
          <p:cNvPr id="36" name="Text 33"/>
          <p:cNvSpPr txBox="1"/>
          <p:nvPr/>
        </p:nvSpPr>
        <p:spPr>
          <a:xfrm>
            <a:off x="6263640" y="5806440"/>
            <a:ext cx="5150815" cy="548640"/>
          </a:xfrm>
          <a:prstGeom prst="rect">
            <a:avLst/>
          </a:prstGeom>
          <a:noFill/>
          <a:ln/>
        </p:spPr>
        <p:txBody>
          <a:bodyPr wrap="square" lIns="0" tIns="0" rIns="0" bIns="0" rtlCol="0" anchor="t"/>
          <a:lstStyle/>
          <a:p>
            <a:pPr algn="l" indent="0" marL="0">
              <a:buNone/>
            </a:pPr>
            <a:r>
              <a:rPr lang="en-US" sz="1050" i="1" dirty="0">
                <a:solidFill>
                  <a:srgbClr val="5C6B73"/>
                </a:solidFill>
                <a:latin typeface="Calibri" pitchFamily="34" charset="0"/>
                <a:ea typeface="Calibri" pitchFamily="34" charset="-122"/>
                <a:cs typeface="Calibri" pitchFamily="34" charset="-120"/>
              </a:rPr>
              <a:t>Glossary: one name per thing, so the forward control, the feedback states, the modes, and the gap classes are never called two things.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Quality gates: 37 checks, three severities</a:t>
            </a:r>
            <a:endParaRPr lang="en-US" sz="2800" dirty="0"/>
          </a:p>
        </p:txBody>
      </p:sp>
      <p:sp>
        <p:nvSpPr>
          <p:cNvPr id="3" name="Shape 1"/>
          <p:cNvSpPr/>
          <p:nvPr/>
        </p:nvSpPr>
        <p:spPr>
          <a:xfrm>
            <a:off x="548640" y="1325880"/>
            <a:ext cx="5212080" cy="5074920"/>
          </a:xfrm>
          <a:prstGeom prst="roundRect">
            <a:avLst>
              <a:gd name="adj" fmla="val 2162"/>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4" name="Text 2"/>
          <p:cNvSpPr txBox="1"/>
          <p:nvPr/>
        </p:nvSpPr>
        <p:spPr>
          <a:xfrm>
            <a:off x="777240" y="1463040"/>
            <a:ext cx="4754880" cy="365760"/>
          </a:xfrm>
          <a:prstGeom prst="rect">
            <a:avLst/>
          </a:prstGeom>
          <a:noFill/>
          <a:ln/>
        </p:spPr>
        <p:txBody>
          <a:bodyPr wrap="square" lIns="0" tIns="0" rIns="0" bIns="0" rtlCol="0" anchor="t"/>
          <a:lstStyle/>
          <a:p>
            <a:pPr algn="l" indent="0" marL="0">
              <a:buNone/>
            </a:pPr>
            <a:r>
              <a:rPr lang="en-US" sz="1400" b="1" dirty="0">
                <a:solidFill>
                  <a:srgbClr val="12303D"/>
                </a:solidFill>
                <a:latin typeface="Calibri" pitchFamily="34" charset="0"/>
                <a:ea typeface="Calibri" pitchFamily="34" charset="-122"/>
                <a:cs typeface="Calibri" pitchFamily="34" charset="-120"/>
              </a:rPr>
              <a:t>Part Q, the QA table</a:t>
            </a:r>
            <a:endParaRPr lang="en-US" sz="1400" dirty="0"/>
          </a:p>
        </p:txBody>
      </p:sp>
      <p:sp>
        <p:nvSpPr>
          <p:cNvPr id="5" name="Text 3"/>
          <p:cNvSpPr txBox="1"/>
          <p:nvPr/>
        </p:nvSpPr>
        <p:spPr>
          <a:xfrm>
            <a:off x="777240" y="2057400"/>
            <a:ext cx="1188720" cy="457200"/>
          </a:xfrm>
          <a:prstGeom prst="rect">
            <a:avLst/>
          </a:prstGeom>
          <a:noFill/>
          <a:ln/>
        </p:spPr>
        <p:txBody>
          <a:bodyPr wrap="square" lIns="0" tIns="0" rIns="0" bIns="0" rtlCol="0" anchor="ctr"/>
          <a:lstStyle/>
          <a:p>
            <a:pPr algn="l" indent="0" marL="0">
              <a:buNone/>
            </a:pPr>
            <a:r>
              <a:rPr lang="en-US" sz="1300" b="1" dirty="0">
                <a:solidFill>
                  <a:srgbClr val="12303D"/>
                </a:solidFill>
                <a:latin typeface="Calibri" pitchFamily="34" charset="0"/>
                <a:ea typeface="Calibri" pitchFamily="34" charset="-122"/>
                <a:cs typeface="Calibri" pitchFamily="34" charset="-120"/>
              </a:rPr>
              <a:t>Blocker</a:t>
            </a:r>
            <a:endParaRPr lang="en-US" sz="1300" dirty="0"/>
          </a:p>
        </p:txBody>
      </p:sp>
      <p:sp>
        <p:nvSpPr>
          <p:cNvPr id="6" name="Shape 4"/>
          <p:cNvSpPr/>
          <p:nvPr/>
        </p:nvSpPr>
        <p:spPr>
          <a:xfrm>
            <a:off x="2011680" y="2103120"/>
            <a:ext cx="717452" cy="384048"/>
          </a:xfrm>
          <a:prstGeom prst="rect">
            <a:avLst/>
          </a:prstGeom>
          <a:solidFill>
            <a:srgbClr val="D64545"/>
          </a:solidFill>
          <a:ln w="12700">
            <a:solidFill>
              <a:srgbClr val="D64545"/>
            </a:solidFill>
            <a:prstDash val="solid"/>
          </a:ln>
        </p:spPr>
      </p:sp>
      <p:sp>
        <p:nvSpPr>
          <p:cNvPr id="7" name="Text 5"/>
          <p:cNvSpPr txBox="1"/>
          <p:nvPr/>
        </p:nvSpPr>
        <p:spPr>
          <a:xfrm>
            <a:off x="2820572" y="2057400"/>
            <a:ext cx="640080" cy="457200"/>
          </a:xfrm>
          <a:prstGeom prst="rect">
            <a:avLst/>
          </a:prstGeom>
          <a:noFill/>
          <a:ln/>
        </p:spPr>
        <p:txBody>
          <a:bodyPr wrap="square" lIns="0" tIns="0" rIns="0" bIns="0" rtlCol="0" anchor="ctr"/>
          <a:lstStyle/>
          <a:p>
            <a:pPr algn="l" indent="0" marL="0">
              <a:buNone/>
            </a:pPr>
            <a:r>
              <a:rPr lang="en-US" sz="1800" b="1" dirty="0">
                <a:solidFill>
                  <a:srgbClr val="D64545"/>
                </a:solidFill>
                <a:latin typeface="Cambria" pitchFamily="34" charset="0"/>
                <a:ea typeface="Cambria" pitchFamily="34" charset="-122"/>
                <a:cs typeface="Cambria" pitchFamily="34" charset="-120"/>
              </a:rPr>
              <a:t>6</a:t>
            </a:r>
            <a:endParaRPr lang="en-US" sz="1800" dirty="0"/>
          </a:p>
        </p:txBody>
      </p:sp>
      <p:sp>
        <p:nvSpPr>
          <p:cNvPr id="8" name="Text 6"/>
          <p:cNvSpPr txBox="1"/>
          <p:nvPr/>
        </p:nvSpPr>
        <p:spPr>
          <a:xfrm>
            <a:off x="2011680" y="2560320"/>
            <a:ext cx="3383280" cy="457200"/>
          </a:xfrm>
          <a:prstGeom prst="rect">
            <a:avLst/>
          </a:prstGeom>
          <a:noFill/>
          <a:ln/>
        </p:spPr>
        <p:txBody>
          <a:bodyPr wrap="square" lIns="0" tIns="0" rIns="0" bIns="0" rtlCol="0" anchor="t"/>
          <a:lstStyle/>
          <a:p>
            <a:pPr algn="l" indent="0" marL="0">
              <a:buNone/>
            </a:pPr>
            <a:r>
              <a:rPr lang="en-US" sz="1100" i="1" dirty="0">
                <a:solidFill>
                  <a:srgbClr val="5C6B73"/>
                </a:solidFill>
                <a:latin typeface="Calibri" pitchFamily="34" charset="0"/>
                <a:ea typeface="Calibri" pitchFamily="34" charset="-122"/>
                <a:cs typeface="Calibri" pitchFamily="34" charset="-120"/>
              </a:rPr>
              <a:t>do not deliver</a:t>
            </a:r>
            <a:endParaRPr lang="en-US" sz="1100" dirty="0"/>
          </a:p>
        </p:txBody>
      </p:sp>
      <p:sp>
        <p:nvSpPr>
          <p:cNvPr id="9" name="Text 7"/>
          <p:cNvSpPr txBox="1"/>
          <p:nvPr/>
        </p:nvSpPr>
        <p:spPr>
          <a:xfrm>
            <a:off x="777240" y="3291840"/>
            <a:ext cx="1188720" cy="457200"/>
          </a:xfrm>
          <a:prstGeom prst="rect">
            <a:avLst/>
          </a:prstGeom>
          <a:noFill/>
          <a:ln/>
        </p:spPr>
        <p:txBody>
          <a:bodyPr wrap="square" lIns="0" tIns="0" rIns="0" bIns="0" rtlCol="0" anchor="ctr"/>
          <a:lstStyle/>
          <a:p>
            <a:pPr algn="l" indent="0" marL="0">
              <a:buNone/>
            </a:pPr>
            <a:r>
              <a:rPr lang="en-US" sz="1300" b="1" dirty="0">
                <a:solidFill>
                  <a:srgbClr val="12303D"/>
                </a:solidFill>
                <a:latin typeface="Calibri" pitchFamily="34" charset="0"/>
                <a:ea typeface="Calibri" pitchFamily="34" charset="-122"/>
                <a:cs typeface="Calibri" pitchFamily="34" charset="-120"/>
              </a:rPr>
              <a:t>Major</a:t>
            </a:r>
            <a:endParaRPr lang="en-US" sz="1300" dirty="0"/>
          </a:p>
        </p:txBody>
      </p:sp>
      <p:sp>
        <p:nvSpPr>
          <p:cNvPr id="10" name="Shape 8"/>
          <p:cNvSpPr/>
          <p:nvPr/>
        </p:nvSpPr>
        <p:spPr>
          <a:xfrm>
            <a:off x="2011680" y="3337560"/>
            <a:ext cx="3108960" cy="384048"/>
          </a:xfrm>
          <a:prstGeom prst="rect">
            <a:avLst/>
          </a:prstGeom>
          <a:solidFill>
            <a:srgbClr val="1F7A8C"/>
          </a:solidFill>
          <a:ln w="12700">
            <a:solidFill>
              <a:srgbClr val="1F7A8C"/>
            </a:solidFill>
            <a:prstDash val="solid"/>
          </a:ln>
        </p:spPr>
      </p:sp>
      <p:sp>
        <p:nvSpPr>
          <p:cNvPr id="11" name="Text 9"/>
          <p:cNvSpPr txBox="1"/>
          <p:nvPr/>
        </p:nvSpPr>
        <p:spPr>
          <a:xfrm>
            <a:off x="5212080" y="3291840"/>
            <a:ext cx="640080" cy="457200"/>
          </a:xfrm>
          <a:prstGeom prst="rect">
            <a:avLst/>
          </a:prstGeom>
          <a:noFill/>
          <a:ln/>
        </p:spPr>
        <p:txBody>
          <a:bodyPr wrap="square" lIns="0" tIns="0" rIns="0" bIns="0" rtlCol="0" anchor="ctr"/>
          <a:lstStyle/>
          <a:p>
            <a:pPr algn="l" indent="0" marL="0">
              <a:buNone/>
            </a:pPr>
            <a:r>
              <a:rPr lang="en-US" sz="1800" b="1" dirty="0">
                <a:solidFill>
                  <a:srgbClr val="1F7A8C"/>
                </a:solidFill>
                <a:latin typeface="Cambria" pitchFamily="34" charset="0"/>
                <a:ea typeface="Cambria" pitchFamily="34" charset="-122"/>
                <a:cs typeface="Cambria" pitchFamily="34" charset="-120"/>
              </a:rPr>
              <a:t>26</a:t>
            </a:r>
            <a:endParaRPr lang="en-US" sz="1800" dirty="0"/>
          </a:p>
        </p:txBody>
      </p:sp>
      <p:sp>
        <p:nvSpPr>
          <p:cNvPr id="12" name="Text 10"/>
          <p:cNvSpPr txBox="1"/>
          <p:nvPr/>
        </p:nvSpPr>
        <p:spPr>
          <a:xfrm>
            <a:off x="2011680" y="3794760"/>
            <a:ext cx="3383280" cy="457200"/>
          </a:xfrm>
          <a:prstGeom prst="rect">
            <a:avLst/>
          </a:prstGeom>
          <a:noFill/>
          <a:ln/>
        </p:spPr>
        <p:txBody>
          <a:bodyPr wrap="square" lIns="0" tIns="0" rIns="0" bIns="0" rtlCol="0" anchor="t"/>
          <a:lstStyle/>
          <a:p>
            <a:pPr algn="l" indent="0" marL="0">
              <a:buNone/>
            </a:pPr>
            <a:r>
              <a:rPr lang="en-US" sz="1100" i="1" dirty="0">
                <a:solidFill>
                  <a:srgbClr val="5C6B73"/>
                </a:solidFill>
                <a:latin typeface="Calibri" pitchFamily="34" charset="0"/>
                <a:ea typeface="Calibri" pitchFamily="34" charset="-122"/>
                <a:cs typeface="Calibri" pitchFamily="34" charset="-120"/>
              </a:rPr>
              <a:t>row Revise or Blocked; storyboard not Developer Ready</a:t>
            </a:r>
            <a:endParaRPr lang="en-US" sz="1100" dirty="0"/>
          </a:p>
        </p:txBody>
      </p:sp>
      <p:sp>
        <p:nvSpPr>
          <p:cNvPr id="13" name="Text 11"/>
          <p:cNvSpPr txBox="1"/>
          <p:nvPr/>
        </p:nvSpPr>
        <p:spPr>
          <a:xfrm>
            <a:off x="777240" y="4526280"/>
            <a:ext cx="1188720" cy="457200"/>
          </a:xfrm>
          <a:prstGeom prst="rect">
            <a:avLst/>
          </a:prstGeom>
          <a:noFill/>
          <a:ln/>
        </p:spPr>
        <p:txBody>
          <a:bodyPr wrap="square" lIns="0" tIns="0" rIns="0" bIns="0" rtlCol="0" anchor="ctr"/>
          <a:lstStyle/>
          <a:p>
            <a:pPr algn="l" indent="0" marL="0">
              <a:buNone/>
            </a:pPr>
            <a:r>
              <a:rPr lang="en-US" sz="1300" b="1" dirty="0">
                <a:solidFill>
                  <a:srgbClr val="12303D"/>
                </a:solidFill>
                <a:latin typeface="Calibri" pitchFamily="34" charset="0"/>
                <a:ea typeface="Calibri" pitchFamily="34" charset="-122"/>
                <a:cs typeface="Calibri" pitchFamily="34" charset="-120"/>
              </a:rPr>
              <a:t>Minor</a:t>
            </a:r>
            <a:endParaRPr lang="en-US" sz="1300" dirty="0"/>
          </a:p>
        </p:txBody>
      </p:sp>
      <p:sp>
        <p:nvSpPr>
          <p:cNvPr id="14" name="Shape 12"/>
          <p:cNvSpPr/>
          <p:nvPr/>
        </p:nvSpPr>
        <p:spPr>
          <a:xfrm>
            <a:off x="2011680" y="4572000"/>
            <a:ext cx="597877" cy="384048"/>
          </a:xfrm>
          <a:prstGeom prst="rect">
            <a:avLst/>
          </a:prstGeom>
          <a:solidFill>
            <a:srgbClr val="F0A202"/>
          </a:solidFill>
          <a:ln w="12700">
            <a:solidFill>
              <a:srgbClr val="F0A202"/>
            </a:solidFill>
            <a:prstDash val="solid"/>
          </a:ln>
        </p:spPr>
      </p:sp>
      <p:sp>
        <p:nvSpPr>
          <p:cNvPr id="15" name="Text 13"/>
          <p:cNvSpPr txBox="1"/>
          <p:nvPr/>
        </p:nvSpPr>
        <p:spPr>
          <a:xfrm>
            <a:off x="2700997" y="4526280"/>
            <a:ext cx="640080" cy="457200"/>
          </a:xfrm>
          <a:prstGeom prst="rect">
            <a:avLst/>
          </a:prstGeom>
          <a:noFill/>
          <a:ln/>
        </p:spPr>
        <p:txBody>
          <a:bodyPr wrap="square" lIns="0" tIns="0" rIns="0" bIns="0" rtlCol="0" anchor="ctr"/>
          <a:lstStyle/>
          <a:p>
            <a:pPr algn="l" indent="0" marL="0">
              <a:buNone/>
            </a:pPr>
            <a:r>
              <a:rPr lang="en-US" sz="1800" b="1" dirty="0">
                <a:solidFill>
                  <a:srgbClr val="F0A202"/>
                </a:solidFill>
                <a:latin typeface="Cambria" pitchFamily="34" charset="0"/>
                <a:ea typeface="Cambria" pitchFamily="34" charset="-122"/>
                <a:cs typeface="Cambria" pitchFamily="34" charset="-120"/>
              </a:rPr>
              <a:t>5</a:t>
            </a:r>
            <a:endParaRPr lang="en-US" sz="1800" dirty="0"/>
          </a:p>
        </p:txBody>
      </p:sp>
      <p:sp>
        <p:nvSpPr>
          <p:cNvPr id="16" name="Text 14"/>
          <p:cNvSpPr txBox="1"/>
          <p:nvPr/>
        </p:nvSpPr>
        <p:spPr>
          <a:xfrm>
            <a:off x="2011680" y="5029200"/>
            <a:ext cx="3383280" cy="457200"/>
          </a:xfrm>
          <a:prstGeom prst="rect">
            <a:avLst/>
          </a:prstGeom>
          <a:noFill/>
          <a:ln/>
        </p:spPr>
        <p:txBody>
          <a:bodyPr wrap="square" lIns="0" tIns="0" rIns="0" bIns="0" rtlCol="0" anchor="t"/>
          <a:lstStyle/>
          <a:p>
            <a:pPr algn="l" indent="0" marL="0">
              <a:buNone/>
            </a:pPr>
            <a:r>
              <a:rPr lang="en-US" sz="1100" i="1" dirty="0">
                <a:solidFill>
                  <a:srgbClr val="5C6B73"/>
                </a:solidFill>
                <a:latin typeface="Calibri" pitchFamily="34" charset="0"/>
                <a:ea typeface="Calibri" pitchFamily="34" charset="-122"/>
                <a:cs typeface="Calibri" pitchFamily="34" charset="-120"/>
              </a:rPr>
              <a:t>fix before delivery</a:t>
            </a:r>
            <a:endParaRPr lang="en-US" sz="1100" dirty="0"/>
          </a:p>
        </p:txBody>
      </p:sp>
      <p:sp>
        <p:nvSpPr>
          <p:cNvPr id="17" name="Text 15"/>
          <p:cNvSpPr txBox="1"/>
          <p:nvPr/>
        </p:nvSpPr>
        <p:spPr>
          <a:xfrm>
            <a:off x="777240" y="5760720"/>
            <a:ext cx="4754880" cy="548640"/>
          </a:xfrm>
          <a:prstGeom prst="rect">
            <a:avLst/>
          </a:prstGeom>
          <a:noFill/>
          <a:ln/>
        </p:spPr>
        <p:txBody>
          <a:bodyPr wrap="square" lIns="0" tIns="0" rIns="0" bIns="0" rtlCol="0" anchor="t"/>
          <a:lstStyle/>
          <a:p>
            <a:pPr algn="l" indent="0" marL="0">
              <a:buNone/>
            </a:pPr>
            <a:r>
              <a:rPr lang="en-US" sz="1100" i="1" dirty="0">
                <a:solidFill>
                  <a:srgbClr val="5C6B73"/>
                </a:solidFill>
                <a:latin typeface="Calibri" pitchFamily="34" charset="0"/>
                <a:ea typeface="Calibri" pitchFamily="34" charset="-122"/>
                <a:cs typeface="Calibri" pitchFamily="34" charset="-120"/>
              </a:rPr>
              <a:t>Every check cites the rule it enforces. Package checks run once; row checks run on every slide.</a:t>
            </a:r>
            <a:endParaRPr lang="en-US" sz="1100" dirty="0"/>
          </a:p>
        </p:txBody>
      </p:sp>
      <p:sp>
        <p:nvSpPr>
          <p:cNvPr id="18" name="Shape 16"/>
          <p:cNvSpPr/>
          <p:nvPr/>
        </p:nvSpPr>
        <p:spPr>
          <a:xfrm>
            <a:off x="6035040" y="1325880"/>
            <a:ext cx="5608015" cy="1828800"/>
          </a:xfrm>
          <a:prstGeom prst="roundRect">
            <a:avLst>
              <a:gd name="adj" fmla="val 6000"/>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9" name="Text 17"/>
          <p:cNvSpPr txBox="1"/>
          <p:nvPr/>
        </p:nvSpPr>
        <p:spPr>
          <a:xfrm>
            <a:off x="6263640" y="1435608"/>
            <a:ext cx="5150815" cy="1645920"/>
          </a:xfrm>
          <a:prstGeom prst="rect">
            <a:avLst/>
          </a:prstGeom>
          <a:noFill/>
          <a:ln/>
        </p:spPr>
        <p:txBody>
          <a:bodyPr wrap="square" lIns="0" tIns="0" rIns="0" bIns="0" rtlCol="0" anchor="t"/>
          <a:lstStyle/>
          <a:p>
            <a:pPr algn="l" indent="0" marL="0">
              <a:spcAft>
                <a:spcPts val="400"/>
              </a:spcAft>
              <a:buNone/>
            </a:pPr>
            <a:r>
              <a:rPr lang="en-US" sz="1350" b="1" dirty="0">
                <a:solidFill>
                  <a:srgbClr val="12303D"/>
                </a:solidFill>
                <a:latin typeface="Calibri" pitchFamily="34" charset="0"/>
                <a:ea typeface="Calibri" pitchFamily="34" charset="-122"/>
                <a:cs typeface="Calibri" pitchFamily="34" charset="-120"/>
              </a:rPr>
              <a:t>Developer Ready means</a:t>
            </a:r>
            <a:endParaRPr lang="en-US" sz="1300" dirty="0"/>
          </a:p>
          <a:p>
            <a:pPr algn="l" indent="0" marL="0">
              <a:buNone/>
            </a:pPr>
            <a:r>
              <a:rPr lang="en-US" sz="1100" dirty="0">
                <a:solidFill>
                  <a:srgbClr val="1E2A30"/>
                </a:solidFill>
                <a:latin typeface="Calibri" pitchFamily="34" charset="0"/>
                <a:ea typeface="Calibri" pitchFamily="34" charset="-122"/>
                <a:cs typeface="Calibri" pitchFamily="34" charset="-120"/>
              </a:rPr>
              <a:t>Every required field, object, mapping, answer, feedback state, asset reference, scoring decision, feasibility confirmation, and accessibility decision is present, and no Blocking marker remains. The storyboard is ready only when every row is.</a:t>
            </a:r>
            <a:endParaRPr lang="en-US" sz="1300" dirty="0"/>
          </a:p>
        </p:txBody>
      </p:sp>
      <p:sp>
        <p:nvSpPr>
          <p:cNvPr id="20" name="Shape 18"/>
          <p:cNvSpPr/>
          <p:nvPr/>
        </p:nvSpPr>
        <p:spPr>
          <a:xfrm>
            <a:off x="6035040" y="3291840"/>
            <a:ext cx="5608015" cy="1645920"/>
          </a:xfrm>
          <a:prstGeom prst="roundRect">
            <a:avLst>
              <a:gd name="adj" fmla="val 6667"/>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1" name="Text 19"/>
          <p:cNvSpPr txBox="1"/>
          <p:nvPr/>
        </p:nvSpPr>
        <p:spPr>
          <a:xfrm>
            <a:off x="6263640" y="3401568"/>
            <a:ext cx="5150815" cy="1463040"/>
          </a:xfrm>
          <a:prstGeom prst="rect">
            <a:avLst/>
          </a:prstGeom>
          <a:noFill/>
          <a:ln/>
        </p:spPr>
        <p:txBody>
          <a:bodyPr wrap="square" lIns="0" tIns="0" rIns="0" bIns="0" rtlCol="0" anchor="t"/>
          <a:lstStyle/>
          <a:p>
            <a:pPr algn="l" indent="0" marL="0">
              <a:spcAft>
                <a:spcPts val="400"/>
              </a:spcAft>
              <a:buNone/>
            </a:pPr>
            <a:r>
              <a:rPr lang="en-US" sz="1350" b="1" dirty="0">
                <a:solidFill>
                  <a:srgbClr val="12303D"/>
                </a:solidFill>
                <a:latin typeface="Calibri" pitchFamily="34" charset="0"/>
                <a:ea typeface="Calibri" pitchFamily="34" charset="-122"/>
                <a:cs typeface="Calibri" pitchFamily="34" charset="-120"/>
              </a:rPr>
              <a:t>Part S: a ten-line self-check before every output</a:t>
            </a:r>
            <a:endParaRPr lang="en-US" sz="1300" dirty="0"/>
          </a:p>
          <a:p>
            <a:pPr algn="l" indent="0" marL="0">
              <a:buNone/>
            </a:pPr>
            <a:r>
              <a:rPr lang="en-US" sz="1100" dirty="0">
                <a:solidFill>
                  <a:srgbClr val="1E2A30"/>
                </a:solidFill>
                <a:latin typeface="Calibri" pitchFamily="34" charset="0"/>
                <a:ea typeface="Calibri" pitchFamily="34" charset="-122"/>
                <a:cs typeface="Calibri" pitchFamily="34" charset="-120"/>
              </a:rPr>
              <a:t>Locked blocks only; no Draft objective; every row anchored; every stem and object once, in Text Content; feedback wording; no repeated Developer Notes; every gap owned; Multimedia schema; narration placement; the build question.</a:t>
            </a:r>
            <a:endParaRPr lang="en-US" sz="1300" dirty="0"/>
          </a:p>
        </p:txBody>
      </p:sp>
      <p:sp>
        <p:nvSpPr>
          <p:cNvPr id="22" name="Shape 20"/>
          <p:cNvSpPr/>
          <p:nvPr/>
        </p:nvSpPr>
        <p:spPr>
          <a:xfrm>
            <a:off x="6035040" y="5074920"/>
            <a:ext cx="5608015" cy="1325880"/>
          </a:xfrm>
          <a:prstGeom prst="roundRect">
            <a:avLst>
              <a:gd name="adj" fmla="val 8276"/>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3" name="Text 21"/>
          <p:cNvSpPr txBox="1"/>
          <p:nvPr/>
        </p:nvSpPr>
        <p:spPr>
          <a:xfrm>
            <a:off x="6263640" y="5184648"/>
            <a:ext cx="5150815" cy="1143000"/>
          </a:xfrm>
          <a:prstGeom prst="rect">
            <a:avLst/>
          </a:prstGeom>
          <a:noFill/>
          <a:ln/>
        </p:spPr>
        <p:txBody>
          <a:bodyPr wrap="square" lIns="0" tIns="0" rIns="0" bIns="0" rtlCol="0" anchor="t"/>
          <a:lstStyle/>
          <a:p>
            <a:pPr algn="l" indent="0" marL="0">
              <a:spcAft>
                <a:spcPts val="400"/>
              </a:spcAft>
              <a:buNone/>
            </a:pPr>
            <a:r>
              <a:rPr lang="en-US" sz="1350" b="1" dirty="0">
                <a:solidFill>
                  <a:srgbClr val="12303D"/>
                </a:solidFill>
                <a:latin typeface="Calibri" pitchFamily="34" charset="0"/>
                <a:ea typeface="Calibri" pitchFamily="34" charset="-122"/>
                <a:cs typeface="Calibri" pitchFamily="34" charset="-120"/>
              </a:rPr>
              <a:t>The rule</a:t>
            </a:r>
            <a:endParaRPr lang="en-US" sz="1300" dirty="0"/>
          </a:p>
          <a:p>
            <a:pPr algn="l" indent="0" marL="0">
              <a:buNone/>
            </a:pPr>
            <a:r>
              <a:rPr lang="en-US" sz="1100" dirty="0">
                <a:solidFill>
                  <a:srgbClr val="1E2A30"/>
                </a:solidFill>
                <a:latin typeface="Calibri" pitchFamily="34" charset="0"/>
                <a:ea typeface="Calibri" pitchFamily="34" charset="-122"/>
                <a:cs typeface="Calibri" pitchFamily="34" charset="-120"/>
              </a:rPr>
              <a:t>Revise rather than deliver a known failure. The final build question: could a developer who has never met the designer build it from the storyboard, the standards, and the referenced assets alone?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1E2A30"/>
                </a:solidFill>
                <a:latin typeface="Cambria" pitchFamily="34" charset="0"/>
                <a:ea typeface="Cambria" pitchFamily="34" charset="-122"/>
                <a:cs typeface="Cambria" pitchFamily="34" charset="-120"/>
              </a:rPr>
              <a:t>Six guarantees a short prompt cannot make</a:t>
            </a:r>
            <a:endParaRPr lang="en-US" sz="2800" dirty="0"/>
          </a:p>
        </p:txBody>
      </p:sp>
      <p:sp>
        <p:nvSpPr>
          <p:cNvPr id="3" name="Shape 1"/>
          <p:cNvSpPr/>
          <p:nvPr/>
        </p:nvSpPr>
        <p:spPr>
          <a:xfrm>
            <a:off x="548640" y="1371600"/>
            <a:ext cx="3429000" cy="2286000"/>
          </a:xfrm>
          <a:prstGeom prst="roundRect">
            <a:avLst>
              <a:gd name="adj" fmla="val 4800"/>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4" name="Shape 2"/>
          <p:cNvSpPr/>
          <p:nvPr/>
        </p:nvSpPr>
        <p:spPr>
          <a:xfrm>
            <a:off x="777240" y="1600200"/>
            <a:ext cx="640080" cy="640080"/>
          </a:xfrm>
          <a:prstGeom prst="ellipse">
            <a:avLst/>
          </a:prstGeom>
          <a:solidFill>
            <a:srgbClr val="1F7A8C"/>
          </a:solidFill>
          <a:ln w="12700">
            <a:solidFill>
              <a:srgbClr val="1F7A8C"/>
            </a:solidFill>
            <a:prstDash val="solid"/>
          </a:ln>
        </p:spPr>
      </p:sp>
      <p:pic>
        <p:nvPicPr>
          <p:cNvPr id="5" name="Image 0" descr="preencoded.png">    </p:cNvPr>
          <p:cNvPicPr>
            <a:picLocks noChangeAspect="1"/>
          </p:cNvPicPr>
          <p:nvPr/>
        </p:nvPicPr>
        <p:blipFill>
          <a:blip r:embed="rId1"/>
          <a:stretch>
            <a:fillRect/>
          </a:stretch>
        </p:blipFill>
        <p:spPr>
          <a:xfrm>
            <a:off x="930859" y="1753819"/>
            <a:ext cx="332842" cy="332842"/>
          </a:xfrm>
          <a:prstGeom prst="rect">
            <a:avLst/>
          </a:prstGeom>
        </p:spPr>
      </p:pic>
      <p:sp>
        <p:nvSpPr>
          <p:cNvPr id="6" name="Text 3"/>
          <p:cNvSpPr txBox="1"/>
          <p:nvPr/>
        </p:nvSpPr>
        <p:spPr>
          <a:xfrm>
            <a:off x="1554480" y="162763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Source-locked</a:t>
            </a:r>
            <a:endParaRPr lang="en-US" sz="1600" dirty="0"/>
          </a:p>
        </p:txBody>
      </p:sp>
      <p:sp>
        <p:nvSpPr>
          <p:cNvPr id="7" name="Text 4"/>
          <p:cNvSpPr txBox="1"/>
          <p:nvPr/>
        </p:nvSpPr>
        <p:spPr>
          <a:xfrm>
            <a:off x="777240" y="2331720"/>
            <a:ext cx="2971800" cy="1234440"/>
          </a:xfrm>
          <a:prstGeom prst="rect">
            <a:avLst/>
          </a:prstGeom>
          <a:noFill/>
          <a:ln/>
        </p:spPr>
        <p:txBody>
          <a:bodyPr wrap="square" lIns="0" tIns="0" rIns="0" bIns="0" rtlCol="0" anchor="t"/>
          <a:lstStyle/>
          <a:p>
            <a:pPr algn="l" indent="0" marL="0">
              <a:buNone/>
            </a:pPr>
            <a:r>
              <a:rPr lang="en-US" sz="1150" dirty="0">
                <a:solidFill>
                  <a:srgbClr val="1E2A30"/>
                </a:solidFill>
                <a:latin typeface="Calibri" pitchFamily="34" charset="0"/>
                <a:ea typeface="Calibri" pitchFamily="34" charset="-122"/>
                <a:cs typeface="Calibri" pitchFamily="34" charset="-120"/>
              </a:rPr>
              <a:t>Every learner-facing claim traces to an accessible source or becomes an owned gap. Nothing is invented, including assets, availability, and platform behaviour.</a:t>
            </a:r>
            <a:endParaRPr lang="en-US" sz="1150" dirty="0"/>
          </a:p>
        </p:txBody>
      </p:sp>
      <p:sp>
        <p:nvSpPr>
          <p:cNvPr id="8" name="Shape 5"/>
          <p:cNvSpPr/>
          <p:nvPr/>
        </p:nvSpPr>
        <p:spPr>
          <a:xfrm>
            <a:off x="4381348" y="1371600"/>
            <a:ext cx="3429000" cy="2286000"/>
          </a:xfrm>
          <a:prstGeom prst="roundRect">
            <a:avLst>
              <a:gd name="adj" fmla="val 4800"/>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9" name="Shape 6"/>
          <p:cNvSpPr/>
          <p:nvPr/>
        </p:nvSpPr>
        <p:spPr>
          <a:xfrm>
            <a:off x="4609948" y="1600200"/>
            <a:ext cx="640080" cy="640080"/>
          </a:xfrm>
          <a:prstGeom prst="ellipse">
            <a:avLst/>
          </a:prstGeom>
          <a:solidFill>
            <a:srgbClr val="1F7A8C"/>
          </a:solidFill>
          <a:ln w="12700">
            <a:solidFill>
              <a:srgbClr val="1F7A8C"/>
            </a:solidFill>
            <a:prstDash val="solid"/>
          </a:ln>
        </p:spPr>
      </p:sp>
      <p:pic>
        <p:nvPicPr>
          <p:cNvPr id="10" name="Image 1" descr="preencoded.png">    </p:cNvPr>
          <p:cNvPicPr>
            <a:picLocks noChangeAspect="1"/>
          </p:cNvPicPr>
          <p:nvPr/>
        </p:nvPicPr>
        <p:blipFill>
          <a:blip r:embed="rId2"/>
          <a:stretch>
            <a:fillRect/>
          </a:stretch>
        </p:blipFill>
        <p:spPr>
          <a:xfrm>
            <a:off x="4763567" y="1753819"/>
            <a:ext cx="332842" cy="332842"/>
          </a:xfrm>
          <a:prstGeom prst="rect">
            <a:avLst/>
          </a:prstGeom>
        </p:spPr>
      </p:pic>
      <p:sp>
        <p:nvSpPr>
          <p:cNvPr id="11" name="Text 7"/>
          <p:cNvSpPr txBox="1"/>
          <p:nvPr/>
        </p:nvSpPr>
        <p:spPr>
          <a:xfrm>
            <a:off x="5387188" y="162763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Objective-complete</a:t>
            </a:r>
            <a:endParaRPr lang="en-US" sz="1600" dirty="0"/>
          </a:p>
        </p:txBody>
      </p:sp>
      <p:sp>
        <p:nvSpPr>
          <p:cNvPr id="12" name="Text 8"/>
          <p:cNvSpPr txBox="1"/>
          <p:nvPr/>
        </p:nvSpPr>
        <p:spPr>
          <a:xfrm>
            <a:off x="4609948" y="2331720"/>
            <a:ext cx="2971800" cy="1234440"/>
          </a:xfrm>
          <a:prstGeom prst="rect">
            <a:avLst/>
          </a:prstGeom>
          <a:noFill/>
          <a:ln/>
        </p:spPr>
        <p:txBody>
          <a:bodyPr wrap="square" lIns="0" tIns="0" rIns="0" bIns="0" rtlCol="0" anchor="t"/>
          <a:lstStyle/>
          <a:p>
            <a:pPr algn="l" indent="0" marL="0">
              <a:buNone/>
            </a:pPr>
            <a:r>
              <a:rPr lang="en-US" sz="1150" dirty="0">
                <a:solidFill>
                  <a:srgbClr val="1E2A30"/>
                </a:solidFill>
                <a:latin typeface="Calibri" pitchFamily="34" charset="0"/>
                <a:ea typeface="Calibri" pitchFamily="34" charset="-122"/>
                <a:cs typeface="Calibri" pitchFamily="34" charset="-120"/>
              </a:rPr>
              <a:t>Every objective is a job task with quoted evidence and is taught, exemplified, practised, and assessed, or carries a recorded exception.</a:t>
            </a:r>
            <a:endParaRPr lang="en-US" sz="1150" dirty="0"/>
          </a:p>
        </p:txBody>
      </p:sp>
      <p:sp>
        <p:nvSpPr>
          <p:cNvPr id="13" name="Shape 9"/>
          <p:cNvSpPr/>
          <p:nvPr/>
        </p:nvSpPr>
        <p:spPr>
          <a:xfrm>
            <a:off x="8214055" y="1371600"/>
            <a:ext cx="3429000" cy="2286000"/>
          </a:xfrm>
          <a:prstGeom prst="roundRect">
            <a:avLst>
              <a:gd name="adj" fmla="val 4800"/>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4" name="Shape 10"/>
          <p:cNvSpPr/>
          <p:nvPr/>
        </p:nvSpPr>
        <p:spPr>
          <a:xfrm>
            <a:off x="8442655" y="1600200"/>
            <a:ext cx="640080" cy="640080"/>
          </a:xfrm>
          <a:prstGeom prst="ellipse">
            <a:avLst/>
          </a:prstGeom>
          <a:solidFill>
            <a:srgbClr val="1F7A8C"/>
          </a:solidFill>
          <a:ln w="12700">
            <a:solidFill>
              <a:srgbClr val="1F7A8C"/>
            </a:solidFill>
            <a:prstDash val="solid"/>
          </a:ln>
        </p:spPr>
      </p:sp>
      <p:pic>
        <p:nvPicPr>
          <p:cNvPr id="15" name="Image 2" descr="preencoded.png">    </p:cNvPr>
          <p:cNvPicPr>
            <a:picLocks noChangeAspect="1"/>
          </p:cNvPicPr>
          <p:nvPr/>
        </p:nvPicPr>
        <p:blipFill>
          <a:blip r:embed="rId3"/>
          <a:stretch>
            <a:fillRect/>
          </a:stretch>
        </p:blipFill>
        <p:spPr>
          <a:xfrm>
            <a:off x="8596274" y="1753819"/>
            <a:ext cx="332842" cy="332842"/>
          </a:xfrm>
          <a:prstGeom prst="rect">
            <a:avLst/>
          </a:prstGeom>
        </p:spPr>
      </p:pic>
      <p:sp>
        <p:nvSpPr>
          <p:cNvPr id="16" name="Text 11"/>
          <p:cNvSpPr txBox="1"/>
          <p:nvPr/>
        </p:nvSpPr>
        <p:spPr>
          <a:xfrm>
            <a:off x="9219895" y="162763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Build-ready</a:t>
            </a:r>
            <a:endParaRPr lang="en-US" sz="1600" dirty="0"/>
          </a:p>
        </p:txBody>
      </p:sp>
      <p:sp>
        <p:nvSpPr>
          <p:cNvPr id="17" name="Text 12"/>
          <p:cNvSpPr txBox="1"/>
          <p:nvPr/>
        </p:nvSpPr>
        <p:spPr>
          <a:xfrm>
            <a:off x="8442655" y="2331720"/>
            <a:ext cx="2971800" cy="1234440"/>
          </a:xfrm>
          <a:prstGeom prst="rect">
            <a:avLst/>
          </a:prstGeom>
          <a:noFill/>
          <a:ln/>
        </p:spPr>
        <p:txBody>
          <a:bodyPr wrap="square" lIns="0" tIns="0" rIns="0" bIns="0" rtlCol="0" anchor="t"/>
          <a:lstStyle/>
          <a:p>
            <a:pPr algn="l" indent="0" marL="0">
              <a:buNone/>
            </a:pPr>
            <a:r>
              <a:rPr lang="en-US" sz="1150" dirty="0">
                <a:solidFill>
                  <a:srgbClr val="1E2A30"/>
                </a:solidFill>
                <a:latin typeface="Calibri" pitchFamily="34" charset="0"/>
                <a:ea typeface="Calibri" pitchFamily="34" charset="-122"/>
                <a:cs typeface="Calibri" pitchFamily="34" charset="-120"/>
              </a:rPr>
              <a:t>Every component carries its minimum fields, plain-pair answers, and exact feedback. A developer who never met the designer can build it.</a:t>
            </a:r>
            <a:endParaRPr lang="en-US" sz="1150" dirty="0"/>
          </a:p>
        </p:txBody>
      </p:sp>
      <p:sp>
        <p:nvSpPr>
          <p:cNvPr id="18" name="Shape 13"/>
          <p:cNvSpPr/>
          <p:nvPr/>
        </p:nvSpPr>
        <p:spPr>
          <a:xfrm>
            <a:off x="548640" y="3977640"/>
            <a:ext cx="3429000" cy="2286000"/>
          </a:xfrm>
          <a:prstGeom prst="roundRect">
            <a:avLst>
              <a:gd name="adj" fmla="val 4800"/>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19" name="Shape 14"/>
          <p:cNvSpPr/>
          <p:nvPr/>
        </p:nvSpPr>
        <p:spPr>
          <a:xfrm>
            <a:off x="777240" y="4206240"/>
            <a:ext cx="640080" cy="640080"/>
          </a:xfrm>
          <a:prstGeom prst="ellipse">
            <a:avLst/>
          </a:prstGeom>
          <a:solidFill>
            <a:srgbClr val="1F7A8C"/>
          </a:solidFill>
          <a:ln w="12700">
            <a:solidFill>
              <a:srgbClr val="1F7A8C"/>
            </a:solidFill>
            <a:prstDash val="solid"/>
          </a:ln>
        </p:spPr>
      </p:sp>
      <p:pic>
        <p:nvPicPr>
          <p:cNvPr id="20" name="Image 3" descr="preencoded.png">    </p:cNvPr>
          <p:cNvPicPr>
            <a:picLocks noChangeAspect="1"/>
          </p:cNvPicPr>
          <p:nvPr/>
        </p:nvPicPr>
        <p:blipFill>
          <a:blip r:embed="rId4"/>
          <a:stretch>
            <a:fillRect/>
          </a:stretch>
        </p:blipFill>
        <p:spPr>
          <a:xfrm>
            <a:off x="930859" y="4359859"/>
            <a:ext cx="332842" cy="332842"/>
          </a:xfrm>
          <a:prstGeom prst="rect">
            <a:avLst/>
          </a:prstGeom>
        </p:spPr>
      </p:pic>
      <p:sp>
        <p:nvSpPr>
          <p:cNvPr id="21" name="Text 15"/>
          <p:cNvSpPr txBox="1"/>
          <p:nvPr/>
        </p:nvSpPr>
        <p:spPr>
          <a:xfrm>
            <a:off x="1554480" y="423367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Accessible by default</a:t>
            </a:r>
            <a:endParaRPr lang="en-US" sz="1600" dirty="0"/>
          </a:p>
        </p:txBody>
      </p:sp>
      <p:sp>
        <p:nvSpPr>
          <p:cNvPr id="22" name="Text 16"/>
          <p:cNvSpPr txBox="1"/>
          <p:nvPr/>
        </p:nvSpPr>
        <p:spPr>
          <a:xfrm>
            <a:off x="777240" y="4937760"/>
            <a:ext cx="2971800" cy="1234440"/>
          </a:xfrm>
          <a:prstGeom prst="rect">
            <a:avLst/>
          </a:prstGeom>
          <a:noFill/>
          <a:ln/>
        </p:spPr>
        <p:txBody>
          <a:bodyPr wrap="square" lIns="0" tIns="0" rIns="0" bIns="0" rtlCol="0" anchor="t"/>
          <a:lstStyle/>
          <a:p>
            <a:pPr algn="l" indent="0" marL="0">
              <a:buNone/>
            </a:pPr>
            <a:r>
              <a:rPr lang="en-US" sz="1150" dirty="0">
                <a:solidFill>
                  <a:srgbClr val="1E2A30"/>
                </a:solidFill>
                <a:latin typeface="Calibri" pitchFamily="34" charset="0"/>
                <a:ea typeface="Calibri" pitchFamily="34" charset="-122"/>
                <a:cs typeface="Calibri" pitchFamily="34" charset="-120"/>
              </a:rPr>
              <a:t>WCAG 2.2 AA is stated once; only exceptions appear at slide level; matching, hotspot, and custom interactions carry keyboard equivalents.</a:t>
            </a:r>
            <a:endParaRPr lang="en-US" sz="1150" dirty="0"/>
          </a:p>
        </p:txBody>
      </p:sp>
      <p:sp>
        <p:nvSpPr>
          <p:cNvPr id="23" name="Shape 17"/>
          <p:cNvSpPr/>
          <p:nvPr/>
        </p:nvSpPr>
        <p:spPr>
          <a:xfrm>
            <a:off x="4381348" y="3977640"/>
            <a:ext cx="3429000" cy="2286000"/>
          </a:xfrm>
          <a:prstGeom prst="roundRect">
            <a:avLst>
              <a:gd name="adj" fmla="val 4800"/>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4" name="Shape 18"/>
          <p:cNvSpPr/>
          <p:nvPr/>
        </p:nvSpPr>
        <p:spPr>
          <a:xfrm>
            <a:off x="4609948" y="4206240"/>
            <a:ext cx="640080" cy="640080"/>
          </a:xfrm>
          <a:prstGeom prst="ellipse">
            <a:avLst/>
          </a:prstGeom>
          <a:solidFill>
            <a:srgbClr val="1F7A8C"/>
          </a:solidFill>
          <a:ln w="12700">
            <a:solidFill>
              <a:srgbClr val="1F7A8C"/>
            </a:solidFill>
            <a:prstDash val="solid"/>
          </a:ln>
        </p:spPr>
      </p:sp>
      <p:pic>
        <p:nvPicPr>
          <p:cNvPr id="25" name="Image 4" descr="preencoded.png">    </p:cNvPr>
          <p:cNvPicPr>
            <a:picLocks noChangeAspect="1"/>
          </p:cNvPicPr>
          <p:nvPr/>
        </p:nvPicPr>
        <p:blipFill>
          <a:blip r:embed="rId5"/>
          <a:stretch>
            <a:fillRect/>
          </a:stretch>
        </p:blipFill>
        <p:spPr>
          <a:xfrm>
            <a:off x="4763567" y="4359859"/>
            <a:ext cx="332842" cy="332842"/>
          </a:xfrm>
          <a:prstGeom prst="rect">
            <a:avLst/>
          </a:prstGeom>
        </p:spPr>
      </p:pic>
      <p:sp>
        <p:nvSpPr>
          <p:cNvPr id="26" name="Text 19"/>
          <p:cNvSpPr txBox="1"/>
          <p:nvPr/>
        </p:nvSpPr>
        <p:spPr>
          <a:xfrm>
            <a:off x="5387188" y="423367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Reviewer-readable</a:t>
            </a:r>
            <a:endParaRPr lang="en-US" sz="1600" dirty="0"/>
          </a:p>
        </p:txBody>
      </p:sp>
      <p:sp>
        <p:nvSpPr>
          <p:cNvPr id="27" name="Text 20"/>
          <p:cNvSpPr txBox="1"/>
          <p:nvPr/>
        </p:nvSpPr>
        <p:spPr>
          <a:xfrm>
            <a:off x="4609948" y="4937760"/>
            <a:ext cx="2971800" cy="1234440"/>
          </a:xfrm>
          <a:prstGeom prst="rect">
            <a:avLst/>
          </a:prstGeom>
          <a:noFill/>
          <a:ln/>
        </p:spPr>
        <p:txBody>
          <a:bodyPr wrap="square" lIns="0" tIns="0" rIns="0" bIns="0" rtlCol="0" anchor="t"/>
          <a:lstStyle/>
          <a:p>
            <a:pPr algn="l" indent="0" marL="0">
              <a:buNone/>
            </a:pPr>
            <a:r>
              <a:rPr lang="en-US" sz="1150" dirty="0">
                <a:solidFill>
                  <a:srgbClr val="1E2A30"/>
                </a:solidFill>
                <a:latin typeface="Calibri" pitchFamily="34" charset="0"/>
                <a:ea typeface="Calibri" pitchFamily="34" charset="-122"/>
                <a:cs typeface="Calibri" pitchFamily="34" charset="-120"/>
              </a:rPr>
              <a:t>Complete sentences, one term per thing, acronyms defined, no index codes, no repeated conventions. One reading is enough.</a:t>
            </a:r>
            <a:endParaRPr lang="en-US" sz="1150" dirty="0"/>
          </a:p>
        </p:txBody>
      </p:sp>
      <p:sp>
        <p:nvSpPr>
          <p:cNvPr id="28" name="Shape 21"/>
          <p:cNvSpPr/>
          <p:nvPr/>
        </p:nvSpPr>
        <p:spPr>
          <a:xfrm>
            <a:off x="8214055" y="3977640"/>
            <a:ext cx="3429000" cy="2286000"/>
          </a:xfrm>
          <a:prstGeom prst="roundRect">
            <a:avLst>
              <a:gd name="adj" fmla="val 4800"/>
            </a:avLst>
          </a:prstGeom>
          <a:solidFill>
            <a:srgbClr val="EEF6F5"/>
          </a:solidFill>
          <a:ln w="12700">
            <a:solidFill>
              <a:srgbClr val="EEF6F5"/>
            </a:solidFill>
            <a:prstDash val="solid"/>
          </a:ln>
          <a:effectLst>
            <a:outerShdw sx="100000" sy="100000" kx="0" ky="0" algn="bl" rotWithShape="0" blurRad="50800" dist="25400" dir="3600000">
              <a:srgbClr val="000000">
                <a:alpha val="12000"/>
              </a:srgbClr>
            </a:outerShdw>
          </a:effectLst>
        </p:spPr>
      </p:sp>
      <p:sp>
        <p:nvSpPr>
          <p:cNvPr id="29" name="Shape 22"/>
          <p:cNvSpPr/>
          <p:nvPr/>
        </p:nvSpPr>
        <p:spPr>
          <a:xfrm>
            <a:off x="8442655" y="4206240"/>
            <a:ext cx="640080" cy="640080"/>
          </a:xfrm>
          <a:prstGeom prst="ellipse">
            <a:avLst/>
          </a:prstGeom>
          <a:solidFill>
            <a:srgbClr val="1F7A8C"/>
          </a:solidFill>
          <a:ln w="12700">
            <a:solidFill>
              <a:srgbClr val="1F7A8C"/>
            </a:solidFill>
            <a:prstDash val="solid"/>
          </a:ln>
        </p:spPr>
      </p:sp>
      <p:pic>
        <p:nvPicPr>
          <p:cNvPr id="30" name="Image 5" descr="preencoded.png">    </p:cNvPr>
          <p:cNvPicPr>
            <a:picLocks noChangeAspect="1"/>
          </p:cNvPicPr>
          <p:nvPr/>
        </p:nvPicPr>
        <p:blipFill>
          <a:blip r:embed="rId6"/>
          <a:stretch>
            <a:fillRect/>
          </a:stretch>
        </p:blipFill>
        <p:spPr>
          <a:xfrm>
            <a:off x="8596274" y="4359859"/>
            <a:ext cx="332842" cy="332842"/>
          </a:xfrm>
          <a:prstGeom prst="rect">
            <a:avLst/>
          </a:prstGeom>
        </p:spPr>
      </p:pic>
      <p:sp>
        <p:nvSpPr>
          <p:cNvPr id="31" name="Text 23"/>
          <p:cNvSpPr txBox="1"/>
          <p:nvPr/>
        </p:nvSpPr>
        <p:spPr>
          <a:xfrm>
            <a:off x="9219895" y="4233672"/>
            <a:ext cx="2240280" cy="594360"/>
          </a:xfrm>
          <a:prstGeom prst="rect">
            <a:avLst/>
          </a:prstGeom>
          <a:noFill/>
          <a:ln/>
        </p:spPr>
        <p:txBody>
          <a:bodyPr wrap="square" lIns="0" tIns="0" rIns="0" bIns="0" rtlCol="0" anchor="ctr"/>
          <a:lstStyle/>
          <a:p>
            <a:pPr algn="l" indent="0" marL="0">
              <a:buNone/>
            </a:pPr>
            <a:r>
              <a:rPr lang="en-US" sz="1600" b="1" dirty="0">
                <a:solidFill>
                  <a:srgbClr val="12303D"/>
                </a:solidFill>
                <a:latin typeface="Calibri" pitchFamily="34" charset="0"/>
                <a:ea typeface="Calibri" pitchFamily="34" charset="-122"/>
                <a:cs typeface="Calibri" pitchFamily="34" charset="-120"/>
              </a:rPr>
              <a:t>Repeatable</a:t>
            </a:r>
            <a:endParaRPr lang="en-US" sz="1600" dirty="0"/>
          </a:p>
        </p:txBody>
      </p:sp>
      <p:sp>
        <p:nvSpPr>
          <p:cNvPr id="32" name="Text 24"/>
          <p:cNvSpPr txBox="1"/>
          <p:nvPr/>
        </p:nvSpPr>
        <p:spPr>
          <a:xfrm>
            <a:off x="8442655" y="4937760"/>
            <a:ext cx="2971800" cy="1234440"/>
          </a:xfrm>
          <a:prstGeom prst="rect">
            <a:avLst/>
          </a:prstGeom>
          <a:noFill/>
          <a:ln/>
        </p:spPr>
        <p:txBody>
          <a:bodyPr wrap="square" lIns="0" tIns="0" rIns="0" bIns="0" rtlCol="0" anchor="t"/>
          <a:lstStyle/>
          <a:p>
            <a:pPr algn="l" indent="0" marL="0">
              <a:buNone/>
            </a:pPr>
            <a:r>
              <a:rPr lang="en-US" sz="1150" dirty="0">
                <a:solidFill>
                  <a:srgbClr val="1E2A30"/>
                </a:solidFill>
                <a:latin typeface="Calibri" pitchFamily="34" charset="0"/>
                <a:ea typeface="Calibri" pitchFamily="34" charset="-122"/>
                <a:cs typeface="Calibri" pitchFamily="34" charset="-120"/>
              </a:rPr>
              <a:t>Same six blocks, same wording rules, same checks on every run. Change a project value once, in Part P, and it applies everywhere.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303D"/>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Why a simple prompt cannot replace it</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2194560"/>
                <a:gridCol w="3291840"/>
                <a:gridCol w="5242255"/>
              </a:tblGrid>
              <a:tr h="502920">
                <a:tc>
                  <a:txBody>
                    <a:bodyPr/>
                    <a:lstStyle/>
                    <a:p>
                      <a:pPr indent="0" marL="0">
                        <a:buNone/>
                      </a:pPr>
                      <a:r>
                        <a:rPr lang="en-US" sz="1200" b="1" dirty="0">
                          <a:solidFill>
                            <a:srgbClr val="F0A202"/>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0B2129"/>
                    </a:solidFill>
                  </a:tcPr>
                </a:tc>
                <a:tc>
                  <a:txBody>
                    <a:bodyPr/>
                    <a:lstStyle/>
                    <a:p>
                      <a:pPr indent="0" marL="0">
                        <a:buNone/>
                      </a:pPr>
                      <a:r>
                        <a:rPr lang="en-US" sz="1200" b="1" dirty="0">
                          <a:solidFill>
                            <a:srgbClr val="F0A202"/>
                          </a:solidFill>
                          <a:latin typeface="Calibri" pitchFamily="34" charset="0"/>
                          <a:ea typeface="Calibri" pitchFamily="34" charset="-122"/>
                          <a:cs typeface="Calibri" pitchFamily="34" charset="-120"/>
                        </a:rPr>
                        <a:t>200-word prompt</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0B2129"/>
                    </a:solidFill>
                  </a:tcPr>
                </a:tc>
                <a:tc>
                  <a:txBody>
                    <a:bodyPr/>
                    <a:lstStyle/>
                    <a:p>
                      <a:pPr indent="0" marL="0">
                        <a:buNone/>
                      </a:pPr>
                      <a:r>
                        <a:rPr lang="en-US" sz="1200" b="1" dirty="0">
                          <a:solidFill>
                            <a:srgbClr val="F0A202"/>
                          </a:solidFill>
                          <a:latin typeface="Calibri" pitchFamily="34" charset="0"/>
                          <a:ea typeface="Calibri" pitchFamily="34" charset="-122"/>
                          <a:cs typeface="Calibri" pitchFamily="34" charset="-120"/>
                        </a:rPr>
                        <a:t>Master prompt</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0B2129"/>
                    </a:solidFill>
                  </a:tcPr>
                </a:tc>
              </a:tr>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Output shape</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63A48"/>
                    </a:solidFill>
                  </a:tcPr>
                </a:tc>
                <a:tc>
                  <a:txBody>
                    <a:bodyPr/>
                    <a:lstStyle/>
                    <a:p>
                      <a:pPr indent="0" marL="0">
                        <a:buNone/>
                      </a:pPr>
                      <a:r>
                        <a:rPr lang="en-US" sz="1200" dirty="0">
                          <a:solidFill>
                            <a:srgbClr val="B8C7CC"/>
                          </a:solidFill>
                          <a:latin typeface="Calibri" pitchFamily="34" charset="0"/>
                          <a:ea typeface="Calibri" pitchFamily="34" charset="-122"/>
                          <a:cs typeface="Calibri" pitchFamily="34" charset="-120"/>
                        </a:rPr>
                        <a:t>Whatever the model picks that day</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63A48"/>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Six locked blocks, five fixed columns, real Word tables</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63A48"/>
                    </a:solidFill>
                  </a:tcPr>
                </a:tc>
              </a:tr>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Sources</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2303D"/>
                    </a:solidFill>
                  </a:tcPr>
                </a:tc>
                <a:tc>
                  <a:txBody>
                    <a:bodyPr/>
                    <a:lstStyle/>
                    <a:p>
                      <a:pPr indent="0" marL="0">
                        <a:buNone/>
                      </a:pPr>
                      <a:r>
                        <a:rPr lang="en-US" sz="1200" dirty="0">
                          <a:solidFill>
                            <a:srgbClr val="B8C7CC"/>
                          </a:solidFill>
                          <a:latin typeface="Calibri" pitchFamily="34" charset="0"/>
                          <a:ea typeface="Calibri" pitchFamily="34" charset="-122"/>
                          <a:cs typeface="Calibri" pitchFamily="34" charset="-120"/>
                        </a:rPr>
                        <a:t>Whatever it remembers or assumes</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2303D"/>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Accessible sources only, ranked by a nine-level authority stack</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2303D"/>
                    </a:solidFill>
                  </a:tcPr>
                </a:tc>
              </a:tr>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Missing information</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63A48"/>
                    </a:solidFill>
                  </a:tcPr>
                </a:tc>
                <a:tc>
                  <a:txBody>
                    <a:bodyPr/>
                    <a:lstStyle/>
                    <a:p>
                      <a:pPr indent="0" marL="0">
                        <a:buNone/>
                      </a:pPr>
                      <a:r>
                        <a:rPr lang="en-US" sz="1200" dirty="0">
                          <a:solidFill>
                            <a:srgbClr val="B8C7CC"/>
                          </a:solidFill>
                          <a:latin typeface="Calibri" pitchFamily="34" charset="0"/>
                          <a:ea typeface="Calibri" pitchFamily="34" charset="-122"/>
                          <a:cs typeface="Calibri" pitchFamily="34" charset="-120"/>
                        </a:rPr>
                        <a:t>Filled in silently</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63A48"/>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Classified Critical, Blocking, or Non-blocking and assigned an owner</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63A48"/>
                    </a:solidFill>
                  </a:tcPr>
                </a:tc>
              </a:tr>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Answers and feedback</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2303D"/>
                    </a:solidFill>
                  </a:tcPr>
                </a:tc>
                <a:tc>
                  <a:txBody>
                    <a:bodyPr/>
                    <a:lstStyle/>
                    <a:p>
                      <a:pPr indent="0" marL="0">
                        <a:buNone/>
                      </a:pPr>
                      <a:r>
                        <a:rPr lang="en-US" sz="1200" dirty="0">
                          <a:solidFill>
                            <a:srgbClr val="B8C7CC"/>
                          </a:solidFill>
                          <a:latin typeface="Calibri" pitchFamily="34" charset="0"/>
                          <a:ea typeface="Calibri" pitchFamily="34" charset="-122"/>
                          <a:cs typeface="Calibri" pitchFamily="34" charset="-120"/>
                        </a:rPr>
                        <a:t>Improvised and inconsistent</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2303D"/>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Plain-pair answers, exact feedback wording, randomization rules</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2303D"/>
                    </a:solidFill>
                  </a:tcPr>
                </a:tc>
              </a:tr>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Accessibility</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63A48"/>
                    </a:solidFill>
                  </a:tcPr>
                </a:tc>
                <a:tc>
                  <a:txBody>
                    <a:bodyPr/>
                    <a:lstStyle/>
                    <a:p>
                      <a:pPr indent="0" marL="0">
                        <a:buNone/>
                      </a:pPr>
                      <a:r>
                        <a:rPr lang="en-US" sz="1200" dirty="0">
                          <a:solidFill>
                            <a:srgbClr val="B8C7CC"/>
                          </a:solidFill>
                          <a:latin typeface="Calibri" pitchFamily="34" charset="0"/>
                          <a:ea typeface="Calibri" pitchFamily="34" charset="-122"/>
                          <a:cs typeface="Calibri" pitchFamily="34" charset="-120"/>
                        </a:rPr>
                        <a:t>Mentioned, maybe</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63A48"/>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Baseline once, exceptions per slide, keyboard equivalents required</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63A48"/>
                    </a:solidFill>
                  </a:tcPr>
                </a:tc>
              </a:tr>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Quality</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2303D"/>
                    </a:solidFill>
                  </a:tcPr>
                </a:tc>
                <a:tc>
                  <a:txBody>
                    <a:bodyPr/>
                    <a:lstStyle/>
                    <a:p>
                      <a:pPr indent="0" marL="0">
                        <a:buNone/>
                      </a:pPr>
                      <a:r>
                        <a:rPr lang="en-US" sz="1200" dirty="0">
                          <a:solidFill>
                            <a:srgbClr val="B8C7CC"/>
                          </a:solidFill>
                          <a:latin typeface="Calibri" pitchFamily="34" charset="0"/>
                          <a:ea typeface="Calibri" pitchFamily="34" charset="-122"/>
                          <a:cs typeface="Calibri" pitchFamily="34" charset="-120"/>
                        </a:rPr>
                        <a:t>Trust and hope</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2303D"/>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37 checks with severities and a defined Developer Ready</a:t>
                      </a:r>
                      <a:endParaRPr lang="en-US" sz="1200" dirty="0">
                        <a:latin typeface="Calibri" charset="0"/>
                        <a:ea typeface="Calibri" charset="0"/>
                        <a:cs typeface="Calibri" charset="0"/>
                      </a:endParaRPr>
                    </a:p>
                  </a:txBody>
                  <a:tcPr marL="54864" marR="54864" marT="54864" marB="54864">
                    <a:lnL w="6350" cap="flat" cmpd="sng" algn="ctr">
                      <a:solidFill>
                        <a:srgbClr val="2E5563"/>
                      </a:solidFill>
                      <a:prstDash val="solid"/>
                      <a:round/>
                      <a:headEnd type="none" w="med" len="med"/>
                      <a:tailEnd type="none" w="med" len="med"/>
                    </a:lnL>
                    <a:lnR w="6350" cap="flat" cmpd="sng" algn="ctr">
                      <a:solidFill>
                        <a:srgbClr val="2E5563"/>
                      </a:solidFill>
                      <a:prstDash val="solid"/>
                      <a:round/>
                      <a:headEnd type="none" w="med" len="med"/>
                      <a:tailEnd type="none" w="med" len="med"/>
                    </a:lnR>
                    <a:lnT w="6350" cap="flat" cmpd="sng" algn="ctr">
                      <a:solidFill>
                        <a:srgbClr val="2E5563"/>
                      </a:solidFill>
                      <a:prstDash val="solid"/>
                      <a:round/>
                      <a:headEnd type="none" w="med" len="med"/>
                      <a:tailEnd type="none" w="med" len="med"/>
                    </a:lnT>
                    <a:lnB w="6350" cap="flat" cmpd="sng" algn="ctr">
                      <a:solidFill>
                        <a:srgbClr val="2E5563"/>
                      </a:solidFill>
                      <a:prstDash val="solid"/>
                      <a:round/>
                      <a:headEnd type="none" w="med" len="med"/>
                      <a:tailEnd type="none" w="med" len="med"/>
                    </a:lnB>
                    <a:solidFill>
                      <a:srgbClr val="12303D"/>
                    </a:solidFill>
                  </a:tcPr>
                </a:tc>
              </a:tr>
            </a:tbl>
          </a:graphicData>
        </a:graphic>
      </p:graphicFrame>
      <p:sp>
        <p:nvSpPr>
          <p:cNvPr id="4" name="Text 1"/>
          <p:cNvSpPr txBox="1"/>
          <p:nvPr/>
        </p:nvSpPr>
        <p:spPr>
          <a:xfrm>
            <a:off x="731520" y="5760720"/>
            <a:ext cx="10728655" cy="640080"/>
          </a:xfrm>
          <a:prstGeom prst="rect">
            <a:avLst/>
          </a:prstGeom>
          <a:noFill/>
          <a:ln/>
        </p:spPr>
        <p:txBody>
          <a:bodyPr wrap="square" lIns="0" tIns="0" rIns="0" bIns="0" rtlCol="0" anchor="ctr"/>
          <a:lstStyle/>
          <a:p>
            <a:pPr algn="ctr" indent="0" marL="0">
              <a:buNone/>
            </a:pPr>
            <a:r>
              <a:rPr lang="en-US" sz="2000" b="1" dirty="0">
                <a:solidFill>
                  <a:srgbClr val="F0A202"/>
                </a:solidFill>
                <a:latin typeface="Cambria" pitchFamily="34" charset="0"/>
                <a:ea typeface="Cambria" pitchFamily="34" charset="-122"/>
                <a:cs typeface="Cambria" pitchFamily="34" charset="-120"/>
              </a:rPr>
              <a:t>Attach the document.  Say "Generate the storyboard."  Review the six blocks.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Storyboard Generator Master Prompt: an introduction</dc:title>
  <dc:subject>PptxGenJS Presentation</dc:subject>
  <dc:creator>Learning Design</dc:creator>
  <cp:lastModifiedBy>Learning Design</cp:lastModifiedBy>
  <cp:revision>1</cp:revision>
  <dcterms:created xsi:type="dcterms:W3CDTF">2026-09-20T22:53:32Z</dcterms:created>
  <dcterms:modified xsi:type="dcterms:W3CDTF">2026-09-20T22:53:32Z</dcterms:modified>
</cp:coreProperties>
</file>