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visiting the Learning Support Centre. In the next ten minutes I will show you one project from the Learning Engineering Team: a team-based, practitioner-governed AI storyboarding tool. The word order matters: the team and the practitioners come first, and the AI is the tool. I will cover how it was built, what it does for the team, where it still falls short, and where we would value your 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interpret the work through TPACK: Technological Pedagogical Content Knowledge. An eLearning course needs three kinds of knowledge at once. Content knowledge comes from the client: manuals, policies, legacy courseware and subject-matter experts. Pedagogical knowledge is what our designers add: measurable objectives, sequencing, guided practice, aligned assessment and meaningful feedback. Technological knowledge is what the platform allows: DominKnow pages and interactions, narration, media, scoring and accessibility. Good design lives in the overlap, inside the context of a specific project. Our question was: can that overlap be written down so that a tool reproduces it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prompt was developed. We followed a prompt-engineering framework: observe good storyboards, define the task, understand what the model can and cannot do, and synthesize a comprehensive prompt, reviewed each time for risk, gaps and suggestions. Its structure follows CRAFT: Context, Role, Actions, Format and Target audience. The arc along the bottom is the project history: a baseline of AI storyboarding, an analysis of our own design experience, a master prompt, and then project storyboards generated from it. The first drafts had real problems: source conflicts, weak objectives, robotic language. Each problem became a control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is not a clever sentence; it is educator knowledge, written down: instructional rules and examples, a structured workflow, quality criteria, component specifications, project configuration, and human ownership of every gap. The numbers give the scale: close to nineteen thousand words; thirty-seven quality checks, each with a severity; eighteen component specifications; thirty-six configuration keys; and nine markers that assign every unresolved item to a person. That is the raw material. The rest of this presentation is about what it does for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TPACK as we actually use it. On the left are the three inputs. Content knowledge is the client's sources, ranked by authority, so the prompt never guesses which document wins. Pedagogical knowledge is our practitioners' interpretation: objectives written as job tasks, a teach-show-practise-assess sequence, fixed feedback wording, limits on cognitive load. Technological knowledge is what DominKnow can build and what the AI can reliably do. The master prompt in the centre joins them; it is TPACK written as rules the AI must follow. On the right is what comes out: a storyboard in a locked format with every gap owned, which a developer builds in DominKnow without needing to meet the designer, and a course the learner can learn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prompt on one page. Context tells the AI who will read the storyboard, which sources win when they disagree, and what to do when something is missing: classify it and assign it to a person, never fill it in. Role says the generator drafts and people decide. Action fixes the order of work, starting with objectives as job tasks and a verification gate before any slide is designed. Format locks the document so every storyboard has the same shape. Tone is one writing standard that a learner, a client reviewer and a developer can all read. The band at the bottom makes it a standard rather than a suggestion: values set once, thirty-seven checks on every run, nine gap markers so nothing is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most want you to remember. The prompt asks the AI to act as six specialists at once: instructional designer, learning-engineering analyst, assessment designer, accessibility and UX reviewer, source-fidelity reviewer, and storyboard-production architect. Those are the kinds of expertise on our team. Before this, each practitioner had their own storyboard, their own habits, their own idea of complete. Getting six experts to produce the same thing is genuinely hard. The standard did that without flattening anyone: the interpretation still belongs to the designer; the shape, the checks and the language belong to the team. The effects are on the right. A storyboard looks the same whoever ran it. A new colleague is inside the standard on their first project. When someone moves on, their rules stay in the prompt and its change log. And the practitioners govern it: reviewer comments become rules, so the tool follows the team, not the other way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daily work it does three jobs. Generate: a designer attaches the intake, the sources and any reviewer comments, and what comes back is Developer Ready, or says exactly why it is not. Standardize: we used to ask people to follow the template, and compliance was uneven, because everyone has a better idea. Now the template is inside the tool; nobody has to remember it, and you would have to work hard to produce something that does not comply. The designer's judgement is still there, in the objectives, the scenarios and the sequencing; only the shape is fixed. Convert: when another unit sends a storyboard or a standard in its own format, we run it through the same prompt and hand the developers the format they can build from, checked by the same rules. Without that, the developers could not accept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it get better? Every improvement so far has come from a real reviewer comment on a real storyboard. The loop on the left is the governance model. A reviewer writes a comment. We classify the defect. We write the rule into the one place in the prompt where that topic lives, and add one line to the acceptance checks so the generator tests for it on every run. The next storyboard is checked before anyone sees it. The table shows five real examples. Fragments made it hard to connect meaning; now complete sentences are required. Stages or processes? Now it is one term per thing. What is the actual question stem? Now there is a stem before every activity. A developer wrote, in effect, we don't program this, delete it; now platform behaviour stays out of the rows. Fourteen comments on one storyboard became rules. The point is who decides: the reviewers and the practitioners, not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straightforward about the limits, because they are why we are talking to you. First, presentation: the content is right far more often than it is well presented. Mock-ups are now required for complex layouts, but the visual side still needs a designer's eye. Second, human review is not optional and it is not getting smaller. The gap markers make that work visible and assignable; they do not remove it, and we would distrust any tool that claimed to. Third, and this is the one we cannot fix from inside: we have no outside benchmark. Everything you have seen was improved by our own reviewers. We do not know how this compares with the wider field, or what we have simply not thought of. We treat all three as design problems on the change log, not as reasons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thing we cannot solve alone is scale. Today the tool is, honestly, a document and a link. The prompt runs in a general-purpose AI chat; each run starts by pasting the standard in. Upload and context limits cap how much of a source set one run can read, which matters when a course draws on several manuals. And there is no shared workspace: versions, usage and results are not tracked. What scale needs is on the right: the prompt, the standards and the reference libraries stored once and versioned, shared across the team and with partner units, with enough capacity for a full source set in one run. We have tried two routes. Azure AI Foundry, where the capacity available to us was too small. And the Copilot agent on our current tier, where the limits mean the standard cannot be stored and shared as an agent. So the question is which platform and which hosting approach let a practitioner-governed prompt run as a shared, governed tool in a Government of Canada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ask, and it is a modest one. We are not looking for someone to take the project over; the standard works and the team governs it. We are looking for three things. A benchmark: how this compares with your practice, what is strong, what you would change, what we have not seen. A path to scale: a platform, a person or an approach; any one of the three would move us forward. And an exchange: we will share the standard, the change log and the review method, and we would like to learn how others govern AI in learning design. Thank you. I am happy to take questions or to show a storyboard being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claude-0/-home-user-Tina/7da22cf4-c14e-5ae1-ae15-1cc9ad0587db/scratchpad/deck/orig/keep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user-Tina/7da22cf4-c14e-5ae1-ae15-1cc9ad0587db/scratchpad/deck/orig/keep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user-Tina/7da22cf4-c14e-5ae1-ae15-1cc9ad0587db/scratchpad/deck/orig/keep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user-Tina/7da22cf4-c14e-5ae1-ae15-1cc9ad0587db/scratchpad/deck/orig/keep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658368"/>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From TPACK to a working tool</a:t>
            </a:r>
            <a:endParaRPr lang="en-US" sz="3000" dirty="0"/>
          </a:p>
        </p:txBody>
      </p:sp>
      <p:sp>
        <p:nvSpPr>
          <p:cNvPr id="3" name="Text 1"/>
          <p:cNvSpPr txBox="1"/>
          <p:nvPr/>
        </p:nvSpPr>
        <p:spPr>
          <a:xfrm>
            <a:off x="502920" y="932688"/>
            <a:ext cx="11185855" cy="310896"/>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The prompt is where the three kinds of knowledge are joined, and the storyboard is how they reach the developer.</a:t>
            </a:r>
            <a:endParaRPr lang="en-US" sz="1300" dirty="0"/>
          </a:p>
        </p:txBody>
      </p:sp>
      <p:sp>
        <p:nvSpPr>
          <p:cNvPr id="4" name="Shape 2"/>
          <p:cNvSpPr/>
          <p:nvPr/>
        </p:nvSpPr>
        <p:spPr>
          <a:xfrm>
            <a:off x="502920" y="1371600"/>
            <a:ext cx="3611880" cy="1371600"/>
          </a:xfrm>
          <a:prstGeom prst="roundRect">
            <a:avLst>
              <a:gd name="adj" fmla="val 8000"/>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5" name="Shape 3"/>
          <p:cNvSpPr/>
          <p:nvPr/>
        </p:nvSpPr>
        <p:spPr>
          <a:xfrm>
            <a:off x="667512" y="1554480"/>
            <a:ext cx="566928" cy="566928"/>
          </a:xfrm>
          <a:prstGeom prst="ellipse">
            <a:avLst/>
          </a:prstGeom>
          <a:solidFill>
            <a:srgbClr val="1B6B78"/>
          </a:solidFill>
          <a:ln w="12700">
            <a:solidFill>
              <a:srgbClr val="1B6B78"/>
            </a:solidFill>
            <a:prstDash val="solid"/>
          </a:ln>
        </p:spPr>
      </p:sp>
      <p:pic>
        <p:nvPicPr>
          <p:cNvPr id="6" name="Image 0" descr="preencoded.png">    </p:cNvPr>
          <p:cNvPicPr>
            <a:picLocks noChangeAspect="1"/>
          </p:cNvPicPr>
          <p:nvPr/>
        </p:nvPicPr>
        <p:blipFill>
          <a:blip r:embed="rId1"/>
          <a:stretch>
            <a:fillRect/>
          </a:stretch>
        </p:blipFill>
        <p:spPr>
          <a:xfrm>
            <a:off x="803575" y="1690543"/>
            <a:ext cx="294803" cy="294803"/>
          </a:xfrm>
          <a:prstGeom prst="rect">
            <a:avLst/>
          </a:prstGeom>
        </p:spPr>
      </p:pic>
      <p:sp>
        <p:nvSpPr>
          <p:cNvPr id="7" name="Text 4"/>
          <p:cNvSpPr txBox="1"/>
          <p:nvPr/>
        </p:nvSpPr>
        <p:spPr>
          <a:xfrm>
            <a:off x="667512" y="2194560"/>
            <a:ext cx="566928" cy="274320"/>
          </a:xfrm>
          <a:prstGeom prst="rect">
            <a:avLst/>
          </a:prstGeom>
          <a:noFill/>
          <a:ln/>
        </p:spPr>
        <p:txBody>
          <a:bodyPr wrap="square" lIns="0" tIns="0" rIns="0" bIns="0" rtlCol="0" anchor="ctr"/>
          <a:lstStyle/>
          <a:p>
            <a:pPr algn="ctr" indent="0" marL="0">
              <a:buNone/>
            </a:pPr>
            <a:r>
              <a:rPr lang="en-US" sz="1100" b="1" dirty="0">
                <a:solidFill>
                  <a:srgbClr val="1B6B78"/>
                </a:solidFill>
                <a:latin typeface="Calibri" pitchFamily="34" charset="0"/>
                <a:ea typeface="Calibri" pitchFamily="34" charset="-122"/>
                <a:cs typeface="Calibri" pitchFamily="34" charset="-120"/>
              </a:rPr>
              <a:t>CK</a:t>
            </a:r>
            <a:endParaRPr lang="en-US" sz="1100" dirty="0"/>
          </a:p>
        </p:txBody>
      </p:sp>
      <p:sp>
        <p:nvSpPr>
          <p:cNvPr id="8" name="Text 5"/>
          <p:cNvSpPr txBox="1"/>
          <p:nvPr/>
        </p:nvSpPr>
        <p:spPr>
          <a:xfrm>
            <a:off x="1371600" y="1517904"/>
            <a:ext cx="2606040" cy="384048"/>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Content: client sources</a:t>
            </a:r>
            <a:endParaRPr lang="en-US" sz="1300" dirty="0"/>
          </a:p>
        </p:txBody>
      </p:sp>
      <p:sp>
        <p:nvSpPr>
          <p:cNvPr id="9" name="Text 6"/>
          <p:cNvSpPr txBox="1"/>
          <p:nvPr/>
        </p:nvSpPr>
        <p:spPr>
          <a:xfrm>
            <a:off x="1371600" y="1920240"/>
            <a:ext cx="2606040" cy="77724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F2A37"/>
                </a:solidFill>
                <a:latin typeface="Calibri" pitchFamily="34" charset="0"/>
                <a:ea typeface="Calibri" pitchFamily="34" charset="-122"/>
                <a:cs typeface="Calibri" pitchFamily="34" charset="-120"/>
              </a:rPr>
              <a:t>Manuals, policies, legacy courseware, SME input</a:t>
            </a:r>
            <a:endParaRPr lang="en-US" sz="1100" dirty="0"/>
          </a:p>
          <a:p>
            <a:pPr marL="152400" indent="-152400">
              <a:spcAft>
                <a:spcPts val="300"/>
              </a:spcAft>
              <a:buSzPct val="100000"/>
              <a:buChar char="•"/>
            </a:pPr>
            <a:r>
              <a:rPr lang="en-US" sz="1100" dirty="0">
                <a:solidFill>
                  <a:srgbClr val="1F2A37"/>
                </a:solidFill>
                <a:latin typeface="Calibri" pitchFamily="34" charset="0"/>
                <a:ea typeface="Calibri" pitchFamily="34" charset="-122"/>
                <a:cs typeface="Calibri" pitchFamily="34" charset="-120"/>
              </a:rPr>
              <a:t>Ranked by a nine-level authority stack; nothing is invented</a:t>
            </a:r>
            <a:endParaRPr lang="en-US" sz="1100" dirty="0"/>
          </a:p>
        </p:txBody>
      </p:sp>
      <p:sp>
        <p:nvSpPr>
          <p:cNvPr id="10" name="Shape 7"/>
          <p:cNvSpPr/>
          <p:nvPr/>
        </p:nvSpPr>
        <p:spPr>
          <a:xfrm>
            <a:off x="4224528" y="1901952"/>
            <a:ext cx="457200" cy="310896"/>
          </a:xfrm>
          <a:prstGeom prst="rightArrow">
            <a:avLst/>
          </a:prstGeom>
          <a:solidFill>
            <a:srgbClr val="1B6B78"/>
          </a:solidFill>
          <a:ln w="12700">
            <a:solidFill>
              <a:srgbClr val="1B6B78"/>
            </a:solidFill>
            <a:prstDash val="solid"/>
          </a:ln>
        </p:spPr>
      </p:sp>
      <p:sp>
        <p:nvSpPr>
          <p:cNvPr id="11" name="Shape 8"/>
          <p:cNvSpPr/>
          <p:nvPr/>
        </p:nvSpPr>
        <p:spPr>
          <a:xfrm>
            <a:off x="502920" y="2926080"/>
            <a:ext cx="3611880" cy="1371600"/>
          </a:xfrm>
          <a:prstGeom prst="roundRect">
            <a:avLst>
              <a:gd name="adj" fmla="val 8000"/>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12" name="Shape 9"/>
          <p:cNvSpPr/>
          <p:nvPr/>
        </p:nvSpPr>
        <p:spPr>
          <a:xfrm>
            <a:off x="667512" y="3108960"/>
            <a:ext cx="566928" cy="566928"/>
          </a:xfrm>
          <a:prstGeom prst="ellipse">
            <a:avLst/>
          </a:prstGeom>
          <a:solidFill>
            <a:srgbClr val="1B6B78"/>
          </a:solidFill>
          <a:ln w="12700">
            <a:solidFill>
              <a:srgbClr val="1B6B78"/>
            </a:solidFill>
            <a:prstDash val="solid"/>
          </a:ln>
        </p:spPr>
      </p:sp>
      <p:pic>
        <p:nvPicPr>
          <p:cNvPr id="13" name="Image 1" descr="preencoded.png">    </p:cNvPr>
          <p:cNvPicPr>
            <a:picLocks noChangeAspect="1"/>
          </p:cNvPicPr>
          <p:nvPr/>
        </p:nvPicPr>
        <p:blipFill>
          <a:blip r:embed="rId2"/>
          <a:stretch>
            <a:fillRect/>
          </a:stretch>
        </p:blipFill>
        <p:spPr>
          <a:xfrm>
            <a:off x="803575" y="3245023"/>
            <a:ext cx="294803" cy="294803"/>
          </a:xfrm>
          <a:prstGeom prst="rect">
            <a:avLst/>
          </a:prstGeom>
        </p:spPr>
      </p:pic>
      <p:sp>
        <p:nvSpPr>
          <p:cNvPr id="14" name="Text 10"/>
          <p:cNvSpPr txBox="1"/>
          <p:nvPr/>
        </p:nvSpPr>
        <p:spPr>
          <a:xfrm>
            <a:off x="667512" y="3749040"/>
            <a:ext cx="566928" cy="274320"/>
          </a:xfrm>
          <a:prstGeom prst="rect">
            <a:avLst/>
          </a:prstGeom>
          <a:noFill/>
          <a:ln/>
        </p:spPr>
        <p:txBody>
          <a:bodyPr wrap="square" lIns="0" tIns="0" rIns="0" bIns="0" rtlCol="0" anchor="ctr"/>
          <a:lstStyle/>
          <a:p>
            <a:pPr algn="ctr" indent="0" marL="0">
              <a:buNone/>
            </a:pPr>
            <a:r>
              <a:rPr lang="en-US" sz="1100" b="1" dirty="0">
                <a:solidFill>
                  <a:srgbClr val="1B6B78"/>
                </a:solidFill>
                <a:latin typeface="Calibri" pitchFamily="34" charset="0"/>
                <a:ea typeface="Calibri" pitchFamily="34" charset="-122"/>
                <a:cs typeface="Calibri" pitchFamily="34" charset="-120"/>
              </a:rPr>
              <a:t>PK</a:t>
            </a:r>
            <a:endParaRPr lang="en-US" sz="1100" dirty="0"/>
          </a:p>
        </p:txBody>
      </p:sp>
      <p:sp>
        <p:nvSpPr>
          <p:cNvPr id="15" name="Text 11"/>
          <p:cNvSpPr txBox="1"/>
          <p:nvPr/>
        </p:nvSpPr>
        <p:spPr>
          <a:xfrm>
            <a:off x="1371600" y="3072384"/>
            <a:ext cx="2606040" cy="384048"/>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Pedagogy: the practitioners</a:t>
            </a:r>
            <a:endParaRPr lang="en-US" sz="1300" dirty="0"/>
          </a:p>
        </p:txBody>
      </p:sp>
      <p:sp>
        <p:nvSpPr>
          <p:cNvPr id="16" name="Text 12"/>
          <p:cNvSpPr txBox="1"/>
          <p:nvPr/>
        </p:nvSpPr>
        <p:spPr>
          <a:xfrm>
            <a:off x="1371600" y="3474720"/>
            <a:ext cx="2606040" cy="77724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F2A37"/>
                </a:solidFill>
                <a:latin typeface="Calibri" pitchFamily="34" charset="0"/>
                <a:ea typeface="Calibri" pitchFamily="34" charset="-122"/>
                <a:cs typeface="Calibri" pitchFamily="34" charset="-120"/>
              </a:rPr>
              <a:t>Objectives as job tasks; teach, show, practise, assess</a:t>
            </a:r>
            <a:endParaRPr lang="en-US" sz="1100" dirty="0"/>
          </a:p>
          <a:p>
            <a:pPr marL="152400" indent="-152400">
              <a:spcAft>
                <a:spcPts val="300"/>
              </a:spcAft>
              <a:buSzPct val="100000"/>
              <a:buChar char="•"/>
            </a:pPr>
            <a:r>
              <a:rPr lang="en-US" sz="1100" dirty="0">
                <a:solidFill>
                  <a:srgbClr val="1F2A37"/>
                </a:solidFill>
                <a:latin typeface="Calibri" pitchFamily="34" charset="0"/>
                <a:ea typeface="Calibri" pitchFamily="34" charset="-122"/>
                <a:cs typeface="Calibri" pitchFamily="34" charset="-120"/>
              </a:rPr>
              <a:t>Feedback wording, cognitive-load limits, plain language</a:t>
            </a:r>
            <a:endParaRPr lang="en-US" sz="1100" dirty="0"/>
          </a:p>
        </p:txBody>
      </p:sp>
      <p:sp>
        <p:nvSpPr>
          <p:cNvPr id="17" name="Shape 13"/>
          <p:cNvSpPr/>
          <p:nvPr/>
        </p:nvSpPr>
        <p:spPr>
          <a:xfrm>
            <a:off x="4224528" y="3456432"/>
            <a:ext cx="457200" cy="310896"/>
          </a:xfrm>
          <a:prstGeom prst="rightArrow">
            <a:avLst/>
          </a:prstGeom>
          <a:solidFill>
            <a:srgbClr val="1B6B78"/>
          </a:solidFill>
          <a:ln w="12700">
            <a:solidFill>
              <a:srgbClr val="1B6B78"/>
            </a:solidFill>
            <a:prstDash val="solid"/>
          </a:ln>
        </p:spPr>
      </p:sp>
      <p:sp>
        <p:nvSpPr>
          <p:cNvPr id="18" name="Shape 14"/>
          <p:cNvSpPr/>
          <p:nvPr/>
        </p:nvSpPr>
        <p:spPr>
          <a:xfrm>
            <a:off x="502920" y="4480560"/>
            <a:ext cx="3611880" cy="1371600"/>
          </a:xfrm>
          <a:prstGeom prst="roundRect">
            <a:avLst>
              <a:gd name="adj" fmla="val 8000"/>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19" name="Shape 15"/>
          <p:cNvSpPr/>
          <p:nvPr/>
        </p:nvSpPr>
        <p:spPr>
          <a:xfrm>
            <a:off x="667512" y="4663440"/>
            <a:ext cx="566928" cy="566928"/>
          </a:xfrm>
          <a:prstGeom prst="ellipse">
            <a:avLst/>
          </a:prstGeom>
          <a:solidFill>
            <a:srgbClr val="1B6B78"/>
          </a:solidFill>
          <a:ln w="12700">
            <a:solidFill>
              <a:srgbClr val="1B6B78"/>
            </a:solidFill>
            <a:prstDash val="solid"/>
          </a:ln>
        </p:spPr>
      </p:sp>
      <p:pic>
        <p:nvPicPr>
          <p:cNvPr id="20" name="Image 2" descr="preencoded.png">    </p:cNvPr>
          <p:cNvPicPr>
            <a:picLocks noChangeAspect="1"/>
          </p:cNvPicPr>
          <p:nvPr/>
        </p:nvPicPr>
        <p:blipFill>
          <a:blip r:embed="rId3"/>
          <a:stretch>
            <a:fillRect/>
          </a:stretch>
        </p:blipFill>
        <p:spPr>
          <a:xfrm>
            <a:off x="803575" y="4799503"/>
            <a:ext cx="294803" cy="294803"/>
          </a:xfrm>
          <a:prstGeom prst="rect">
            <a:avLst/>
          </a:prstGeom>
        </p:spPr>
      </p:pic>
      <p:sp>
        <p:nvSpPr>
          <p:cNvPr id="21" name="Text 16"/>
          <p:cNvSpPr txBox="1"/>
          <p:nvPr/>
        </p:nvSpPr>
        <p:spPr>
          <a:xfrm>
            <a:off x="667512" y="5303520"/>
            <a:ext cx="566928" cy="274320"/>
          </a:xfrm>
          <a:prstGeom prst="rect">
            <a:avLst/>
          </a:prstGeom>
          <a:noFill/>
          <a:ln/>
        </p:spPr>
        <p:txBody>
          <a:bodyPr wrap="square" lIns="0" tIns="0" rIns="0" bIns="0" rtlCol="0" anchor="ctr"/>
          <a:lstStyle/>
          <a:p>
            <a:pPr algn="ctr" indent="0" marL="0">
              <a:buNone/>
            </a:pPr>
            <a:r>
              <a:rPr lang="en-US" sz="1100" b="1" dirty="0">
                <a:solidFill>
                  <a:srgbClr val="1B6B78"/>
                </a:solidFill>
                <a:latin typeface="Calibri" pitchFamily="34" charset="0"/>
                <a:ea typeface="Calibri" pitchFamily="34" charset="-122"/>
                <a:cs typeface="Calibri" pitchFamily="34" charset="-120"/>
              </a:rPr>
              <a:t>TK</a:t>
            </a:r>
            <a:endParaRPr lang="en-US" sz="1100" dirty="0"/>
          </a:p>
        </p:txBody>
      </p:sp>
      <p:sp>
        <p:nvSpPr>
          <p:cNvPr id="22" name="Text 17"/>
          <p:cNvSpPr txBox="1"/>
          <p:nvPr/>
        </p:nvSpPr>
        <p:spPr>
          <a:xfrm>
            <a:off x="1371600" y="4626864"/>
            <a:ext cx="2606040" cy="384048"/>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Technology: platform, AI</a:t>
            </a:r>
            <a:endParaRPr lang="en-US" sz="1300" dirty="0"/>
          </a:p>
        </p:txBody>
      </p:sp>
      <p:sp>
        <p:nvSpPr>
          <p:cNvPr id="23" name="Text 18"/>
          <p:cNvSpPr txBox="1"/>
          <p:nvPr/>
        </p:nvSpPr>
        <p:spPr>
          <a:xfrm>
            <a:off x="1371600" y="5029200"/>
            <a:ext cx="2606040" cy="77724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F2A37"/>
                </a:solidFill>
                <a:latin typeface="Calibri" pitchFamily="34" charset="0"/>
                <a:ea typeface="Calibri" pitchFamily="34" charset="-122"/>
                <a:cs typeface="Calibri" pitchFamily="34" charset="-120"/>
              </a:rPr>
              <a:t>DominKnow components, five interaction modes, WCAG 2.2 AA</a:t>
            </a:r>
            <a:endParaRPr lang="en-US" sz="1100" dirty="0"/>
          </a:p>
          <a:p>
            <a:pPr marL="152400" indent="-152400">
              <a:spcAft>
                <a:spcPts val="300"/>
              </a:spcAft>
              <a:buSzPct val="100000"/>
              <a:buChar char="•"/>
            </a:pPr>
            <a:r>
              <a:rPr lang="en-US" sz="1100" dirty="0">
                <a:solidFill>
                  <a:srgbClr val="1F2A37"/>
                </a:solidFill>
                <a:latin typeface="Calibri" pitchFamily="34" charset="0"/>
                <a:ea typeface="Calibri" pitchFamily="34" charset="-122"/>
                <a:cs typeface="Calibri" pitchFamily="34" charset="-120"/>
              </a:rPr>
              <a:t>Prompt engineering: CRAFT structure, gates and checks</a:t>
            </a:r>
            <a:endParaRPr lang="en-US" sz="1100" dirty="0"/>
          </a:p>
        </p:txBody>
      </p:sp>
      <p:sp>
        <p:nvSpPr>
          <p:cNvPr id="24" name="Shape 19"/>
          <p:cNvSpPr/>
          <p:nvPr/>
        </p:nvSpPr>
        <p:spPr>
          <a:xfrm>
            <a:off x="4224528" y="5010912"/>
            <a:ext cx="457200" cy="310896"/>
          </a:xfrm>
          <a:prstGeom prst="rightArrow">
            <a:avLst/>
          </a:prstGeom>
          <a:solidFill>
            <a:srgbClr val="1B6B78"/>
          </a:solidFill>
          <a:ln w="12700">
            <a:solidFill>
              <a:srgbClr val="1B6B78"/>
            </a:solidFill>
            <a:prstDash val="solid"/>
          </a:ln>
        </p:spPr>
      </p:sp>
      <p:sp>
        <p:nvSpPr>
          <p:cNvPr id="25" name="Shape 20"/>
          <p:cNvSpPr/>
          <p:nvPr/>
        </p:nvSpPr>
        <p:spPr>
          <a:xfrm>
            <a:off x="4800600" y="1371600"/>
            <a:ext cx="2697480" cy="4480560"/>
          </a:xfrm>
          <a:prstGeom prst="roundRect">
            <a:avLst>
              <a:gd name="adj" fmla="val 4746"/>
            </a:avLst>
          </a:prstGeom>
          <a:solidFill>
            <a:srgbClr val="0B2A3B"/>
          </a:solidFill>
          <a:ln w="12700">
            <a:solidFill>
              <a:srgbClr val="0B2A3B"/>
            </a:solidFill>
            <a:prstDash val="solid"/>
          </a:ln>
          <a:effectLst>
            <a:outerShdw sx="100000" sy="100000" kx="0" ky="0" algn="bl" rotWithShape="0" blurRad="76200" dist="25400" dir="2700000">
              <a:srgbClr val="000000">
                <a:alpha val="16000"/>
              </a:srgbClr>
            </a:outerShdw>
          </a:effectLst>
        </p:spPr>
      </p:sp>
      <p:sp>
        <p:nvSpPr>
          <p:cNvPr id="26" name="Text 21"/>
          <p:cNvSpPr txBox="1"/>
          <p:nvPr/>
        </p:nvSpPr>
        <p:spPr>
          <a:xfrm>
            <a:off x="4800600" y="1536192"/>
            <a:ext cx="2697480" cy="329184"/>
          </a:xfrm>
          <a:prstGeom prst="rect">
            <a:avLst/>
          </a:prstGeom>
          <a:noFill/>
          <a:ln/>
        </p:spPr>
        <p:txBody>
          <a:bodyPr wrap="square" lIns="0" tIns="0" rIns="0" bIns="0" rtlCol="0" anchor="ctr"/>
          <a:lstStyle/>
          <a:p>
            <a:pPr algn="ctr" indent="0" marL="0">
              <a:buNone/>
            </a:pPr>
            <a:r>
              <a:rPr lang="en-US" sz="1500" b="1" dirty="0">
                <a:solidFill>
                  <a:srgbClr val="F5C518"/>
                </a:solidFill>
                <a:latin typeface="Calibri" pitchFamily="34" charset="0"/>
                <a:ea typeface="Calibri" pitchFamily="34" charset="-122"/>
                <a:cs typeface="Calibri" pitchFamily="34" charset="-120"/>
              </a:rPr>
              <a:t>The master prompt</a:t>
            </a:r>
            <a:endParaRPr lang="en-US" sz="1500" dirty="0"/>
          </a:p>
        </p:txBody>
      </p:sp>
      <p:sp>
        <p:nvSpPr>
          <p:cNvPr id="27" name="Text 22"/>
          <p:cNvSpPr txBox="1"/>
          <p:nvPr/>
        </p:nvSpPr>
        <p:spPr>
          <a:xfrm>
            <a:off x="4937760" y="1847088"/>
            <a:ext cx="2423160" cy="457200"/>
          </a:xfrm>
          <a:prstGeom prst="rect">
            <a:avLst/>
          </a:prstGeom>
          <a:noFill/>
          <a:ln/>
        </p:spPr>
        <p:txBody>
          <a:bodyPr wrap="square" lIns="0" tIns="0" rIns="0" bIns="0" rtlCol="0" anchor="t"/>
          <a:lstStyle/>
          <a:p>
            <a:pPr algn="ctr" indent="0" marL="0">
              <a:buNone/>
            </a:pPr>
            <a:r>
              <a:rPr lang="en-US" sz="1050" i="1" dirty="0">
                <a:solidFill>
                  <a:srgbClr val="CADCFC"/>
                </a:solidFill>
                <a:latin typeface="Calibri" pitchFamily="34" charset="0"/>
                <a:ea typeface="Calibri" pitchFamily="34" charset="-122"/>
                <a:cs typeface="Calibri" pitchFamily="34" charset="-120"/>
              </a:rPr>
              <a:t>TPACK, written down as rules the AI must follow</a:t>
            </a:r>
            <a:endParaRPr lang="en-US" sz="1050" dirty="0"/>
          </a:p>
        </p:txBody>
      </p:sp>
      <p:sp>
        <p:nvSpPr>
          <p:cNvPr id="28" name="Text 23"/>
          <p:cNvSpPr txBox="1"/>
          <p:nvPr/>
        </p:nvSpPr>
        <p:spPr>
          <a:xfrm>
            <a:off x="4983480" y="2395728"/>
            <a:ext cx="5029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a:t>
            </a:r>
            <a:endParaRPr lang="en-US" sz="2800" dirty="0"/>
          </a:p>
        </p:txBody>
      </p:sp>
      <p:sp>
        <p:nvSpPr>
          <p:cNvPr id="29" name="Text 24"/>
          <p:cNvSpPr txBox="1"/>
          <p:nvPr/>
        </p:nvSpPr>
        <p:spPr>
          <a:xfrm>
            <a:off x="5550408" y="2395728"/>
            <a:ext cx="1783080" cy="5486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Context: readers, authority, gaps</a:t>
            </a:r>
            <a:endParaRPr lang="en-US" sz="1050" dirty="0"/>
          </a:p>
        </p:txBody>
      </p:sp>
      <p:sp>
        <p:nvSpPr>
          <p:cNvPr id="30" name="Text 25"/>
          <p:cNvSpPr txBox="1"/>
          <p:nvPr/>
        </p:nvSpPr>
        <p:spPr>
          <a:xfrm>
            <a:off x="4983480" y="3054096"/>
            <a:ext cx="5029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a:t>
            </a:r>
            <a:endParaRPr lang="en-US" sz="2800" dirty="0"/>
          </a:p>
        </p:txBody>
      </p:sp>
      <p:sp>
        <p:nvSpPr>
          <p:cNvPr id="31" name="Text 26"/>
          <p:cNvSpPr txBox="1"/>
          <p:nvPr/>
        </p:nvSpPr>
        <p:spPr>
          <a:xfrm>
            <a:off x="5550408" y="3054096"/>
            <a:ext cx="1783080" cy="5486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Role: the generator drafts, people decide</a:t>
            </a:r>
            <a:endParaRPr lang="en-US" sz="1050" dirty="0"/>
          </a:p>
        </p:txBody>
      </p:sp>
      <p:sp>
        <p:nvSpPr>
          <p:cNvPr id="32" name="Text 27"/>
          <p:cNvSpPr txBox="1"/>
          <p:nvPr/>
        </p:nvSpPr>
        <p:spPr>
          <a:xfrm>
            <a:off x="4983480" y="3712464"/>
            <a:ext cx="5029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a:t>
            </a:r>
            <a:endParaRPr lang="en-US" sz="2800" dirty="0"/>
          </a:p>
        </p:txBody>
      </p:sp>
      <p:sp>
        <p:nvSpPr>
          <p:cNvPr id="33" name="Text 28"/>
          <p:cNvSpPr txBox="1"/>
          <p:nvPr/>
        </p:nvSpPr>
        <p:spPr>
          <a:xfrm>
            <a:off x="5550408" y="3712464"/>
            <a:ext cx="1783080" cy="5486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Action: seven steps, in order</a:t>
            </a:r>
            <a:endParaRPr lang="en-US" sz="1050" dirty="0"/>
          </a:p>
        </p:txBody>
      </p:sp>
      <p:sp>
        <p:nvSpPr>
          <p:cNvPr id="34" name="Text 29"/>
          <p:cNvSpPr txBox="1"/>
          <p:nvPr/>
        </p:nvSpPr>
        <p:spPr>
          <a:xfrm>
            <a:off x="4983480" y="4370832"/>
            <a:ext cx="5029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a:t>
            </a:r>
            <a:endParaRPr lang="en-US" sz="2800" dirty="0"/>
          </a:p>
        </p:txBody>
      </p:sp>
      <p:sp>
        <p:nvSpPr>
          <p:cNvPr id="35" name="Text 30"/>
          <p:cNvSpPr txBox="1"/>
          <p:nvPr/>
        </p:nvSpPr>
        <p:spPr>
          <a:xfrm>
            <a:off x="5550408" y="4370832"/>
            <a:ext cx="1783080" cy="5486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Format: locked document, five columns</a:t>
            </a:r>
            <a:endParaRPr lang="en-US" sz="1050" dirty="0"/>
          </a:p>
        </p:txBody>
      </p:sp>
      <p:sp>
        <p:nvSpPr>
          <p:cNvPr id="36" name="Text 31"/>
          <p:cNvSpPr txBox="1"/>
          <p:nvPr/>
        </p:nvSpPr>
        <p:spPr>
          <a:xfrm>
            <a:off x="4983480" y="5029200"/>
            <a:ext cx="5029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a:t>
            </a:r>
            <a:endParaRPr lang="en-US" sz="2800" dirty="0"/>
          </a:p>
        </p:txBody>
      </p:sp>
      <p:sp>
        <p:nvSpPr>
          <p:cNvPr id="37" name="Text 32"/>
          <p:cNvSpPr txBox="1"/>
          <p:nvPr/>
        </p:nvSpPr>
        <p:spPr>
          <a:xfrm>
            <a:off x="5550408" y="5029200"/>
            <a:ext cx="1783080" cy="5486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Tone: one voice for three readers</a:t>
            </a:r>
            <a:endParaRPr lang="en-US" sz="1050" dirty="0"/>
          </a:p>
        </p:txBody>
      </p:sp>
      <p:sp>
        <p:nvSpPr>
          <p:cNvPr id="38" name="Shape 33"/>
          <p:cNvSpPr/>
          <p:nvPr/>
        </p:nvSpPr>
        <p:spPr>
          <a:xfrm>
            <a:off x="7607808" y="3456432"/>
            <a:ext cx="457200" cy="310896"/>
          </a:xfrm>
          <a:prstGeom prst="rightArrow">
            <a:avLst/>
          </a:prstGeom>
          <a:solidFill>
            <a:srgbClr val="F08A00"/>
          </a:solidFill>
          <a:ln w="12700">
            <a:solidFill>
              <a:srgbClr val="F08A00"/>
            </a:solidFill>
            <a:prstDash val="solid"/>
          </a:ln>
        </p:spPr>
      </p:sp>
      <p:sp>
        <p:nvSpPr>
          <p:cNvPr id="39" name="Shape 34"/>
          <p:cNvSpPr/>
          <p:nvPr/>
        </p:nvSpPr>
        <p:spPr>
          <a:xfrm>
            <a:off x="8183880" y="1371600"/>
            <a:ext cx="3504895" cy="1188720"/>
          </a:xfrm>
          <a:prstGeom prst="roundRect">
            <a:avLst>
              <a:gd name="adj" fmla="val 9231"/>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40" name="Shape 35"/>
          <p:cNvSpPr/>
          <p:nvPr/>
        </p:nvSpPr>
        <p:spPr>
          <a:xfrm>
            <a:off x="8348472" y="1682496"/>
            <a:ext cx="566928" cy="566928"/>
          </a:xfrm>
          <a:prstGeom prst="ellipse">
            <a:avLst/>
          </a:prstGeom>
          <a:solidFill>
            <a:srgbClr val="1B6B78"/>
          </a:solidFill>
          <a:ln w="12700">
            <a:solidFill>
              <a:srgbClr val="1B6B78"/>
            </a:solidFill>
            <a:prstDash val="solid"/>
          </a:ln>
        </p:spPr>
      </p:sp>
      <p:pic>
        <p:nvPicPr>
          <p:cNvPr id="41" name="Image 3" descr="preencoded.png">    </p:cNvPr>
          <p:cNvPicPr>
            <a:picLocks noChangeAspect="1"/>
          </p:cNvPicPr>
          <p:nvPr/>
        </p:nvPicPr>
        <p:blipFill>
          <a:blip r:embed="rId4"/>
          <a:stretch>
            <a:fillRect/>
          </a:stretch>
        </p:blipFill>
        <p:spPr>
          <a:xfrm>
            <a:off x="8484535" y="1818559"/>
            <a:ext cx="294803" cy="294803"/>
          </a:xfrm>
          <a:prstGeom prst="rect">
            <a:avLst/>
          </a:prstGeom>
        </p:spPr>
      </p:pic>
      <p:sp>
        <p:nvSpPr>
          <p:cNvPr id="42" name="Text 36"/>
          <p:cNvSpPr txBox="1"/>
          <p:nvPr/>
        </p:nvSpPr>
        <p:spPr>
          <a:xfrm>
            <a:off x="9052560" y="1499616"/>
            <a:ext cx="2499055" cy="310896"/>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Storyboard</a:t>
            </a:r>
            <a:endParaRPr lang="en-US" sz="1300" dirty="0"/>
          </a:p>
        </p:txBody>
      </p:sp>
      <p:sp>
        <p:nvSpPr>
          <p:cNvPr id="43" name="Text 37"/>
          <p:cNvSpPr txBox="1"/>
          <p:nvPr/>
        </p:nvSpPr>
        <p:spPr>
          <a:xfrm>
            <a:off x="9052560" y="1810512"/>
            <a:ext cx="2499055" cy="731520"/>
          </a:xfrm>
          <a:prstGeom prst="rect">
            <a:avLst/>
          </a:prstGeom>
          <a:noFill/>
          <a:ln/>
        </p:spPr>
        <p:txBody>
          <a:bodyPr wrap="square" lIns="0" tIns="0" rIns="0" bIns="0" rtlCol="0" anchor="t"/>
          <a:lstStyle/>
          <a:p>
            <a:pPr indent="0" marL="0">
              <a:buNone/>
            </a:pPr>
            <a:r>
              <a:rPr lang="en-US" sz="1050" dirty="0">
                <a:solidFill>
                  <a:srgbClr val="1F2A37"/>
                </a:solidFill>
                <a:latin typeface="Calibri" pitchFamily="34" charset="0"/>
                <a:ea typeface="Calibri" pitchFamily="34" charset="-122"/>
                <a:cs typeface="Calibri" pitchFamily="34" charset="-120"/>
              </a:rPr>
              <a:t>Five columns, real Word tables, every gap owned. Developer Ready when every row is.</a:t>
            </a:r>
            <a:endParaRPr lang="en-US" sz="1050" dirty="0"/>
          </a:p>
        </p:txBody>
      </p:sp>
      <p:sp>
        <p:nvSpPr>
          <p:cNvPr id="44" name="Shape 38"/>
          <p:cNvSpPr/>
          <p:nvPr/>
        </p:nvSpPr>
        <p:spPr>
          <a:xfrm>
            <a:off x="9780880" y="2633472"/>
            <a:ext cx="310896" cy="310896"/>
          </a:xfrm>
          <a:prstGeom prst="downArrow">
            <a:avLst/>
          </a:prstGeom>
          <a:solidFill>
            <a:srgbClr val="A8B3B0"/>
          </a:solidFill>
          <a:ln w="12700">
            <a:solidFill>
              <a:srgbClr val="A8B3B0"/>
            </a:solidFill>
            <a:prstDash val="solid"/>
          </a:ln>
        </p:spPr>
      </p:sp>
      <p:sp>
        <p:nvSpPr>
          <p:cNvPr id="45" name="Shape 39"/>
          <p:cNvSpPr/>
          <p:nvPr/>
        </p:nvSpPr>
        <p:spPr>
          <a:xfrm>
            <a:off x="8183880" y="3017520"/>
            <a:ext cx="3504895" cy="1188720"/>
          </a:xfrm>
          <a:prstGeom prst="roundRect">
            <a:avLst>
              <a:gd name="adj" fmla="val 9231"/>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46" name="Shape 40"/>
          <p:cNvSpPr/>
          <p:nvPr/>
        </p:nvSpPr>
        <p:spPr>
          <a:xfrm>
            <a:off x="8348472" y="3328416"/>
            <a:ext cx="566928" cy="566928"/>
          </a:xfrm>
          <a:prstGeom prst="ellipse">
            <a:avLst/>
          </a:prstGeom>
          <a:solidFill>
            <a:srgbClr val="F08A00"/>
          </a:solidFill>
          <a:ln w="12700">
            <a:solidFill>
              <a:srgbClr val="F08A00"/>
            </a:solidFill>
            <a:prstDash val="solid"/>
          </a:ln>
        </p:spPr>
      </p:sp>
      <p:pic>
        <p:nvPicPr>
          <p:cNvPr id="47" name="Image 4" descr="preencoded.png">    </p:cNvPr>
          <p:cNvPicPr>
            <a:picLocks noChangeAspect="1"/>
          </p:cNvPicPr>
          <p:nvPr/>
        </p:nvPicPr>
        <p:blipFill>
          <a:blip r:embed="rId5"/>
          <a:stretch>
            <a:fillRect/>
          </a:stretch>
        </p:blipFill>
        <p:spPr>
          <a:xfrm>
            <a:off x="8484535" y="3464479"/>
            <a:ext cx="294803" cy="294803"/>
          </a:xfrm>
          <a:prstGeom prst="rect">
            <a:avLst/>
          </a:prstGeom>
        </p:spPr>
      </p:pic>
      <p:sp>
        <p:nvSpPr>
          <p:cNvPr id="48" name="Text 41"/>
          <p:cNvSpPr txBox="1"/>
          <p:nvPr/>
        </p:nvSpPr>
        <p:spPr>
          <a:xfrm>
            <a:off x="9052560" y="3145536"/>
            <a:ext cx="2499055" cy="310896"/>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Built in DominKnow</a:t>
            </a:r>
            <a:endParaRPr lang="en-US" sz="1300" dirty="0"/>
          </a:p>
        </p:txBody>
      </p:sp>
      <p:sp>
        <p:nvSpPr>
          <p:cNvPr id="49" name="Text 42"/>
          <p:cNvSpPr txBox="1"/>
          <p:nvPr/>
        </p:nvSpPr>
        <p:spPr>
          <a:xfrm>
            <a:off x="9052560" y="3456432"/>
            <a:ext cx="2499055" cy="731520"/>
          </a:xfrm>
          <a:prstGeom prst="rect">
            <a:avLst/>
          </a:prstGeom>
          <a:noFill/>
          <a:ln/>
        </p:spPr>
        <p:txBody>
          <a:bodyPr wrap="square" lIns="0" tIns="0" rIns="0" bIns="0" rtlCol="0" anchor="t"/>
          <a:lstStyle/>
          <a:p>
            <a:pPr indent="0" marL="0">
              <a:buNone/>
            </a:pPr>
            <a:r>
              <a:rPr lang="en-US" sz="1050" dirty="0">
                <a:solidFill>
                  <a:srgbClr val="1F2A37"/>
                </a:solidFill>
                <a:latin typeface="Calibri" pitchFamily="34" charset="0"/>
                <a:ea typeface="Calibri" pitchFamily="34" charset="-122"/>
                <a:cs typeface="Calibri" pitchFamily="34" charset="-120"/>
              </a:rPr>
              <a:t>The developer builds from Multimedia and Interaction alone; nothing the standard already gives is repeated.</a:t>
            </a:r>
            <a:endParaRPr lang="en-US" sz="1050" dirty="0"/>
          </a:p>
        </p:txBody>
      </p:sp>
      <p:sp>
        <p:nvSpPr>
          <p:cNvPr id="50" name="Shape 43"/>
          <p:cNvSpPr/>
          <p:nvPr/>
        </p:nvSpPr>
        <p:spPr>
          <a:xfrm>
            <a:off x="9780880" y="4279392"/>
            <a:ext cx="310896" cy="310896"/>
          </a:xfrm>
          <a:prstGeom prst="downArrow">
            <a:avLst/>
          </a:prstGeom>
          <a:solidFill>
            <a:srgbClr val="A8B3B0"/>
          </a:solidFill>
          <a:ln w="12700">
            <a:solidFill>
              <a:srgbClr val="A8B3B0"/>
            </a:solidFill>
            <a:prstDash val="solid"/>
          </a:ln>
        </p:spPr>
      </p:sp>
      <p:sp>
        <p:nvSpPr>
          <p:cNvPr id="51" name="Shape 44"/>
          <p:cNvSpPr/>
          <p:nvPr/>
        </p:nvSpPr>
        <p:spPr>
          <a:xfrm>
            <a:off x="8183880" y="4663440"/>
            <a:ext cx="3504895" cy="1188720"/>
          </a:xfrm>
          <a:prstGeom prst="roundRect">
            <a:avLst>
              <a:gd name="adj" fmla="val 9231"/>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52" name="Shape 45"/>
          <p:cNvSpPr/>
          <p:nvPr/>
        </p:nvSpPr>
        <p:spPr>
          <a:xfrm>
            <a:off x="8348472" y="4974336"/>
            <a:ext cx="566928" cy="566928"/>
          </a:xfrm>
          <a:prstGeom prst="ellipse">
            <a:avLst/>
          </a:prstGeom>
          <a:solidFill>
            <a:srgbClr val="1B6B78"/>
          </a:solidFill>
          <a:ln w="12700">
            <a:solidFill>
              <a:srgbClr val="1B6B78"/>
            </a:solidFill>
            <a:prstDash val="solid"/>
          </a:ln>
        </p:spPr>
      </p:sp>
      <p:pic>
        <p:nvPicPr>
          <p:cNvPr id="53" name="Image 5" descr="preencoded.png">    </p:cNvPr>
          <p:cNvPicPr>
            <a:picLocks noChangeAspect="1"/>
          </p:cNvPicPr>
          <p:nvPr/>
        </p:nvPicPr>
        <p:blipFill>
          <a:blip r:embed="rId6"/>
          <a:stretch>
            <a:fillRect/>
          </a:stretch>
        </p:blipFill>
        <p:spPr>
          <a:xfrm>
            <a:off x="8484535" y="5110399"/>
            <a:ext cx="294803" cy="294803"/>
          </a:xfrm>
          <a:prstGeom prst="rect">
            <a:avLst/>
          </a:prstGeom>
        </p:spPr>
      </p:pic>
      <p:sp>
        <p:nvSpPr>
          <p:cNvPr id="54" name="Text 46"/>
          <p:cNvSpPr txBox="1"/>
          <p:nvPr/>
        </p:nvSpPr>
        <p:spPr>
          <a:xfrm>
            <a:off x="9052560" y="4791456"/>
            <a:ext cx="2499055" cy="310896"/>
          </a:xfrm>
          <a:prstGeom prst="rect">
            <a:avLst/>
          </a:prstGeom>
          <a:noFill/>
          <a:ln/>
        </p:spPr>
        <p:txBody>
          <a:bodyPr wrap="square" lIns="0" tIns="0" rIns="0" bIns="0" rtlCol="0" anchor="t"/>
          <a:lstStyle/>
          <a:p>
            <a:pPr indent="0" marL="0">
              <a:buNone/>
            </a:pPr>
            <a:r>
              <a:rPr lang="en-US" sz="1300" b="1" dirty="0">
                <a:solidFill>
                  <a:srgbClr val="1F2A37"/>
                </a:solidFill>
                <a:latin typeface="Calibri" pitchFamily="34" charset="0"/>
                <a:ea typeface="Calibri" pitchFamily="34" charset="-122"/>
                <a:cs typeface="Calibri" pitchFamily="34" charset="-120"/>
              </a:rPr>
              <a:t>eLearning course</a:t>
            </a:r>
            <a:endParaRPr lang="en-US" sz="1300" dirty="0"/>
          </a:p>
        </p:txBody>
      </p:sp>
      <p:sp>
        <p:nvSpPr>
          <p:cNvPr id="55" name="Text 47"/>
          <p:cNvSpPr txBox="1"/>
          <p:nvPr/>
        </p:nvSpPr>
        <p:spPr>
          <a:xfrm>
            <a:off x="9052560" y="5102352"/>
            <a:ext cx="2499055" cy="731520"/>
          </a:xfrm>
          <a:prstGeom prst="rect">
            <a:avLst/>
          </a:prstGeom>
          <a:noFill/>
          <a:ln/>
        </p:spPr>
        <p:txBody>
          <a:bodyPr wrap="square" lIns="0" tIns="0" rIns="0" bIns="0" rtlCol="0" anchor="t"/>
          <a:lstStyle/>
          <a:p>
            <a:pPr indent="0" marL="0">
              <a:buNone/>
            </a:pPr>
            <a:r>
              <a:rPr lang="en-US" sz="1050" dirty="0">
                <a:solidFill>
                  <a:srgbClr val="1F2A37"/>
                </a:solidFill>
                <a:latin typeface="Calibri" pitchFamily="34" charset="0"/>
                <a:ea typeface="Calibri" pitchFamily="34" charset="-122"/>
                <a:cs typeface="Calibri" pitchFamily="34" charset="-120"/>
              </a:rPr>
              <a:t>The learner can learn from Text Content alone; the client reviewer can read every row once.</a:t>
            </a:r>
            <a:endParaRPr lang="en-US" sz="1050" dirty="0"/>
          </a:p>
        </p:txBody>
      </p:sp>
      <p:sp>
        <p:nvSpPr>
          <p:cNvPr id="56" name="Text 48"/>
          <p:cNvSpPr txBox="1"/>
          <p:nvPr/>
        </p:nvSpPr>
        <p:spPr>
          <a:xfrm>
            <a:off x="502920" y="6053328"/>
            <a:ext cx="11185855" cy="274320"/>
          </a:xfrm>
          <a:prstGeom prst="rect">
            <a:avLst/>
          </a:prstGeom>
          <a:noFill/>
          <a:ln/>
        </p:spPr>
        <p:txBody>
          <a:bodyPr wrap="square" lIns="0" tIns="0" rIns="0" bIns="0" rtlCol="0" anchor="ctr"/>
          <a:lstStyle/>
          <a:p>
            <a:pPr algn="ctr" indent="0" marL="0">
              <a:buNone/>
            </a:pPr>
            <a:r>
              <a:rPr lang="en-US" sz="1100" i="1" dirty="0">
                <a:solidFill>
                  <a:srgbClr val="5B6770"/>
                </a:solidFill>
                <a:latin typeface="Calibri" pitchFamily="34" charset="0"/>
                <a:ea typeface="Calibri" pitchFamily="34" charset="-122"/>
                <a:cs typeface="Calibri" pitchFamily="34" charset="-120"/>
              </a:rPr>
              <a:t>ConteXtual knowledge: the project intake sets the context once, and every rule applies inside it.</a:t>
            </a:r>
            <a:endParaRPr lang="en-US" sz="1100" dirty="0"/>
          </a:p>
        </p:txBody>
      </p:sp>
      <p:sp>
        <p:nvSpPr>
          <p:cNvPr id="57" name="Text 49"/>
          <p:cNvSpPr txBox="1"/>
          <p:nvPr/>
        </p:nvSpPr>
        <p:spPr>
          <a:xfrm>
            <a:off x="502920" y="6455664"/>
            <a:ext cx="5486400" cy="237744"/>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LSC Learning Engineering Team  ·  AI Storyboarding</a:t>
            </a:r>
            <a:endParaRPr lang="en-US" sz="900" dirty="0"/>
          </a:p>
        </p:txBody>
      </p:sp>
      <p:sp>
        <p:nvSpPr>
          <p:cNvPr id="58" name="Text 50"/>
          <p:cNvSpPr txBox="1"/>
          <p:nvPr/>
        </p:nvSpPr>
        <p:spPr>
          <a:xfrm>
            <a:off x="11140135" y="6455664"/>
            <a:ext cx="548640" cy="237744"/>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658368"/>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The CRAFT prompt in one view</a:t>
            </a:r>
            <a:endParaRPr lang="en-US" sz="3000" dirty="0"/>
          </a:p>
        </p:txBody>
      </p:sp>
      <p:sp>
        <p:nvSpPr>
          <p:cNvPr id="3" name="Text 1"/>
          <p:cNvSpPr txBox="1"/>
          <p:nvPr/>
        </p:nvSpPr>
        <p:spPr>
          <a:xfrm>
            <a:off x="502920" y="932688"/>
            <a:ext cx="11185855" cy="310896"/>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Every rule has one home and one check. Change a value once, and it applies everywhere.</a:t>
            </a:r>
            <a:endParaRPr lang="en-US" sz="1300" dirty="0"/>
          </a:p>
        </p:txBody>
      </p:sp>
      <p:sp>
        <p:nvSpPr>
          <p:cNvPr id="4" name="Shape 2"/>
          <p:cNvSpPr/>
          <p:nvPr/>
        </p:nvSpPr>
        <p:spPr>
          <a:xfrm>
            <a:off x="502920" y="1371600"/>
            <a:ext cx="2090867" cy="4160520"/>
          </a:xfrm>
          <a:prstGeom prst="roundRect">
            <a:avLst>
              <a:gd name="adj" fmla="val 5248"/>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5" name="Text 3"/>
          <p:cNvSpPr txBox="1"/>
          <p:nvPr/>
        </p:nvSpPr>
        <p:spPr>
          <a:xfrm>
            <a:off x="502920" y="1508760"/>
            <a:ext cx="2090867" cy="731520"/>
          </a:xfrm>
          <a:prstGeom prst="rect">
            <a:avLst/>
          </a:prstGeom>
          <a:noFill/>
          <a:ln/>
        </p:spPr>
        <p:txBody>
          <a:bodyPr wrap="square" lIns="0" tIns="0" rIns="0" bIns="0" rtlCol="0" anchor="ctr"/>
          <a:lstStyle/>
          <a:p>
            <a:pPr algn="ctr" indent="0" marL="0">
              <a:buNone/>
            </a:pPr>
            <a:r>
              <a:rPr lang="en-US" sz="4400" b="1" dirty="0">
                <a:solidFill>
                  <a:srgbClr val="1B6B78"/>
                </a:solidFill>
                <a:latin typeface="Cambria" pitchFamily="34" charset="0"/>
                <a:ea typeface="Cambria" pitchFamily="34" charset="-122"/>
                <a:cs typeface="Cambria" pitchFamily="34" charset="-120"/>
              </a:rPr>
              <a:t>C</a:t>
            </a:r>
            <a:endParaRPr lang="en-US" sz="4400" dirty="0"/>
          </a:p>
        </p:txBody>
      </p:sp>
      <p:sp>
        <p:nvSpPr>
          <p:cNvPr id="6" name="Text 4"/>
          <p:cNvSpPr txBox="1"/>
          <p:nvPr/>
        </p:nvSpPr>
        <p:spPr>
          <a:xfrm>
            <a:off x="502920" y="2240280"/>
            <a:ext cx="2090867" cy="310896"/>
          </a:xfrm>
          <a:prstGeom prst="rect">
            <a:avLst/>
          </a:prstGeom>
          <a:noFill/>
          <a:ln/>
        </p:spPr>
        <p:txBody>
          <a:bodyPr wrap="square" lIns="0" tIns="0" rIns="0" bIns="0" rtlCol="0" anchor="ctr"/>
          <a:lstStyle/>
          <a:p>
            <a:pPr algn="ctr" indent="0" marL="0">
              <a:buNone/>
            </a:pPr>
            <a:r>
              <a:rPr lang="en-US" sz="1600" b="1" dirty="0">
                <a:solidFill>
                  <a:srgbClr val="1F2A37"/>
                </a:solidFill>
                <a:latin typeface="Calibri" pitchFamily="34" charset="0"/>
                <a:ea typeface="Calibri" pitchFamily="34" charset="-122"/>
                <a:cs typeface="Calibri" pitchFamily="34" charset="-120"/>
              </a:rPr>
              <a:t>Context</a:t>
            </a:r>
            <a:endParaRPr lang="en-US" sz="1600" dirty="0"/>
          </a:p>
        </p:txBody>
      </p:sp>
      <p:sp>
        <p:nvSpPr>
          <p:cNvPr id="7" name="Text 5"/>
          <p:cNvSpPr txBox="1"/>
          <p:nvPr/>
        </p:nvSpPr>
        <p:spPr>
          <a:xfrm>
            <a:off x="640080" y="2560320"/>
            <a:ext cx="1816547" cy="566928"/>
          </a:xfrm>
          <a:prstGeom prst="rect">
            <a:avLst/>
          </a:prstGeom>
          <a:noFill/>
          <a:ln/>
        </p:spPr>
        <p:txBody>
          <a:bodyPr wrap="square" lIns="0" tIns="0" rIns="0" bIns="0" rtlCol="0" anchor="t"/>
          <a:lstStyle/>
          <a:p>
            <a:pPr algn="ctr" indent="0" marL="0">
              <a:buNone/>
            </a:pPr>
            <a:r>
              <a:rPr lang="en-US" sz="1050" i="1" dirty="0">
                <a:solidFill>
                  <a:srgbClr val="5B6770"/>
                </a:solidFill>
                <a:latin typeface="Calibri" pitchFamily="34" charset="0"/>
                <a:ea typeface="Calibri" pitchFamily="34" charset="-122"/>
                <a:cs typeface="Calibri" pitchFamily="34" charset="-120"/>
              </a:rPr>
              <a:t>Who reads it, what counts as authority, what to do with gaps</a:t>
            </a:r>
            <a:endParaRPr lang="en-US" sz="1050" dirty="0"/>
          </a:p>
        </p:txBody>
      </p:sp>
      <p:sp>
        <p:nvSpPr>
          <p:cNvPr id="8" name="Text 6"/>
          <p:cNvSpPr txBox="1"/>
          <p:nvPr/>
        </p:nvSpPr>
        <p:spPr>
          <a:xfrm>
            <a:off x="667512" y="3182112"/>
            <a:ext cx="1779971" cy="22402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Three readers: learner, client reviewer, developer</a:t>
            </a:r>
            <a:endParaRPr lang="en-US" sz="1100" dirty="0"/>
          </a:p>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Nine-level source authority stack</a:t>
            </a:r>
            <a:endParaRPr lang="en-US" sz="1100" dirty="0"/>
          </a:p>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Gaps classified Critical, Blocking or Non-blocking, each with an owner</a:t>
            </a:r>
            <a:endParaRPr lang="en-US" sz="1100" dirty="0"/>
          </a:p>
        </p:txBody>
      </p:sp>
      <p:sp>
        <p:nvSpPr>
          <p:cNvPr id="9" name="Shape 7"/>
          <p:cNvSpPr/>
          <p:nvPr/>
        </p:nvSpPr>
        <p:spPr>
          <a:xfrm>
            <a:off x="2776667" y="1371600"/>
            <a:ext cx="2090867" cy="4160520"/>
          </a:xfrm>
          <a:prstGeom prst="roundRect">
            <a:avLst>
              <a:gd name="adj" fmla="val 5248"/>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10" name="Text 8"/>
          <p:cNvSpPr txBox="1"/>
          <p:nvPr/>
        </p:nvSpPr>
        <p:spPr>
          <a:xfrm>
            <a:off x="2776667" y="1508760"/>
            <a:ext cx="2090867" cy="731520"/>
          </a:xfrm>
          <a:prstGeom prst="rect">
            <a:avLst/>
          </a:prstGeom>
          <a:noFill/>
          <a:ln/>
        </p:spPr>
        <p:txBody>
          <a:bodyPr wrap="square" lIns="0" tIns="0" rIns="0" bIns="0" rtlCol="0" anchor="ctr"/>
          <a:lstStyle/>
          <a:p>
            <a:pPr algn="ctr" indent="0" marL="0">
              <a:buNone/>
            </a:pPr>
            <a:r>
              <a:rPr lang="en-US" sz="4400" b="1" dirty="0">
                <a:solidFill>
                  <a:srgbClr val="1B6B78"/>
                </a:solidFill>
                <a:latin typeface="Cambria" pitchFamily="34" charset="0"/>
                <a:ea typeface="Cambria" pitchFamily="34" charset="-122"/>
                <a:cs typeface="Cambria" pitchFamily="34" charset="-120"/>
              </a:rPr>
              <a:t>R</a:t>
            </a:r>
            <a:endParaRPr lang="en-US" sz="4400" dirty="0"/>
          </a:p>
        </p:txBody>
      </p:sp>
      <p:sp>
        <p:nvSpPr>
          <p:cNvPr id="11" name="Text 9"/>
          <p:cNvSpPr txBox="1"/>
          <p:nvPr/>
        </p:nvSpPr>
        <p:spPr>
          <a:xfrm>
            <a:off x="2776667" y="2240280"/>
            <a:ext cx="2090867" cy="310896"/>
          </a:xfrm>
          <a:prstGeom prst="rect">
            <a:avLst/>
          </a:prstGeom>
          <a:noFill/>
          <a:ln/>
        </p:spPr>
        <p:txBody>
          <a:bodyPr wrap="square" lIns="0" tIns="0" rIns="0" bIns="0" rtlCol="0" anchor="ctr"/>
          <a:lstStyle/>
          <a:p>
            <a:pPr algn="ctr" indent="0" marL="0">
              <a:buNone/>
            </a:pPr>
            <a:r>
              <a:rPr lang="en-US" sz="1600" b="1" dirty="0">
                <a:solidFill>
                  <a:srgbClr val="1F2A37"/>
                </a:solidFill>
                <a:latin typeface="Calibri" pitchFamily="34" charset="0"/>
                <a:ea typeface="Calibri" pitchFamily="34" charset="-122"/>
                <a:cs typeface="Calibri" pitchFamily="34" charset="-120"/>
              </a:rPr>
              <a:t>Role</a:t>
            </a:r>
            <a:endParaRPr lang="en-US" sz="1600" dirty="0"/>
          </a:p>
        </p:txBody>
      </p:sp>
      <p:sp>
        <p:nvSpPr>
          <p:cNvPr id="12" name="Text 10"/>
          <p:cNvSpPr txBox="1"/>
          <p:nvPr/>
        </p:nvSpPr>
        <p:spPr>
          <a:xfrm>
            <a:off x="2913827" y="2560320"/>
            <a:ext cx="1816547" cy="566928"/>
          </a:xfrm>
          <a:prstGeom prst="rect">
            <a:avLst/>
          </a:prstGeom>
          <a:noFill/>
          <a:ln/>
        </p:spPr>
        <p:txBody>
          <a:bodyPr wrap="square" lIns="0" tIns="0" rIns="0" bIns="0" rtlCol="0" anchor="t"/>
          <a:lstStyle/>
          <a:p>
            <a:pPr algn="ctr" indent="0" marL="0">
              <a:buNone/>
            </a:pPr>
            <a:r>
              <a:rPr lang="en-US" sz="1050" i="1" dirty="0">
                <a:solidFill>
                  <a:srgbClr val="5B6770"/>
                </a:solidFill>
                <a:latin typeface="Calibri" pitchFamily="34" charset="0"/>
                <a:ea typeface="Calibri" pitchFamily="34" charset="-122"/>
                <a:cs typeface="Calibri" pitchFamily="34" charset="-120"/>
              </a:rPr>
              <a:t>The generator drafts, people decide</a:t>
            </a:r>
            <a:endParaRPr lang="en-US" sz="1050" dirty="0"/>
          </a:p>
        </p:txBody>
      </p:sp>
      <p:sp>
        <p:nvSpPr>
          <p:cNvPr id="13" name="Text 11"/>
          <p:cNvSpPr txBox="1"/>
          <p:nvPr/>
        </p:nvSpPr>
        <p:spPr>
          <a:xfrm>
            <a:off x="2941259" y="3182112"/>
            <a:ext cx="1779971" cy="22402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Generates, structures, maps and checks</a:t>
            </a:r>
            <a:endParaRPr lang="en-US" sz="1100" dirty="0"/>
          </a:p>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Never decides purpose, accuracy or feasibility on its own</a:t>
            </a:r>
            <a:endParaRPr lang="en-US" sz="1100" dirty="0"/>
          </a:p>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Learning Design, SMEs, Multimedia, Accessibility and Development own the decisions</a:t>
            </a:r>
            <a:endParaRPr lang="en-US" sz="1100" dirty="0"/>
          </a:p>
        </p:txBody>
      </p:sp>
      <p:sp>
        <p:nvSpPr>
          <p:cNvPr id="14" name="Shape 12"/>
          <p:cNvSpPr/>
          <p:nvPr/>
        </p:nvSpPr>
        <p:spPr>
          <a:xfrm>
            <a:off x="5050414" y="1371600"/>
            <a:ext cx="2090867" cy="4160520"/>
          </a:xfrm>
          <a:prstGeom prst="roundRect">
            <a:avLst>
              <a:gd name="adj" fmla="val 5248"/>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15" name="Text 13"/>
          <p:cNvSpPr txBox="1"/>
          <p:nvPr/>
        </p:nvSpPr>
        <p:spPr>
          <a:xfrm>
            <a:off x="5050414" y="1508760"/>
            <a:ext cx="2090867" cy="731520"/>
          </a:xfrm>
          <a:prstGeom prst="rect">
            <a:avLst/>
          </a:prstGeom>
          <a:noFill/>
          <a:ln/>
        </p:spPr>
        <p:txBody>
          <a:bodyPr wrap="square" lIns="0" tIns="0" rIns="0" bIns="0" rtlCol="0" anchor="ctr"/>
          <a:lstStyle/>
          <a:p>
            <a:pPr algn="ctr" indent="0" marL="0">
              <a:buNone/>
            </a:pPr>
            <a:r>
              <a:rPr lang="en-US" sz="4400" b="1" dirty="0">
                <a:solidFill>
                  <a:srgbClr val="1B6B78"/>
                </a:solidFill>
                <a:latin typeface="Cambria" pitchFamily="34" charset="0"/>
                <a:ea typeface="Cambria" pitchFamily="34" charset="-122"/>
                <a:cs typeface="Cambria" pitchFamily="34" charset="-120"/>
              </a:rPr>
              <a:t>A</a:t>
            </a:r>
            <a:endParaRPr lang="en-US" sz="4400" dirty="0"/>
          </a:p>
        </p:txBody>
      </p:sp>
      <p:sp>
        <p:nvSpPr>
          <p:cNvPr id="16" name="Text 14"/>
          <p:cNvSpPr txBox="1"/>
          <p:nvPr/>
        </p:nvSpPr>
        <p:spPr>
          <a:xfrm>
            <a:off x="5050414" y="2240280"/>
            <a:ext cx="2090867" cy="310896"/>
          </a:xfrm>
          <a:prstGeom prst="rect">
            <a:avLst/>
          </a:prstGeom>
          <a:noFill/>
          <a:ln/>
        </p:spPr>
        <p:txBody>
          <a:bodyPr wrap="square" lIns="0" tIns="0" rIns="0" bIns="0" rtlCol="0" anchor="ctr"/>
          <a:lstStyle/>
          <a:p>
            <a:pPr algn="ctr" indent="0" marL="0">
              <a:buNone/>
            </a:pPr>
            <a:r>
              <a:rPr lang="en-US" sz="1600" b="1" dirty="0">
                <a:solidFill>
                  <a:srgbClr val="1F2A37"/>
                </a:solidFill>
                <a:latin typeface="Calibri" pitchFamily="34" charset="0"/>
                <a:ea typeface="Calibri" pitchFamily="34" charset="-122"/>
                <a:cs typeface="Calibri" pitchFamily="34" charset="-120"/>
              </a:rPr>
              <a:t>Action</a:t>
            </a:r>
            <a:endParaRPr lang="en-US" sz="1600" dirty="0"/>
          </a:p>
        </p:txBody>
      </p:sp>
      <p:sp>
        <p:nvSpPr>
          <p:cNvPr id="17" name="Text 15"/>
          <p:cNvSpPr txBox="1"/>
          <p:nvPr/>
        </p:nvSpPr>
        <p:spPr>
          <a:xfrm>
            <a:off x="5187574" y="2560320"/>
            <a:ext cx="1816547" cy="566928"/>
          </a:xfrm>
          <a:prstGeom prst="rect">
            <a:avLst/>
          </a:prstGeom>
          <a:noFill/>
          <a:ln/>
        </p:spPr>
        <p:txBody>
          <a:bodyPr wrap="square" lIns="0" tIns="0" rIns="0" bIns="0" rtlCol="0" anchor="t"/>
          <a:lstStyle/>
          <a:p>
            <a:pPr algn="ctr" indent="0" marL="0">
              <a:buNone/>
            </a:pPr>
            <a:r>
              <a:rPr lang="en-US" sz="1050" i="1" dirty="0">
                <a:solidFill>
                  <a:srgbClr val="5B6770"/>
                </a:solidFill>
                <a:latin typeface="Calibri" pitchFamily="34" charset="0"/>
                <a:ea typeface="Calibri" pitchFamily="34" charset="-122"/>
                <a:cs typeface="Calibri" pitchFamily="34" charset="-120"/>
              </a:rPr>
              <a:t>Seven steps, always in this order</a:t>
            </a:r>
            <a:endParaRPr lang="en-US" sz="1050" dirty="0"/>
          </a:p>
        </p:txBody>
      </p:sp>
      <p:sp>
        <p:nvSpPr>
          <p:cNvPr id="18" name="Text 16"/>
          <p:cNvSpPr txBox="1"/>
          <p:nvPr/>
        </p:nvSpPr>
        <p:spPr>
          <a:xfrm>
            <a:off x="5215006" y="3182112"/>
            <a:ext cx="1779971" cy="22402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Objectives as job tasks, with quoted evidence</a:t>
            </a:r>
            <a:endParaRPr lang="en-US" sz="1100" dirty="0"/>
          </a:p>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A verification gate before any design starts</a:t>
            </a:r>
            <a:endParaRPr lang="en-US" sz="1100" dirty="0"/>
          </a:p>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Every slide: content first, component minimums, feedback, accessibility</a:t>
            </a:r>
            <a:endParaRPr lang="en-US" sz="1100" dirty="0"/>
          </a:p>
        </p:txBody>
      </p:sp>
      <p:sp>
        <p:nvSpPr>
          <p:cNvPr id="19" name="Shape 17"/>
          <p:cNvSpPr/>
          <p:nvPr/>
        </p:nvSpPr>
        <p:spPr>
          <a:xfrm>
            <a:off x="7324161" y="1371600"/>
            <a:ext cx="2090867" cy="4160520"/>
          </a:xfrm>
          <a:prstGeom prst="roundRect">
            <a:avLst>
              <a:gd name="adj" fmla="val 5248"/>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20" name="Text 18"/>
          <p:cNvSpPr txBox="1"/>
          <p:nvPr/>
        </p:nvSpPr>
        <p:spPr>
          <a:xfrm>
            <a:off x="7324161" y="1508760"/>
            <a:ext cx="2090867" cy="731520"/>
          </a:xfrm>
          <a:prstGeom prst="rect">
            <a:avLst/>
          </a:prstGeom>
          <a:noFill/>
          <a:ln/>
        </p:spPr>
        <p:txBody>
          <a:bodyPr wrap="square" lIns="0" tIns="0" rIns="0" bIns="0" rtlCol="0" anchor="ctr"/>
          <a:lstStyle/>
          <a:p>
            <a:pPr algn="ctr" indent="0" marL="0">
              <a:buNone/>
            </a:pPr>
            <a:r>
              <a:rPr lang="en-US" sz="4400" b="1" dirty="0">
                <a:solidFill>
                  <a:srgbClr val="1B6B78"/>
                </a:solidFill>
                <a:latin typeface="Cambria" pitchFamily="34" charset="0"/>
                <a:ea typeface="Cambria" pitchFamily="34" charset="-122"/>
                <a:cs typeface="Cambria" pitchFamily="34" charset="-120"/>
              </a:rPr>
              <a:t>F</a:t>
            </a:r>
            <a:endParaRPr lang="en-US" sz="4400" dirty="0"/>
          </a:p>
        </p:txBody>
      </p:sp>
      <p:sp>
        <p:nvSpPr>
          <p:cNvPr id="21" name="Text 19"/>
          <p:cNvSpPr txBox="1"/>
          <p:nvPr/>
        </p:nvSpPr>
        <p:spPr>
          <a:xfrm>
            <a:off x="7324161" y="2240280"/>
            <a:ext cx="2090867" cy="310896"/>
          </a:xfrm>
          <a:prstGeom prst="rect">
            <a:avLst/>
          </a:prstGeom>
          <a:noFill/>
          <a:ln/>
        </p:spPr>
        <p:txBody>
          <a:bodyPr wrap="square" lIns="0" tIns="0" rIns="0" bIns="0" rtlCol="0" anchor="ctr"/>
          <a:lstStyle/>
          <a:p>
            <a:pPr algn="ctr" indent="0" marL="0">
              <a:buNone/>
            </a:pPr>
            <a:r>
              <a:rPr lang="en-US" sz="1600" b="1" dirty="0">
                <a:solidFill>
                  <a:srgbClr val="1F2A37"/>
                </a:solidFill>
                <a:latin typeface="Calibri" pitchFamily="34" charset="0"/>
                <a:ea typeface="Calibri" pitchFamily="34" charset="-122"/>
                <a:cs typeface="Calibri" pitchFamily="34" charset="-120"/>
              </a:rPr>
              <a:t>Format</a:t>
            </a:r>
            <a:endParaRPr lang="en-US" sz="1600" dirty="0"/>
          </a:p>
        </p:txBody>
      </p:sp>
      <p:sp>
        <p:nvSpPr>
          <p:cNvPr id="22" name="Text 20"/>
          <p:cNvSpPr txBox="1"/>
          <p:nvPr/>
        </p:nvSpPr>
        <p:spPr>
          <a:xfrm>
            <a:off x="7461321" y="2560320"/>
            <a:ext cx="1816547" cy="566928"/>
          </a:xfrm>
          <a:prstGeom prst="rect">
            <a:avLst/>
          </a:prstGeom>
          <a:noFill/>
          <a:ln/>
        </p:spPr>
        <p:txBody>
          <a:bodyPr wrap="square" lIns="0" tIns="0" rIns="0" bIns="0" rtlCol="0" anchor="t"/>
          <a:lstStyle/>
          <a:p>
            <a:pPr algn="ctr" indent="0" marL="0">
              <a:buNone/>
            </a:pPr>
            <a:r>
              <a:rPr lang="en-US" sz="1050" i="1" dirty="0">
                <a:solidFill>
                  <a:srgbClr val="5B6770"/>
                </a:solidFill>
                <a:latin typeface="Calibri" pitchFamily="34" charset="0"/>
                <a:ea typeface="Calibri" pitchFamily="34" charset="-122"/>
                <a:cs typeface="Calibri" pitchFamily="34" charset="-120"/>
              </a:rPr>
              <a:t>What the deliverable looks like</a:t>
            </a:r>
            <a:endParaRPr lang="en-US" sz="1050" dirty="0"/>
          </a:p>
        </p:txBody>
      </p:sp>
      <p:sp>
        <p:nvSpPr>
          <p:cNvPr id="23" name="Text 21"/>
          <p:cNvSpPr txBox="1"/>
          <p:nvPr/>
        </p:nvSpPr>
        <p:spPr>
          <a:xfrm>
            <a:off x="7488753" y="3182112"/>
            <a:ext cx="1779971" cy="22402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Locked block order and real Word tables</a:t>
            </a:r>
            <a:endParaRPr lang="en-US" sz="1100" dirty="0"/>
          </a:p>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Five columns, one owner per column</a:t>
            </a:r>
            <a:endParaRPr lang="en-US" sz="1100" dirty="0"/>
          </a:p>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Five interaction modes; a mock-up for any complex layout</a:t>
            </a:r>
            <a:endParaRPr lang="en-US" sz="1100" dirty="0"/>
          </a:p>
        </p:txBody>
      </p:sp>
      <p:sp>
        <p:nvSpPr>
          <p:cNvPr id="24" name="Shape 22"/>
          <p:cNvSpPr/>
          <p:nvPr/>
        </p:nvSpPr>
        <p:spPr>
          <a:xfrm>
            <a:off x="9597908" y="1371600"/>
            <a:ext cx="2090867" cy="4160520"/>
          </a:xfrm>
          <a:prstGeom prst="roundRect">
            <a:avLst>
              <a:gd name="adj" fmla="val 5248"/>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25" name="Text 23"/>
          <p:cNvSpPr txBox="1"/>
          <p:nvPr/>
        </p:nvSpPr>
        <p:spPr>
          <a:xfrm>
            <a:off x="9597908" y="1508760"/>
            <a:ext cx="2090867" cy="731520"/>
          </a:xfrm>
          <a:prstGeom prst="rect">
            <a:avLst/>
          </a:prstGeom>
          <a:noFill/>
          <a:ln/>
        </p:spPr>
        <p:txBody>
          <a:bodyPr wrap="square" lIns="0" tIns="0" rIns="0" bIns="0" rtlCol="0" anchor="ctr"/>
          <a:lstStyle/>
          <a:p>
            <a:pPr algn="ctr" indent="0" marL="0">
              <a:buNone/>
            </a:pPr>
            <a:r>
              <a:rPr lang="en-US" sz="4400" b="1" dirty="0">
                <a:solidFill>
                  <a:srgbClr val="1B6B78"/>
                </a:solidFill>
                <a:latin typeface="Cambria" pitchFamily="34" charset="0"/>
                <a:ea typeface="Cambria" pitchFamily="34" charset="-122"/>
                <a:cs typeface="Cambria" pitchFamily="34" charset="-120"/>
              </a:rPr>
              <a:t>T</a:t>
            </a:r>
            <a:endParaRPr lang="en-US" sz="4400" dirty="0"/>
          </a:p>
        </p:txBody>
      </p:sp>
      <p:sp>
        <p:nvSpPr>
          <p:cNvPr id="26" name="Text 24"/>
          <p:cNvSpPr txBox="1"/>
          <p:nvPr/>
        </p:nvSpPr>
        <p:spPr>
          <a:xfrm>
            <a:off x="9597908" y="2240280"/>
            <a:ext cx="2090867" cy="310896"/>
          </a:xfrm>
          <a:prstGeom prst="rect">
            <a:avLst/>
          </a:prstGeom>
          <a:noFill/>
          <a:ln/>
        </p:spPr>
        <p:txBody>
          <a:bodyPr wrap="square" lIns="0" tIns="0" rIns="0" bIns="0" rtlCol="0" anchor="ctr"/>
          <a:lstStyle/>
          <a:p>
            <a:pPr algn="ctr" indent="0" marL="0">
              <a:buNone/>
            </a:pPr>
            <a:r>
              <a:rPr lang="en-US" sz="1600" b="1" dirty="0">
                <a:solidFill>
                  <a:srgbClr val="1F2A37"/>
                </a:solidFill>
                <a:latin typeface="Calibri" pitchFamily="34" charset="0"/>
                <a:ea typeface="Calibri" pitchFamily="34" charset="-122"/>
                <a:cs typeface="Calibri" pitchFamily="34" charset="-120"/>
              </a:rPr>
              <a:t>Tone</a:t>
            </a:r>
            <a:endParaRPr lang="en-US" sz="1600" dirty="0"/>
          </a:p>
        </p:txBody>
      </p:sp>
      <p:sp>
        <p:nvSpPr>
          <p:cNvPr id="27" name="Text 25"/>
          <p:cNvSpPr txBox="1"/>
          <p:nvPr/>
        </p:nvSpPr>
        <p:spPr>
          <a:xfrm>
            <a:off x="9735068" y="2560320"/>
            <a:ext cx="1816547" cy="566928"/>
          </a:xfrm>
          <a:prstGeom prst="rect">
            <a:avLst/>
          </a:prstGeom>
          <a:noFill/>
          <a:ln/>
        </p:spPr>
        <p:txBody>
          <a:bodyPr wrap="square" lIns="0" tIns="0" rIns="0" bIns="0" rtlCol="0" anchor="t"/>
          <a:lstStyle/>
          <a:p>
            <a:pPr algn="ctr" indent="0" marL="0">
              <a:buNone/>
            </a:pPr>
            <a:r>
              <a:rPr lang="en-US" sz="1050" i="1" dirty="0">
                <a:solidFill>
                  <a:srgbClr val="5B6770"/>
                </a:solidFill>
                <a:latin typeface="Calibri" pitchFamily="34" charset="0"/>
                <a:ea typeface="Calibri" pitchFamily="34" charset="-122"/>
                <a:cs typeface="Calibri" pitchFamily="34" charset="-120"/>
              </a:rPr>
              <a:t>One voice for three readers</a:t>
            </a:r>
            <a:endParaRPr lang="en-US" sz="1050" dirty="0"/>
          </a:p>
        </p:txBody>
      </p:sp>
      <p:sp>
        <p:nvSpPr>
          <p:cNvPr id="28" name="Text 26"/>
          <p:cNvSpPr txBox="1"/>
          <p:nvPr/>
        </p:nvSpPr>
        <p:spPr>
          <a:xfrm>
            <a:off x="9762500" y="3182112"/>
            <a:ext cx="1779971" cy="22402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Complete sentences, one term per thing</a:t>
            </a:r>
            <a:endParaRPr lang="en-US" sz="1100" dirty="0"/>
          </a:p>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Acronyms defined; cognitive-load limits per slide</a:t>
            </a:r>
            <a:endParaRPr lang="en-US" sz="1100" dirty="0"/>
          </a:p>
          <a:p>
            <a:pPr marL="152400" indent="-152400">
              <a:spcAft>
                <a:spcPts val="500"/>
              </a:spcAft>
              <a:buSzPct val="100000"/>
              <a:buChar char="•"/>
            </a:pPr>
            <a:r>
              <a:rPr lang="en-US" sz="1100" dirty="0">
                <a:solidFill>
                  <a:srgbClr val="1F2A37"/>
                </a:solidFill>
                <a:latin typeface="Calibri" pitchFamily="34" charset="0"/>
                <a:ea typeface="Calibri" pitchFamily="34" charset="-122"/>
                <a:cs typeface="Calibri" pitchFamily="34" charset="-120"/>
              </a:rPr>
              <a:t>Narration teaches; it never repeats the screen</a:t>
            </a:r>
            <a:endParaRPr lang="en-US" sz="1100" dirty="0"/>
          </a:p>
        </p:txBody>
      </p:sp>
      <p:sp>
        <p:nvSpPr>
          <p:cNvPr id="29" name="Shape 27"/>
          <p:cNvSpPr/>
          <p:nvPr/>
        </p:nvSpPr>
        <p:spPr>
          <a:xfrm>
            <a:off x="502920" y="5715000"/>
            <a:ext cx="11185855" cy="621792"/>
          </a:xfrm>
          <a:prstGeom prst="roundRect">
            <a:avLst>
              <a:gd name="adj" fmla="val 11765"/>
            </a:avLst>
          </a:prstGeom>
          <a:solidFill>
            <a:srgbClr val="DCE7E3"/>
          </a:solidFill>
          <a:ln w="12700">
            <a:solidFill>
              <a:srgbClr val="DCE7E3"/>
            </a:solidFill>
            <a:prstDash val="solid"/>
          </a:ln>
        </p:spPr>
      </p:sp>
      <p:sp>
        <p:nvSpPr>
          <p:cNvPr id="30" name="Shape 28"/>
          <p:cNvSpPr/>
          <p:nvPr/>
        </p:nvSpPr>
        <p:spPr>
          <a:xfrm>
            <a:off x="731520" y="5843016"/>
            <a:ext cx="365760" cy="365760"/>
          </a:xfrm>
          <a:prstGeom prst="ellipse">
            <a:avLst/>
          </a:prstGeom>
          <a:solidFill>
            <a:srgbClr val="1B6B78"/>
          </a:solidFill>
          <a:ln w="12700">
            <a:solidFill>
              <a:srgbClr val="1B6B78"/>
            </a:solidFill>
            <a:prstDash val="solid"/>
          </a:ln>
        </p:spPr>
      </p:sp>
      <p:pic>
        <p:nvPicPr>
          <p:cNvPr id="31" name="Image 0" descr="preencoded.png">    </p:cNvPr>
          <p:cNvPicPr>
            <a:picLocks noChangeAspect="1"/>
          </p:cNvPicPr>
          <p:nvPr/>
        </p:nvPicPr>
        <p:blipFill>
          <a:blip r:embed="rId1"/>
          <a:stretch>
            <a:fillRect/>
          </a:stretch>
        </p:blipFill>
        <p:spPr>
          <a:xfrm>
            <a:off x="822960" y="5934456"/>
            <a:ext cx="182880" cy="182880"/>
          </a:xfrm>
          <a:prstGeom prst="rect">
            <a:avLst/>
          </a:prstGeom>
        </p:spPr>
      </p:pic>
      <p:sp>
        <p:nvSpPr>
          <p:cNvPr id="32" name="Text 29"/>
          <p:cNvSpPr txBox="1"/>
          <p:nvPr/>
        </p:nvSpPr>
        <p:spPr>
          <a:xfrm>
            <a:off x="1188720" y="5715000"/>
            <a:ext cx="2905658" cy="621792"/>
          </a:xfrm>
          <a:prstGeom prst="rect">
            <a:avLst/>
          </a:prstGeom>
          <a:noFill/>
          <a:ln/>
        </p:spPr>
        <p:txBody>
          <a:bodyPr wrap="square" lIns="0" tIns="0" rIns="0" bIns="0" rtlCol="0" anchor="ctr"/>
          <a:lstStyle/>
          <a:p>
            <a:pPr indent="0" marL="0">
              <a:buNone/>
            </a:pPr>
            <a:r>
              <a:rPr lang="en-US" sz="1150" b="1" dirty="0">
                <a:solidFill>
                  <a:srgbClr val="1F2A37"/>
                </a:solidFill>
                <a:latin typeface="Calibri" pitchFamily="34" charset="0"/>
                <a:ea typeface="Calibri" pitchFamily="34" charset="-122"/>
                <a:cs typeface="Calibri" pitchFamily="34" charset="-120"/>
              </a:rPr>
              <a:t>Set once:  </a:t>
            </a:r>
            <a:pPr indent="0" marL="0">
              <a:buNone/>
            </a:pPr>
            <a:r>
              <a:rPr lang="en-US" sz="1150" dirty="0">
                <a:solidFill>
                  <a:srgbClr val="1F2A37"/>
                </a:solidFill>
                <a:latin typeface="Calibri" pitchFamily="34" charset="0"/>
                <a:ea typeface="Calibri" pitchFamily="34" charset="-122"/>
                <a:cs typeface="Calibri" pitchFamily="34" charset="-120"/>
              </a:rPr>
              <a:t>36 configuration keys with defaults</a:t>
            </a:r>
            <a:endParaRPr lang="en-US" sz="1150" dirty="0"/>
          </a:p>
        </p:txBody>
      </p:sp>
      <p:sp>
        <p:nvSpPr>
          <p:cNvPr id="33" name="Shape 30"/>
          <p:cNvSpPr/>
          <p:nvPr/>
        </p:nvSpPr>
        <p:spPr>
          <a:xfrm>
            <a:off x="4460138" y="5843016"/>
            <a:ext cx="365760" cy="365760"/>
          </a:xfrm>
          <a:prstGeom prst="ellipse">
            <a:avLst/>
          </a:prstGeom>
          <a:solidFill>
            <a:srgbClr val="1B6B78"/>
          </a:solidFill>
          <a:ln w="12700">
            <a:solidFill>
              <a:srgbClr val="1B6B78"/>
            </a:solidFill>
            <a:prstDash val="solid"/>
          </a:ln>
        </p:spPr>
      </p:sp>
      <p:pic>
        <p:nvPicPr>
          <p:cNvPr id="34" name="Image 1" descr="preencoded.png">    </p:cNvPr>
          <p:cNvPicPr>
            <a:picLocks noChangeAspect="1"/>
          </p:cNvPicPr>
          <p:nvPr/>
        </p:nvPicPr>
        <p:blipFill>
          <a:blip r:embed="rId2"/>
          <a:stretch>
            <a:fillRect/>
          </a:stretch>
        </p:blipFill>
        <p:spPr>
          <a:xfrm>
            <a:off x="4551578" y="5934456"/>
            <a:ext cx="182880" cy="182880"/>
          </a:xfrm>
          <a:prstGeom prst="rect">
            <a:avLst/>
          </a:prstGeom>
        </p:spPr>
      </p:pic>
      <p:sp>
        <p:nvSpPr>
          <p:cNvPr id="35" name="Text 31"/>
          <p:cNvSpPr txBox="1"/>
          <p:nvPr/>
        </p:nvSpPr>
        <p:spPr>
          <a:xfrm>
            <a:off x="4917338" y="5715000"/>
            <a:ext cx="2905658" cy="621792"/>
          </a:xfrm>
          <a:prstGeom prst="rect">
            <a:avLst/>
          </a:prstGeom>
          <a:noFill/>
          <a:ln/>
        </p:spPr>
        <p:txBody>
          <a:bodyPr wrap="square" lIns="0" tIns="0" rIns="0" bIns="0" rtlCol="0" anchor="ctr"/>
          <a:lstStyle/>
          <a:p>
            <a:pPr indent="0" marL="0">
              <a:buNone/>
            </a:pPr>
            <a:r>
              <a:rPr lang="en-US" sz="1150" b="1" dirty="0">
                <a:solidFill>
                  <a:srgbClr val="1F2A37"/>
                </a:solidFill>
                <a:latin typeface="Calibri" pitchFamily="34" charset="0"/>
                <a:ea typeface="Calibri" pitchFamily="34" charset="-122"/>
                <a:cs typeface="Calibri" pitchFamily="34" charset="-120"/>
              </a:rPr>
              <a:t>Checked on every run:  </a:t>
            </a:r>
            <a:pPr indent="0" marL="0">
              <a:buNone/>
            </a:pPr>
            <a:r>
              <a:rPr lang="en-US" sz="1150" dirty="0">
                <a:solidFill>
                  <a:srgbClr val="1F2A37"/>
                </a:solidFill>
                <a:latin typeface="Calibri" pitchFamily="34" charset="0"/>
                <a:ea typeface="Calibri" pitchFamily="34" charset="-122"/>
                <a:cs typeface="Calibri" pitchFamily="34" charset="-120"/>
              </a:rPr>
              <a:t>37 quality checks in three severities</a:t>
            </a:r>
            <a:endParaRPr lang="en-US" sz="1150" dirty="0"/>
          </a:p>
        </p:txBody>
      </p:sp>
      <p:sp>
        <p:nvSpPr>
          <p:cNvPr id="36" name="Shape 32"/>
          <p:cNvSpPr/>
          <p:nvPr/>
        </p:nvSpPr>
        <p:spPr>
          <a:xfrm>
            <a:off x="8188757" y="5843016"/>
            <a:ext cx="365760" cy="365760"/>
          </a:xfrm>
          <a:prstGeom prst="ellipse">
            <a:avLst/>
          </a:prstGeom>
          <a:solidFill>
            <a:srgbClr val="1B6B78"/>
          </a:solidFill>
          <a:ln w="12700">
            <a:solidFill>
              <a:srgbClr val="1B6B78"/>
            </a:solidFill>
            <a:prstDash val="solid"/>
          </a:ln>
        </p:spPr>
      </p:sp>
      <p:pic>
        <p:nvPicPr>
          <p:cNvPr id="37" name="Image 2" descr="preencoded.png">    </p:cNvPr>
          <p:cNvPicPr>
            <a:picLocks noChangeAspect="1"/>
          </p:cNvPicPr>
          <p:nvPr/>
        </p:nvPicPr>
        <p:blipFill>
          <a:blip r:embed="rId3"/>
          <a:stretch>
            <a:fillRect/>
          </a:stretch>
        </p:blipFill>
        <p:spPr>
          <a:xfrm>
            <a:off x="8280197" y="5934456"/>
            <a:ext cx="182880" cy="182880"/>
          </a:xfrm>
          <a:prstGeom prst="rect">
            <a:avLst/>
          </a:prstGeom>
        </p:spPr>
      </p:pic>
      <p:sp>
        <p:nvSpPr>
          <p:cNvPr id="38" name="Text 33"/>
          <p:cNvSpPr txBox="1"/>
          <p:nvPr/>
        </p:nvSpPr>
        <p:spPr>
          <a:xfrm>
            <a:off x="8645957" y="5715000"/>
            <a:ext cx="2905658" cy="621792"/>
          </a:xfrm>
          <a:prstGeom prst="rect">
            <a:avLst/>
          </a:prstGeom>
          <a:noFill/>
          <a:ln/>
        </p:spPr>
        <p:txBody>
          <a:bodyPr wrap="square" lIns="0" tIns="0" rIns="0" bIns="0" rtlCol="0" anchor="ctr"/>
          <a:lstStyle/>
          <a:p>
            <a:pPr indent="0" marL="0">
              <a:buNone/>
            </a:pPr>
            <a:r>
              <a:rPr lang="en-US" sz="1150" b="1" dirty="0">
                <a:solidFill>
                  <a:srgbClr val="1F2A37"/>
                </a:solidFill>
                <a:latin typeface="Calibri" pitchFamily="34" charset="0"/>
                <a:ea typeface="Calibri" pitchFamily="34" charset="-122"/>
                <a:cs typeface="Calibri" pitchFamily="34" charset="-120"/>
              </a:rPr>
              <a:t>Owned, never invented:  </a:t>
            </a:r>
            <a:pPr indent="0" marL="0">
              <a:buNone/>
            </a:pPr>
            <a:r>
              <a:rPr lang="en-US" sz="1150" dirty="0">
                <a:solidFill>
                  <a:srgbClr val="1F2A37"/>
                </a:solidFill>
                <a:latin typeface="Calibri" pitchFamily="34" charset="0"/>
                <a:ea typeface="Calibri" pitchFamily="34" charset="-122"/>
                <a:cs typeface="Calibri" pitchFamily="34" charset="-120"/>
              </a:rPr>
              <a:t>9 gap markers, each naming a human owner</a:t>
            </a:r>
            <a:endParaRPr lang="en-US" sz="1150" dirty="0"/>
          </a:p>
        </p:txBody>
      </p:sp>
      <p:sp>
        <p:nvSpPr>
          <p:cNvPr id="39" name="Text 34"/>
          <p:cNvSpPr txBox="1"/>
          <p:nvPr/>
        </p:nvSpPr>
        <p:spPr>
          <a:xfrm>
            <a:off x="502920" y="6455664"/>
            <a:ext cx="5486400" cy="237744"/>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LSC Learning Engineering Team  ·  AI Storyboarding</a:t>
            </a:r>
            <a:endParaRPr lang="en-US" sz="900" dirty="0"/>
          </a:p>
        </p:txBody>
      </p:sp>
      <p:sp>
        <p:nvSpPr>
          <p:cNvPr id="40" name="Text 35"/>
          <p:cNvSpPr txBox="1"/>
          <p:nvPr/>
        </p:nvSpPr>
        <p:spPr>
          <a:xfrm>
            <a:off x="11140135" y="6455664"/>
            <a:ext cx="548640" cy="237744"/>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658368"/>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One standard, six kinds of expertise</a:t>
            </a:r>
            <a:endParaRPr lang="en-US" sz="3000" dirty="0"/>
          </a:p>
        </p:txBody>
      </p:sp>
      <p:sp>
        <p:nvSpPr>
          <p:cNvPr id="3" name="Text 1"/>
          <p:cNvSpPr txBox="1"/>
          <p:nvPr/>
        </p:nvSpPr>
        <p:spPr>
          <a:xfrm>
            <a:off x="502920" y="932688"/>
            <a:ext cx="11185855" cy="310896"/>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A socio-technical system: people decide, the process gates, the technology drafts.</a:t>
            </a:r>
            <a:endParaRPr lang="en-US" sz="1300" dirty="0"/>
          </a:p>
        </p:txBody>
      </p:sp>
      <p:sp>
        <p:nvSpPr>
          <p:cNvPr id="4" name="Shape 2"/>
          <p:cNvSpPr/>
          <p:nvPr/>
        </p:nvSpPr>
        <p:spPr>
          <a:xfrm flipV="1">
            <a:off x="3794760" y="2267712"/>
            <a:ext cx="0" cy="640080"/>
          </a:xfrm>
          <a:prstGeom prst="line">
            <a:avLst/>
          </a:prstGeom>
          <a:noFill/>
          <a:ln w="25400">
            <a:solidFill>
              <a:srgbClr val="A8B3B0"/>
            </a:solidFill>
            <a:prstDash val="solid"/>
          </a:ln>
        </p:spPr>
      </p:sp>
      <p:sp>
        <p:nvSpPr>
          <p:cNvPr id="5" name="Shape 3"/>
          <p:cNvSpPr/>
          <p:nvPr/>
        </p:nvSpPr>
        <p:spPr>
          <a:xfrm flipV="1">
            <a:off x="4602492" y="3054096"/>
            <a:ext cx="554326" cy="320040"/>
          </a:xfrm>
          <a:prstGeom prst="line">
            <a:avLst/>
          </a:prstGeom>
          <a:noFill/>
          <a:ln w="25400">
            <a:solidFill>
              <a:srgbClr val="A8B3B0"/>
            </a:solidFill>
            <a:prstDash val="solid"/>
          </a:ln>
        </p:spPr>
      </p:sp>
      <p:sp>
        <p:nvSpPr>
          <p:cNvPr id="6" name="Shape 4"/>
          <p:cNvSpPr/>
          <p:nvPr/>
        </p:nvSpPr>
        <p:spPr>
          <a:xfrm>
            <a:off x="4602492" y="4306824"/>
            <a:ext cx="554326" cy="320040"/>
          </a:xfrm>
          <a:prstGeom prst="line">
            <a:avLst/>
          </a:prstGeom>
          <a:noFill/>
          <a:ln w="25400">
            <a:solidFill>
              <a:srgbClr val="A8B3B0"/>
            </a:solidFill>
            <a:prstDash val="solid"/>
          </a:ln>
        </p:spPr>
      </p:sp>
      <p:sp>
        <p:nvSpPr>
          <p:cNvPr id="7" name="Shape 5"/>
          <p:cNvSpPr/>
          <p:nvPr/>
        </p:nvSpPr>
        <p:spPr>
          <a:xfrm>
            <a:off x="3794760" y="4773168"/>
            <a:ext cx="0" cy="640080"/>
          </a:xfrm>
          <a:prstGeom prst="line">
            <a:avLst/>
          </a:prstGeom>
          <a:noFill/>
          <a:ln w="25400">
            <a:solidFill>
              <a:srgbClr val="A8B3B0"/>
            </a:solidFill>
            <a:prstDash val="solid"/>
          </a:ln>
        </p:spPr>
      </p:sp>
      <p:sp>
        <p:nvSpPr>
          <p:cNvPr id="8" name="Shape 6"/>
          <p:cNvSpPr/>
          <p:nvPr/>
        </p:nvSpPr>
        <p:spPr>
          <a:xfrm flipH="1">
            <a:off x="2432703" y="4306824"/>
            <a:ext cx="554326" cy="320040"/>
          </a:xfrm>
          <a:prstGeom prst="line">
            <a:avLst/>
          </a:prstGeom>
          <a:noFill/>
          <a:ln w="25400">
            <a:solidFill>
              <a:srgbClr val="A8B3B0"/>
            </a:solidFill>
            <a:prstDash val="solid"/>
          </a:ln>
        </p:spPr>
      </p:sp>
      <p:sp>
        <p:nvSpPr>
          <p:cNvPr id="9" name="Shape 7"/>
          <p:cNvSpPr/>
          <p:nvPr/>
        </p:nvSpPr>
        <p:spPr>
          <a:xfrm flipH="1" flipV="1">
            <a:off x="2432703" y="3054096"/>
            <a:ext cx="554326" cy="320040"/>
          </a:xfrm>
          <a:prstGeom prst="line">
            <a:avLst/>
          </a:prstGeom>
          <a:noFill/>
          <a:ln w="25400">
            <a:solidFill>
              <a:srgbClr val="A8B3B0"/>
            </a:solidFill>
            <a:prstDash val="solid"/>
          </a:ln>
        </p:spPr>
      </p:sp>
      <p:sp>
        <p:nvSpPr>
          <p:cNvPr id="10" name="Shape 8"/>
          <p:cNvSpPr/>
          <p:nvPr/>
        </p:nvSpPr>
        <p:spPr>
          <a:xfrm>
            <a:off x="2834640" y="2880360"/>
            <a:ext cx="1920240" cy="1920240"/>
          </a:xfrm>
          <a:prstGeom prst="ellipse">
            <a:avLst/>
          </a:prstGeom>
          <a:solidFill>
            <a:srgbClr val="0B2A3B"/>
          </a:solidFill>
          <a:ln w="12700">
            <a:solidFill>
              <a:srgbClr val="0B2A3B"/>
            </a:solidFill>
            <a:prstDash val="solid"/>
          </a:ln>
          <a:effectLst>
            <a:outerShdw sx="100000" sy="100000" kx="0" ky="0" algn="bl" rotWithShape="0" blurRad="76200" dist="25400" dir="2700000">
              <a:srgbClr val="000000">
                <a:alpha val="16000"/>
              </a:srgbClr>
            </a:outerShdw>
          </a:effectLst>
        </p:spPr>
      </p:sp>
      <p:sp>
        <p:nvSpPr>
          <p:cNvPr id="11" name="Text 9"/>
          <p:cNvSpPr txBox="1"/>
          <p:nvPr/>
        </p:nvSpPr>
        <p:spPr>
          <a:xfrm>
            <a:off x="2834640" y="2880360"/>
            <a:ext cx="1920240" cy="1920240"/>
          </a:xfrm>
          <a:prstGeom prst="rect">
            <a:avLst/>
          </a:prstGeom>
          <a:noFill/>
          <a:ln/>
        </p:spPr>
        <p:txBody>
          <a:bodyPr wrap="square" lIns="0" tIns="0" rIns="0" bIns="0" rtlCol="0" anchor="ctr"/>
          <a:lstStyle/>
          <a:p>
            <a:pPr algn="ctr" indent="0" marL="0">
              <a:buNone/>
            </a:pPr>
            <a:r>
              <a:rPr lang="en-US" sz="1300" b="1" dirty="0">
                <a:solidFill>
                  <a:srgbClr val="F5C518"/>
                </a:solidFill>
                <a:latin typeface="Calibri" pitchFamily="34" charset="0"/>
                <a:ea typeface="Calibri" pitchFamily="34" charset="-122"/>
                <a:cs typeface="Calibri" pitchFamily="34" charset="-120"/>
              </a:rPr>
              <a:t>The master prompt</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one shared standard</a:t>
            </a:r>
            <a:endParaRPr lang="en-US" sz="1300" dirty="0"/>
          </a:p>
        </p:txBody>
      </p:sp>
      <p:sp>
        <p:nvSpPr>
          <p:cNvPr id="12" name="Shape 10"/>
          <p:cNvSpPr/>
          <p:nvPr/>
        </p:nvSpPr>
        <p:spPr>
          <a:xfrm>
            <a:off x="3493008" y="1664208"/>
            <a:ext cx="603504" cy="603504"/>
          </a:xfrm>
          <a:prstGeom prst="ellipse">
            <a:avLst/>
          </a:prstGeom>
          <a:solidFill>
            <a:srgbClr val="1B6B78"/>
          </a:solidFill>
          <a:ln w="12700">
            <a:solidFill>
              <a:srgbClr val="1B6B78"/>
            </a:solidFill>
            <a:prstDash val="solid"/>
          </a:ln>
        </p:spPr>
      </p:sp>
      <p:pic>
        <p:nvPicPr>
          <p:cNvPr id="13" name="Image 0" descr="preencoded.png">    </p:cNvPr>
          <p:cNvPicPr>
            <a:picLocks noChangeAspect="1"/>
          </p:cNvPicPr>
          <p:nvPr/>
        </p:nvPicPr>
        <p:blipFill>
          <a:blip r:embed="rId1"/>
          <a:stretch>
            <a:fillRect/>
          </a:stretch>
        </p:blipFill>
        <p:spPr>
          <a:xfrm>
            <a:off x="3643884" y="1815084"/>
            <a:ext cx="301752" cy="301752"/>
          </a:xfrm>
          <a:prstGeom prst="rect">
            <a:avLst/>
          </a:prstGeom>
        </p:spPr>
      </p:pic>
      <p:sp>
        <p:nvSpPr>
          <p:cNvPr id="14" name="Text 11"/>
          <p:cNvSpPr txBox="1"/>
          <p:nvPr/>
        </p:nvSpPr>
        <p:spPr>
          <a:xfrm>
            <a:off x="2994660" y="1261872"/>
            <a:ext cx="1600200" cy="365760"/>
          </a:xfrm>
          <a:prstGeom prst="rect">
            <a:avLst/>
          </a:prstGeom>
          <a:noFill/>
          <a:ln/>
        </p:spPr>
        <p:txBody>
          <a:bodyPr wrap="square" lIns="0" tIns="0" rIns="0" bIns="0" rtlCol="0" anchor="ctr"/>
          <a:lstStyle/>
          <a:p>
            <a:pPr algn="ctr" indent="0" marL="0">
              <a:buNone/>
            </a:pPr>
            <a:r>
              <a:rPr lang="en-US" sz="1050" b="1" dirty="0">
                <a:solidFill>
                  <a:srgbClr val="1F2A37"/>
                </a:solidFill>
                <a:latin typeface="Calibri" pitchFamily="34" charset="0"/>
                <a:ea typeface="Calibri" pitchFamily="34" charset="-122"/>
                <a:cs typeface="Calibri" pitchFamily="34" charset="-120"/>
              </a:rPr>
              <a:t>Instructional designer</a:t>
            </a:r>
            <a:endParaRPr lang="en-US" sz="1050" dirty="0"/>
          </a:p>
        </p:txBody>
      </p:sp>
      <p:sp>
        <p:nvSpPr>
          <p:cNvPr id="15" name="Shape 12"/>
          <p:cNvSpPr/>
          <p:nvPr/>
        </p:nvSpPr>
        <p:spPr>
          <a:xfrm>
            <a:off x="5116390" y="2601468"/>
            <a:ext cx="603504" cy="603504"/>
          </a:xfrm>
          <a:prstGeom prst="ellipse">
            <a:avLst/>
          </a:prstGeom>
          <a:solidFill>
            <a:srgbClr val="1B6B78"/>
          </a:solidFill>
          <a:ln w="12700">
            <a:solidFill>
              <a:srgbClr val="1B6B78"/>
            </a:solidFill>
            <a:prstDash val="solid"/>
          </a:ln>
        </p:spPr>
      </p:sp>
      <p:pic>
        <p:nvPicPr>
          <p:cNvPr id="16" name="Image 1" descr="preencoded.png">    </p:cNvPr>
          <p:cNvPicPr>
            <a:picLocks noChangeAspect="1"/>
          </p:cNvPicPr>
          <p:nvPr/>
        </p:nvPicPr>
        <p:blipFill>
          <a:blip r:embed="rId2"/>
          <a:stretch>
            <a:fillRect/>
          </a:stretch>
        </p:blipFill>
        <p:spPr>
          <a:xfrm>
            <a:off x="5267266" y="2752344"/>
            <a:ext cx="301752" cy="301752"/>
          </a:xfrm>
          <a:prstGeom prst="rect">
            <a:avLst/>
          </a:prstGeom>
        </p:spPr>
      </p:pic>
      <p:sp>
        <p:nvSpPr>
          <p:cNvPr id="17" name="Text 13"/>
          <p:cNvSpPr txBox="1"/>
          <p:nvPr/>
        </p:nvSpPr>
        <p:spPr>
          <a:xfrm>
            <a:off x="5793046" y="2720340"/>
            <a:ext cx="1600200" cy="365760"/>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ea typeface="Calibri" pitchFamily="34" charset="-122"/>
                <a:cs typeface="Calibri" pitchFamily="34" charset="-120"/>
              </a:rPr>
              <a:t>Learning-engineering analyst</a:t>
            </a:r>
            <a:endParaRPr lang="en-US" sz="1050" dirty="0"/>
          </a:p>
        </p:txBody>
      </p:sp>
      <p:sp>
        <p:nvSpPr>
          <p:cNvPr id="18" name="Shape 14"/>
          <p:cNvSpPr/>
          <p:nvPr/>
        </p:nvSpPr>
        <p:spPr>
          <a:xfrm>
            <a:off x="5116390" y="4475988"/>
            <a:ext cx="603504" cy="603504"/>
          </a:xfrm>
          <a:prstGeom prst="ellipse">
            <a:avLst/>
          </a:prstGeom>
          <a:solidFill>
            <a:srgbClr val="1B6B78"/>
          </a:solidFill>
          <a:ln w="12700">
            <a:solidFill>
              <a:srgbClr val="1B6B78"/>
            </a:solidFill>
            <a:prstDash val="solid"/>
          </a:ln>
        </p:spPr>
      </p:sp>
      <p:pic>
        <p:nvPicPr>
          <p:cNvPr id="19" name="Image 2" descr="preencoded.png">    </p:cNvPr>
          <p:cNvPicPr>
            <a:picLocks noChangeAspect="1"/>
          </p:cNvPicPr>
          <p:nvPr/>
        </p:nvPicPr>
        <p:blipFill>
          <a:blip r:embed="rId3"/>
          <a:stretch>
            <a:fillRect/>
          </a:stretch>
        </p:blipFill>
        <p:spPr>
          <a:xfrm>
            <a:off x="5267266" y="4626864"/>
            <a:ext cx="301752" cy="301752"/>
          </a:xfrm>
          <a:prstGeom prst="rect">
            <a:avLst/>
          </a:prstGeom>
        </p:spPr>
      </p:pic>
      <p:sp>
        <p:nvSpPr>
          <p:cNvPr id="20" name="Text 15"/>
          <p:cNvSpPr txBox="1"/>
          <p:nvPr/>
        </p:nvSpPr>
        <p:spPr>
          <a:xfrm>
            <a:off x="5793046" y="4594860"/>
            <a:ext cx="1600200" cy="365760"/>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ea typeface="Calibri" pitchFamily="34" charset="-122"/>
                <a:cs typeface="Calibri" pitchFamily="34" charset="-120"/>
              </a:rPr>
              <a:t>Assessment designer</a:t>
            </a:r>
            <a:endParaRPr lang="en-US" sz="1050" dirty="0"/>
          </a:p>
        </p:txBody>
      </p:sp>
      <p:sp>
        <p:nvSpPr>
          <p:cNvPr id="21" name="Shape 16"/>
          <p:cNvSpPr/>
          <p:nvPr/>
        </p:nvSpPr>
        <p:spPr>
          <a:xfrm>
            <a:off x="3493008" y="5413248"/>
            <a:ext cx="603504" cy="603504"/>
          </a:xfrm>
          <a:prstGeom prst="ellipse">
            <a:avLst/>
          </a:prstGeom>
          <a:solidFill>
            <a:srgbClr val="1B6B78"/>
          </a:solidFill>
          <a:ln w="12700">
            <a:solidFill>
              <a:srgbClr val="1B6B78"/>
            </a:solidFill>
            <a:prstDash val="solid"/>
          </a:ln>
        </p:spPr>
      </p:sp>
      <p:pic>
        <p:nvPicPr>
          <p:cNvPr id="22" name="Image 3" descr="preencoded.png">    </p:cNvPr>
          <p:cNvPicPr>
            <a:picLocks noChangeAspect="1"/>
          </p:cNvPicPr>
          <p:nvPr/>
        </p:nvPicPr>
        <p:blipFill>
          <a:blip r:embed="rId4"/>
          <a:stretch>
            <a:fillRect/>
          </a:stretch>
        </p:blipFill>
        <p:spPr>
          <a:xfrm>
            <a:off x="3643884" y="5564124"/>
            <a:ext cx="301752" cy="301752"/>
          </a:xfrm>
          <a:prstGeom prst="rect">
            <a:avLst/>
          </a:prstGeom>
        </p:spPr>
      </p:pic>
      <p:sp>
        <p:nvSpPr>
          <p:cNvPr id="23" name="Text 17"/>
          <p:cNvSpPr txBox="1"/>
          <p:nvPr/>
        </p:nvSpPr>
        <p:spPr>
          <a:xfrm>
            <a:off x="2994660" y="6053328"/>
            <a:ext cx="1600200" cy="365760"/>
          </a:xfrm>
          <a:prstGeom prst="rect">
            <a:avLst/>
          </a:prstGeom>
          <a:noFill/>
          <a:ln/>
        </p:spPr>
        <p:txBody>
          <a:bodyPr wrap="square" lIns="0" tIns="0" rIns="0" bIns="0" rtlCol="0" anchor="ctr"/>
          <a:lstStyle/>
          <a:p>
            <a:pPr algn="ctr" indent="0" marL="0">
              <a:buNone/>
            </a:pPr>
            <a:r>
              <a:rPr lang="en-US" sz="1050" b="1" dirty="0">
                <a:solidFill>
                  <a:srgbClr val="1F2A37"/>
                </a:solidFill>
                <a:latin typeface="Calibri" pitchFamily="34" charset="0"/>
                <a:ea typeface="Calibri" pitchFamily="34" charset="-122"/>
                <a:cs typeface="Calibri" pitchFamily="34" charset="-120"/>
              </a:rPr>
              <a:t>Accessibility and UX reviewer</a:t>
            </a:r>
            <a:endParaRPr lang="en-US" sz="1050" dirty="0"/>
          </a:p>
        </p:txBody>
      </p:sp>
      <p:sp>
        <p:nvSpPr>
          <p:cNvPr id="24" name="Shape 18"/>
          <p:cNvSpPr/>
          <p:nvPr/>
        </p:nvSpPr>
        <p:spPr>
          <a:xfrm>
            <a:off x="1869626" y="4475988"/>
            <a:ext cx="603504" cy="603504"/>
          </a:xfrm>
          <a:prstGeom prst="ellipse">
            <a:avLst/>
          </a:prstGeom>
          <a:solidFill>
            <a:srgbClr val="1B6B78"/>
          </a:solidFill>
          <a:ln w="12700">
            <a:solidFill>
              <a:srgbClr val="1B6B78"/>
            </a:solidFill>
            <a:prstDash val="solid"/>
          </a:ln>
        </p:spPr>
      </p:sp>
      <p:pic>
        <p:nvPicPr>
          <p:cNvPr id="25" name="Image 4" descr="preencoded.png">    </p:cNvPr>
          <p:cNvPicPr>
            <a:picLocks noChangeAspect="1"/>
          </p:cNvPicPr>
          <p:nvPr/>
        </p:nvPicPr>
        <p:blipFill>
          <a:blip r:embed="rId5"/>
          <a:stretch>
            <a:fillRect/>
          </a:stretch>
        </p:blipFill>
        <p:spPr>
          <a:xfrm>
            <a:off x="2020502" y="4626864"/>
            <a:ext cx="301752" cy="301752"/>
          </a:xfrm>
          <a:prstGeom prst="rect">
            <a:avLst/>
          </a:prstGeom>
        </p:spPr>
      </p:pic>
      <p:sp>
        <p:nvSpPr>
          <p:cNvPr id="26" name="Text 19"/>
          <p:cNvSpPr txBox="1"/>
          <p:nvPr/>
        </p:nvSpPr>
        <p:spPr>
          <a:xfrm>
            <a:off x="196274" y="4594860"/>
            <a:ext cx="1600200" cy="365760"/>
          </a:xfrm>
          <a:prstGeom prst="rect">
            <a:avLst/>
          </a:prstGeom>
          <a:noFill/>
          <a:ln/>
        </p:spPr>
        <p:txBody>
          <a:bodyPr wrap="square" lIns="0" tIns="0" rIns="0" bIns="0" rtlCol="0" anchor="ctr"/>
          <a:lstStyle/>
          <a:p>
            <a:pPr algn="r" indent="0" marL="0">
              <a:buNone/>
            </a:pPr>
            <a:r>
              <a:rPr lang="en-US" sz="1050" b="1" dirty="0">
                <a:solidFill>
                  <a:srgbClr val="1F2A37"/>
                </a:solidFill>
                <a:latin typeface="Calibri" pitchFamily="34" charset="0"/>
                <a:ea typeface="Calibri" pitchFamily="34" charset="-122"/>
                <a:cs typeface="Calibri" pitchFamily="34" charset="-120"/>
              </a:rPr>
              <a:t>Source-fidelity reviewer</a:t>
            </a:r>
            <a:endParaRPr lang="en-US" sz="1050" dirty="0"/>
          </a:p>
        </p:txBody>
      </p:sp>
      <p:sp>
        <p:nvSpPr>
          <p:cNvPr id="27" name="Shape 20"/>
          <p:cNvSpPr/>
          <p:nvPr/>
        </p:nvSpPr>
        <p:spPr>
          <a:xfrm>
            <a:off x="1869626" y="2601468"/>
            <a:ext cx="603504" cy="603504"/>
          </a:xfrm>
          <a:prstGeom prst="ellipse">
            <a:avLst/>
          </a:prstGeom>
          <a:solidFill>
            <a:srgbClr val="1B6B78"/>
          </a:solidFill>
          <a:ln w="12700">
            <a:solidFill>
              <a:srgbClr val="1B6B78"/>
            </a:solidFill>
            <a:prstDash val="solid"/>
          </a:ln>
        </p:spPr>
      </p:sp>
      <p:pic>
        <p:nvPicPr>
          <p:cNvPr id="28" name="Image 5" descr="preencoded.png">    </p:cNvPr>
          <p:cNvPicPr>
            <a:picLocks noChangeAspect="1"/>
          </p:cNvPicPr>
          <p:nvPr/>
        </p:nvPicPr>
        <p:blipFill>
          <a:blip r:embed="rId6"/>
          <a:stretch>
            <a:fillRect/>
          </a:stretch>
        </p:blipFill>
        <p:spPr>
          <a:xfrm>
            <a:off x="2020502" y="2752344"/>
            <a:ext cx="301752" cy="301752"/>
          </a:xfrm>
          <a:prstGeom prst="rect">
            <a:avLst/>
          </a:prstGeom>
        </p:spPr>
      </p:pic>
      <p:sp>
        <p:nvSpPr>
          <p:cNvPr id="29" name="Text 21"/>
          <p:cNvSpPr txBox="1"/>
          <p:nvPr/>
        </p:nvSpPr>
        <p:spPr>
          <a:xfrm>
            <a:off x="196274" y="2720340"/>
            <a:ext cx="1600200" cy="365760"/>
          </a:xfrm>
          <a:prstGeom prst="rect">
            <a:avLst/>
          </a:prstGeom>
          <a:noFill/>
          <a:ln/>
        </p:spPr>
        <p:txBody>
          <a:bodyPr wrap="square" lIns="0" tIns="0" rIns="0" bIns="0" rtlCol="0" anchor="ctr"/>
          <a:lstStyle/>
          <a:p>
            <a:pPr algn="r" indent="0" marL="0">
              <a:buNone/>
            </a:pPr>
            <a:r>
              <a:rPr lang="en-US" sz="1050" b="1" dirty="0">
                <a:solidFill>
                  <a:srgbClr val="1F2A37"/>
                </a:solidFill>
                <a:latin typeface="Calibri" pitchFamily="34" charset="0"/>
                <a:ea typeface="Calibri" pitchFamily="34" charset="-122"/>
                <a:cs typeface="Calibri" pitchFamily="34" charset="-120"/>
              </a:rPr>
              <a:t>Storyboard-production architect</a:t>
            </a:r>
            <a:endParaRPr lang="en-US" sz="1050" dirty="0"/>
          </a:p>
        </p:txBody>
      </p:sp>
      <p:sp>
        <p:nvSpPr>
          <p:cNvPr id="30" name="Text 22"/>
          <p:cNvSpPr txBox="1"/>
          <p:nvPr/>
        </p:nvSpPr>
        <p:spPr>
          <a:xfrm>
            <a:off x="7543800" y="6108192"/>
            <a:ext cx="4144975" cy="274320"/>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Rules and examples flow in; the same standard flows back to everyone.</a:t>
            </a:r>
            <a:endParaRPr lang="en-US" sz="1000" dirty="0"/>
          </a:p>
        </p:txBody>
      </p:sp>
      <p:sp>
        <p:nvSpPr>
          <p:cNvPr id="31" name="Text 23"/>
          <p:cNvSpPr txBox="1"/>
          <p:nvPr/>
        </p:nvSpPr>
        <p:spPr>
          <a:xfrm>
            <a:off x="7543800" y="1371600"/>
            <a:ext cx="4144975" cy="329184"/>
          </a:xfrm>
          <a:prstGeom prst="rect">
            <a:avLst/>
          </a:prstGeom>
          <a:noFill/>
          <a:ln/>
        </p:spPr>
        <p:txBody>
          <a:bodyPr wrap="square" lIns="0" tIns="0" rIns="0" bIns="0" rtlCol="0" anchor="ctr"/>
          <a:lstStyle/>
          <a:p>
            <a:pPr indent="0" marL="0">
              <a:buNone/>
            </a:pPr>
            <a:r>
              <a:rPr lang="en-US" sz="1500" b="1" dirty="0">
                <a:solidFill>
                  <a:srgbClr val="1F2A37"/>
                </a:solidFill>
                <a:latin typeface="Calibri" pitchFamily="34" charset="0"/>
                <a:ea typeface="Calibri" pitchFamily="34" charset="-122"/>
                <a:cs typeface="Calibri" pitchFamily="34" charset="-120"/>
              </a:rPr>
              <a:t>What this changes for the team</a:t>
            </a:r>
            <a:endParaRPr lang="en-US" sz="1500" dirty="0"/>
          </a:p>
        </p:txBody>
      </p:sp>
      <p:sp>
        <p:nvSpPr>
          <p:cNvPr id="32" name="Shape 24"/>
          <p:cNvSpPr/>
          <p:nvPr/>
        </p:nvSpPr>
        <p:spPr>
          <a:xfrm>
            <a:off x="7543800" y="1847088"/>
            <a:ext cx="475488" cy="475488"/>
          </a:xfrm>
          <a:prstGeom prst="ellipse">
            <a:avLst/>
          </a:prstGeom>
          <a:solidFill>
            <a:srgbClr val="1B6B78"/>
          </a:solidFill>
          <a:ln w="12700">
            <a:solidFill>
              <a:srgbClr val="1B6B78"/>
            </a:solidFill>
            <a:prstDash val="solid"/>
          </a:ln>
        </p:spPr>
      </p:sp>
      <p:pic>
        <p:nvPicPr>
          <p:cNvPr id="33" name="Image 6" descr="preencoded.png">    </p:cNvPr>
          <p:cNvPicPr>
            <a:picLocks noChangeAspect="1"/>
          </p:cNvPicPr>
          <p:nvPr/>
        </p:nvPicPr>
        <p:blipFill>
          <a:blip r:embed="rId7"/>
          <a:stretch>
            <a:fillRect/>
          </a:stretch>
        </p:blipFill>
        <p:spPr>
          <a:xfrm>
            <a:off x="7662672" y="1965960"/>
            <a:ext cx="237744" cy="237744"/>
          </a:xfrm>
          <a:prstGeom prst="rect">
            <a:avLst/>
          </a:prstGeom>
        </p:spPr>
      </p:pic>
      <p:sp>
        <p:nvSpPr>
          <p:cNvPr id="34" name="Text 25"/>
          <p:cNvSpPr txBox="1"/>
          <p:nvPr/>
        </p:nvSpPr>
        <p:spPr>
          <a:xfrm>
            <a:off x="8183880" y="1828800"/>
            <a:ext cx="3504895" cy="27432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Same shape, whoever runs it</a:t>
            </a:r>
            <a:endParaRPr lang="en-US" sz="1300" dirty="0"/>
          </a:p>
        </p:txBody>
      </p:sp>
      <p:sp>
        <p:nvSpPr>
          <p:cNvPr id="35" name="Text 26"/>
          <p:cNvSpPr txBox="1"/>
          <p:nvPr/>
        </p:nvSpPr>
        <p:spPr>
          <a:xfrm>
            <a:off x="8183880" y="2121408"/>
            <a:ext cx="3504895" cy="640080"/>
          </a:xfrm>
          <a:prstGeom prst="rect">
            <a:avLst/>
          </a:prstGeom>
          <a:noFill/>
          <a:ln/>
        </p:spPr>
        <p:txBody>
          <a:bodyPr wrap="square" lIns="0" tIns="0" rIns="0" bIns="0" rtlCol="0" anchor="t"/>
          <a:lstStyle/>
          <a:p>
            <a:pPr indent="0" marL="0">
              <a:buNone/>
            </a:pPr>
            <a:r>
              <a:rPr lang="en-US" sz="1100" dirty="0">
                <a:solidFill>
                  <a:srgbClr val="1F2A37"/>
                </a:solidFill>
                <a:latin typeface="Calibri" pitchFamily="34" charset="0"/>
                <a:ea typeface="Calibri" pitchFamily="34" charset="-122"/>
                <a:cs typeface="Calibri" pitchFamily="34" charset="-120"/>
              </a:rPr>
              <a:t>A storyboard from any team member arrives in the same format with the same checks.</a:t>
            </a:r>
            <a:endParaRPr lang="en-US" sz="1100" dirty="0"/>
          </a:p>
        </p:txBody>
      </p:sp>
      <p:sp>
        <p:nvSpPr>
          <p:cNvPr id="36" name="Shape 27"/>
          <p:cNvSpPr/>
          <p:nvPr/>
        </p:nvSpPr>
        <p:spPr>
          <a:xfrm>
            <a:off x="7543800" y="2926080"/>
            <a:ext cx="475488" cy="475488"/>
          </a:xfrm>
          <a:prstGeom prst="ellipse">
            <a:avLst/>
          </a:prstGeom>
          <a:solidFill>
            <a:srgbClr val="1B6B78"/>
          </a:solidFill>
          <a:ln w="12700">
            <a:solidFill>
              <a:srgbClr val="1B6B78"/>
            </a:solidFill>
            <a:prstDash val="solid"/>
          </a:ln>
        </p:spPr>
      </p:sp>
      <p:pic>
        <p:nvPicPr>
          <p:cNvPr id="37" name="Image 7" descr="preencoded.png">    </p:cNvPr>
          <p:cNvPicPr>
            <a:picLocks noChangeAspect="1"/>
          </p:cNvPicPr>
          <p:nvPr/>
        </p:nvPicPr>
        <p:blipFill>
          <a:blip r:embed="rId8"/>
          <a:stretch>
            <a:fillRect/>
          </a:stretch>
        </p:blipFill>
        <p:spPr>
          <a:xfrm>
            <a:off x="7662672" y="3044952"/>
            <a:ext cx="237744" cy="237744"/>
          </a:xfrm>
          <a:prstGeom prst="rect">
            <a:avLst/>
          </a:prstGeom>
        </p:spPr>
      </p:pic>
      <p:sp>
        <p:nvSpPr>
          <p:cNvPr id="38" name="Text 28"/>
          <p:cNvSpPr txBox="1"/>
          <p:nvPr/>
        </p:nvSpPr>
        <p:spPr>
          <a:xfrm>
            <a:off x="8183880" y="2907792"/>
            <a:ext cx="3504895" cy="27432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Day-one onboarding</a:t>
            </a:r>
            <a:endParaRPr lang="en-US" sz="1300" dirty="0"/>
          </a:p>
        </p:txBody>
      </p:sp>
      <p:sp>
        <p:nvSpPr>
          <p:cNvPr id="39" name="Text 29"/>
          <p:cNvSpPr txBox="1"/>
          <p:nvPr/>
        </p:nvSpPr>
        <p:spPr>
          <a:xfrm>
            <a:off x="8183880" y="3200400"/>
            <a:ext cx="3504895" cy="640080"/>
          </a:xfrm>
          <a:prstGeom prst="rect">
            <a:avLst/>
          </a:prstGeom>
          <a:noFill/>
          <a:ln/>
        </p:spPr>
        <p:txBody>
          <a:bodyPr wrap="square" lIns="0" tIns="0" rIns="0" bIns="0" rtlCol="0" anchor="t"/>
          <a:lstStyle/>
          <a:p>
            <a:pPr indent="0" marL="0">
              <a:buNone/>
            </a:pPr>
            <a:r>
              <a:rPr lang="en-US" sz="1100" dirty="0">
                <a:solidFill>
                  <a:srgbClr val="1F2A37"/>
                </a:solidFill>
                <a:latin typeface="Calibri" pitchFamily="34" charset="0"/>
                <a:ea typeface="Calibri" pitchFamily="34" charset="-122"/>
                <a:cs typeface="Calibri" pitchFamily="34" charset="-120"/>
              </a:rPr>
              <a:t>A new member produces a standard-compliant storyboard on their first project.</a:t>
            </a:r>
            <a:endParaRPr lang="en-US" sz="1100" dirty="0"/>
          </a:p>
        </p:txBody>
      </p:sp>
      <p:sp>
        <p:nvSpPr>
          <p:cNvPr id="40" name="Shape 30"/>
          <p:cNvSpPr/>
          <p:nvPr/>
        </p:nvSpPr>
        <p:spPr>
          <a:xfrm>
            <a:off x="7543800" y="4005072"/>
            <a:ext cx="475488" cy="475488"/>
          </a:xfrm>
          <a:prstGeom prst="ellipse">
            <a:avLst/>
          </a:prstGeom>
          <a:solidFill>
            <a:srgbClr val="1B6B78"/>
          </a:solidFill>
          <a:ln w="12700">
            <a:solidFill>
              <a:srgbClr val="1B6B78"/>
            </a:solidFill>
            <a:prstDash val="solid"/>
          </a:ln>
        </p:spPr>
      </p:sp>
      <p:pic>
        <p:nvPicPr>
          <p:cNvPr id="41" name="Image 8" descr="preencoded.png">    </p:cNvPr>
          <p:cNvPicPr>
            <a:picLocks noChangeAspect="1"/>
          </p:cNvPicPr>
          <p:nvPr/>
        </p:nvPicPr>
        <p:blipFill>
          <a:blip r:embed="rId9"/>
          <a:stretch>
            <a:fillRect/>
          </a:stretch>
        </p:blipFill>
        <p:spPr>
          <a:xfrm>
            <a:off x="7662672" y="4123944"/>
            <a:ext cx="237744" cy="237744"/>
          </a:xfrm>
          <a:prstGeom prst="rect">
            <a:avLst/>
          </a:prstGeom>
        </p:spPr>
      </p:pic>
      <p:sp>
        <p:nvSpPr>
          <p:cNvPr id="42" name="Text 31"/>
          <p:cNvSpPr txBox="1"/>
          <p:nvPr/>
        </p:nvSpPr>
        <p:spPr>
          <a:xfrm>
            <a:off x="8183880" y="3986784"/>
            <a:ext cx="3504895" cy="27432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Knowledge outlives turnover</a:t>
            </a:r>
            <a:endParaRPr lang="en-US" sz="1300" dirty="0"/>
          </a:p>
        </p:txBody>
      </p:sp>
      <p:sp>
        <p:nvSpPr>
          <p:cNvPr id="43" name="Text 32"/>
          <p:cNvSpPr txBox="1"/>
          <p:nvPr/>
        </p:nvSpPr>
        <p:spPr>
          <a:xfrm>
            <a:off x="8183880" y="4279392"/>
            <a:ext cx="3504895" cy="640080"/>
          </a:xfrm>
          <a:prstGeom prst="rect">
            <a:avLst/>
          </a:prstGeom>
          <a:noFill/>
          <a:ln/>
        </p:spPr>
        <p:txBody>
          <a:bodyPr wrap="square" lIns="0" tIns="0" rIns="0" bIns="0" rtlCol="0" anchor="t"/>
          <a:lstStyle/>
          <a:p>
            <a:pPr indent="0" marL="0">
              <a:buNone/>
            </a:pPr>
            <a:r>
              <a:rPr lang="en-US" sz="1100" dirty="0">
                <a:solidFill>
                  <a:srgbClr val="1F2A37"/>
                </a:solidFill>
                <a:latin typeface="Calibri" pitchFamily="34" charset="0"/>
                <a:ea typeface="Calibri" pitchFamily="34" charset="-122"/>
                <a:cs typeface="Calibri" pitchFamily="34" charset="-120"/>
              </a:rPr>
              <a:t>Expertise lives in the prompt and its change log, not only in one person's head.</a:t>
            </a:r>
            <a:endParaRPr lang="en-US" sz="1100" dirty="0"/>
          </a:p>
        </p:txBody>
      </p:sp>
      <p:sp>
        <p:nvSpPr>
          <p:cNvPr id="44" name="Shape 33"/>
          <p:cNvSpPr/>
          <p:nvPr/>
        </p:nvSpPr>
        <p:spPr>
          <a:xfrm>
            <a:off x="7543800" y="5084064"/>
            <a:ext cx="475488" cy="475488"/>
          </a:xfrm>
          <a:prstGeom prst="ellipse">
            <a:avLst/>
          </a:prstGeom>
          <a:solidFill>
            <a:srgbClr val="F08A00"/>
          </a:solidFill>
          <a:ln w="12700">
            <a:solidFill>
              <a:srgbClr val="F08A00"/>
            </a:solidFill>
            <a:prstDash val="solid"/>
          </a:ln>
        </p:spPr>
      </p:sp>
      <p:pic>
        <p:nvPicPr>
          <p:cNvPr id="45" name="Image 9" descr="preencoded.png">    </p:cNvPr>
          <p:cNvPicPr>
            <a:picLocks noChangeAspect="1"/>
          </p:cNvPicPr>
          <p:nvPr/>
        </p:nvPicPr>
        <p:blipFill>
          <a:blip r:embed="rId10"/>
          <a:stretch>
            <a:fillRect/>
          </a:stretch>
        </p:blipFill>
        <p:spPr>
          <a:xfrm>
            <a:off x="7662672" y="5202936"/>
            <a:ext cx="237744" cy="237744"/>
          </a:xfrm>
          <a:prstGeom prst="rect">
            <a:avLst/>
          </a:prstGeom>
        </p:spPr>
      </p:pic>
      <p:sp>
        <p:nvSpPr>
          <p:cNvPr id="46" name="Text 34"/>
          <p:cNvSpPr txBox="1"/>
          <p:nvPr/>
        </p:nvSpPr>
        <p:spPr>
          <a:xfrm>
            <a:off x="8183880" y="5065776"/>
            <a:ext cx="3504895" cy="27432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Practitioners govern it</a:t>
            </a:r>
            <a:endParaRPr lang="en-US" sz="1300" dirty="0"/>
          </a:p>
        </p:txBody>
      </p:sp>
      <p:sp>
        <p:nvSpPr>
          <p:cNvPr id="47" name="Text 35"/>
          <p:cNvSpPr txBox="1"/>
          <p:nvPr/>
        </p:nvSpPr>
        <p:spPr>
          <a:xfrm>
            <a:off x="8183880" y="5358384"/>
            <a:ext cx="3504895" cy="640080"/>
          </a:xfrm>
          <a:prstGeom prst="rect">
            <a:avLst/>
          </a:prstGeom>
          <a:noFill/>
          <a:ln/>
        </p:spPr>
        <p:txBody>
          <a:bodyPr wrap="square" lIns="0" tIns="0" rIns="0" bIns="0" rtlCol="0" anchor="t"/>
          <a:lstStyle/>
          <a:p>
            <a:pPr indent="0" marL="0">
              <a:buNone/>
            </a:pPr>
            <a:r>
              <a:rPr lang="en-US" sz="1100" dirty="0">
                <a:solidFill>
                  <a:srgbClr val="1F2A37"/>
                </a:solidFill>
                <a:latin typeface="Calibri" pitchFamily="34" charset="0"/>
                <a:ea typeface="Calibri" pitchFamily="34" charset="-122"/>
                <a:cs typeface="Calibri" pitchFamily="34" charset="-120"/>
              </a:rPr>
              <a:t>Reviewer comments become rules; the team, not the tool, decides what changes.</a:t>
            </a:r>
            <a:endParaRPr lang="en-US" sz="1100" dirty="0"/>
          </a:p>
        </p:txBody>
      </p:sp>
      <p:sp>
        <p:nvSpPr>
          <p:cNvPr id="48" name="Text 36"/>
          <p:cNvSpPr txBox="1"/>
          <p:nvPr/>
        </p:nvSpPr>
        <p:spPr>
          <a:xfrm>
            <a:off x="502920" y="6455664"/>
            <a:ext cx="5486400" cy="237744"/>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LSC Learning Engineering Team  ·  AI Storyboarding</a:t>
            </a:r>
            <a:endParaRPr lang="en-US" sz="900" dirty="0"/>
          </a:p>
        </p:txBody>
      </p:sp>
      <p:sp>
        <p:nvSpPr>
          <p:cNvPr id="49" name="Text 37"/>
          <p:cNvSpPr txBox="1"/>
          <p:nvPr/>
        </p:nvSpPr>
        <p:spPr>
          <a:xfrm>
            <a:off x="11140135" y="6455664"/>
            <a:ext cx="548640" cy="237744"/>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658368"/>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Three ways the team uses it</a:t>
            </a:r>
            <a:endParaRPr lang="en-US" sz="3000" dirty="0"/>
          </a:p>
        </p:txBody>
      </p:sp>
      <p:sp>
        <p:nvSpPr>
          <p:cNvPr id="3" name="Text 1"/>
          <p:cNvSpPr txBox="1"/>
          <p:nvPr/>
        </p:nvSpPr>
        <p:spPr>
          <a:xfrm>
            <a:off x="502920" y="932688"/>
            <a:ext cx="11185855" cy="310896"/>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The same prompt generates, standardizes, and converts.</a:t>
            </a:r>
            <a:endParaRPr lang="en-US" sz="1300" dirty="0"/>
          </a:p>
        </p:txBody>
      </p:sp>
      <p:sp>
        <p:nvSpPr>
          <p:cNvPr id="4" name="Shape 2"/>
          <p:cNvSpPr/>
          <p:nvPr/>
        </p:nvSpPr>
        <p:spPr>
          <a:xfrm>
            <a:off x="502920" y="1371600"/>
            <a:ext cx="3582314" cy="4572000"/>
          </a:xfrm>
          <a:prstGeom prst="roundRect">
            <a:avLst>
              <a:gd name="adj" fmla="val 3063"/>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5" name="Shape 3"/>
          <p:cNvSpPr/>
          <p:nvPr/>
        </p:nvSpPr>
        <p:spPr>
          <a:xfrm>
            <a:off x="731520" y="1600200"/>
            <a:ext cx="640080" cy="640080"/>
          </a:xfrm>
          <a:prstGeom prst="ellipse">
            <a:avLst/>
          </a:prstGeom>
          <a:solidFill>
            <a:srgbClr val="1B6B78"/>
          </a:solidFill>
          <a:ln w="12700">
            <a:solidFill>
              <a:srgbClr val="1B6B78"/>
            </a:solidFill>
            <a:prstDash val="solid"/>
          </a:ln>
        </p:spPr>
      </p:sp>
      <p:pic>
        <p:nvPicPr>
          <p:cNvPr id="6" name="Image 0" descr="preencoded.png">    </p:cNvPr>
          <p:cNvPicPr>
            <a:picLocks noChangeAspect="1"/>
          </p:cNvPicPr>
          <p:nvPr/>
        </p:nvPicPr>
        <p:blipFill>
          <a:blip r:embed="rId1"/>
          <a:stretch>
            <a:fillRect/>
          </a:stretch>
        </p:blipFill>
        <p:spPr>
          <a:xfrm>
            <a:off x="891540" y="1760220"/>
            <a:ext cx="320040" cy="320040"/>
          </a:xfrm>
          <a:prstGeom prst="rect">
            <a:avLst/>
          </a:prstGeom>
        </p:spPr>
      </p:pic>
      <p:sp>
        <p:nvSpPr>
          <p:cNvPr id="7" name="Text 4"/>
          <p:cNvSpPr txBox="1"/>
          <p:nvPr/>
        </p:nvSpPr>
        <p:spPr>
          <a:xfrm>
            <a:off x="3079394" y="1554480"/>
            <a:ext cx="777240" cy="548640"/>
          </a:xfrm>
          <a:prstGeom prst="rect">
            <a:avLst/>
          </a:prstGeom>
          <a:noFill/>
          <a:ln/>
        </p:spPr>
        <p:txBody>
          <a:bodyPr wrap="square" lIns="0" tIns="0" rIns="0" bIns="0" rtlCol="0" anchor="ctr"/>
          <a:lstStyle/>
          <a:p>
            <a:pPr algn="r" indent="0" marL="0">
              <a:buNone/>
            </a:pPr>
            <a:r>
              <a:rPr lang="en-US" sz="3000" b="1" dirty="0">
                <a:solidFill>
                  <a:srgbClr val="C9D3D0"/>
                </a:solidFill>
                <a:latin typeface="Cambria" pitchFamily="34" charset="0"/>
                <a:ea typeface="Cambria" pitchFamily="34" charset="-122"/>
                <a:cs typeface="Cambria" pitchFamily="34" charset="-120"/>
              </a:rPr>
              <a:t>01</a:t>
            </a:r>
            <a:endParaRPr lang="en-US" sz="3000" dirty="0"/>
          </a:p>
        </p:txBody>
      </p:sp>
      <p:sp>
        <p:nvSpPr>
          <p:cNvPr id="8" name="Text 5"/>
          <p:cNvSpPr txBox="1"/>
          <p:nvPr/>
        </p:nvSpPr>
        <p:spPr>
          <a:xfrm>
            <a:off x="731520" y="2377440"/>
            <a:ext cx="3125114" cy="365760"/>
          </a:xfrm>
          <a:prstGeom prst="rect">
            <a:avLst/>
          </a:prstGeom>
          <a:noFill/>
          <a:ln/>
        </p:spPr>
        <p:txBody>
          <a:bodyPr wrap="square" lIns="0" tIns="0" rIns="0" bIns="0" rtlCol="0" anchor="ctr"/>
          <a:lstStyle/>
          <a:p>
            <a:pPr indent="0" marL="0">
              <a:buNone/>
            </a:pPr>
            <a:r>
              <a:rPr lang="en-US" sz="1800" b="1" dirty="0">
                <a:solidFill>
                  <a:srgbClr val="1F2A37"/>
                </a:solidFill>
                <a:latin typeface="Calibri" pitchFamily="34" charset="0"/>
                <a:ea typeface="Calibri" pitchFamily="34" charset="-122"/>
                <a:cs typeface="Calibri" pitchFamily="34" charset="-120"/>
              </a:rPr>
              <a:t>Generate</a:t>
            </a:r>
            <a:endParaRPr lang="en-US" sz="1800" dirty="0"/>
          </a:p>
        </p:txBody>
      </p:sp>
      <p:sp>
        <p:nvSpPr>
          <p:cNvPr id="9" name="Text 6"/>
          <p:cNvSpPr txBox="1"/>
          <p:nvPr/>
        </p:nvSpPr>
        <p:spPr>
          <a:xfrm>
            <a:off x="731520" y="2788920"/>
            <a:ext cx="3125114" cy="1600200"/>
          </a:xfrm>
          <a:prstGeom prst="rect">
            <a:avLst/>
          </a:prstGeom>
          <a:noFill/>
          <a:ln/>
        </p:spPr>
        <p:txBody>
          <a:bodyPr wrap="square" lIns="0" tIns="0" rIns="0" bIns="0" rtlCol="0" anchor="t"/>
          <a:lstStyle/>
          <a:p>
            <a:pPr indent="0" marL="0">
              <a:buNone/>
            </a:pPr>
            <a:r>
              <a:rPr lang="en-US" sz="1250" dirty="0">
                <a:solidFill>
                  <a:srgbClr val="1F2A37"/>
                </a:solidFill>
                <a:latin typeface="Calibri" pitchFamily="34" charset="0"/>
                <a:ea typeface="Calibri" pitchFamily="34" charset="-122"/>
                <a:cs typeface="Calibri" pitchFamily="34" charset="-120"/>
              </a:rPr>
              <a:t>Attach the intake, the sources and any reviewer comments, and say “Generate the storyboard.” The result is a Developer Ready storyboard in the locked format, with every unresolved item assigned to an owner.</a:t>
            </a:r>
            <a:endParaRPr lang="en-US" sz="1250" dirty="0"/>
          </a:p>
        </p:txBody>
      </p:sp>
      <p:sp>
        <p:nvSpPr>
          <p:cNvPr id="10" name="Shape 7"/>
          <p:cNvSpPr/>
          <p:nvPr/>
        </p:nvSpPr>
        <p:spPr>
          <a:xfrm>
            <a:off x="731520" y="4480560"/>
            <a:ext cx="1356817" cy="1188720"/>
          </a:xfrm>
          <a:prstGeom prst="roundRect">
            <a:avLst>
              <a:gd name="adj" fmla="val 4615"/>
            </a:avLst>
          </a:prstGeom>
          <a:solidFill>
            <a:srgbClr val="FFFFFF"/>
          </a:solidFill>
          <a:ln w="9525">
            <a:solidFill>
              <a:srgbClr val="D9DDD6"/>
            </a:solidFill>
            <a:prstDash val="solid"/>
          </a:ln>
        </p:spPr>
      </p:sp>
      <p:sp>
        <p:nvSpPr>
          <p:cNvPr id="11" name="Shape 8"/>
          <p:cNvSpPr/>
          <p:nvPr/>
        </p:nvSpPr>
        <p:spPr>
          <a:xfrm>
            <a:off x="2499817" y="4480560"/>
            <a:ext cx="1356817" cy="1188720"/>
          </a:xfrm>
          <a:prstGeom prst="roundRect">
            <a:avLst>
              <a:gd name="adj" fmla="val 4615"/>
            </a:avLst>
          </a:prstGeom>
          <a:solidFill>
            <a:srgbClr val="DCE7E3"/>
          </a:solidFill>
          <a:ln w="12700">
            <a:solidFill>
              <a:srgbClr val="DCE7E3"/>
            </a:solidFill>
            <a:prstDash val="solid"/>
          </a:ln>
        </p:spPr>
      </p:sp>
      <p:sp>
        <p:nvSpPr>
          <p:cNvPr id="12" name="Shape 9"/>
          <p:cNvSpPr/>
          <p:nvPr/>
        </p:nvSpPr>
        <p:spPr>
          <a:xfrm>
            <a:off x="2161489" y="4965192"/>
            <a:ext cx="265176" cy="219456"/>
          </a:xfrm>
          <a:prstGeom prst="rightArrow">
            <a:avLst/>
          </a:prstGeom>
          <a:solidFill>
            <a:srgbClr val="1B6B78"/>
          </a:solidFill>
          <a:ln w="12700">
            <a:solidFill>
              <a:srgbClr val="1B6B78"/>
            </a:solidFill>
            <a:prstDash val="solid"/>
          </a:ln>
        </p:spPr>
      </p:sp>
      <p:sp>
        <p:nvSpPr>
          <p:cNvPr id="13" name="Text 10"/>
          <p:cNvSpPr txBox="1"/>
          <p:nvPr/>
        </p:nvSpPr>
        <p:spPr>
          <a:xfrm>
            <a:off x="822960" y="4553712"/>
            <a:ext cx="1173937" cy="1042416"/>
          </a:xfrm>
          <a:prstGeom prst="rect">
            <a:avLst/>
          </a:prstGeom>
          <a:noFill/>
          <a:ln/>
        </p:spPr>
        <p:txBody>
          <a:bodyPr wrap="square" lIns="0" tIns="0" rIns="0" bIns="0" rtlCol="0" anchor="t"/>
          <a:lstStyle/>
          <a:p>
            <a:pPr indent="0" marL="0">
              <a:buNone/>
            </a:pPr>
            <a:r>
              <a:rPr lang="en-US" sz="900" b="1" dirty="0">
                <a:solidFill>
                  <a:srgbClr val="5B6770"/>
                </a:solidFill>
                <a:latin typeface="Calibri" pitchFamily="34" charset="0"/>
                <a:ea typeface="Calibri" pitchFamily="34" charset="-122"/>
                <a:cs typeface="Calibri" pitchFamily="34" charset="-120"/>
              </a:rPr>
              <a:t>Before</a:t>
            </a:r>
            <a:endParaRPr lang="en-US" sz="900" dirty="0"/>
          </a:p>
          <a:p>
            <a:pPr indent="0" marL="0">
              <a:buNone/>
            </a:pPr>
            <a:r>
              <a:rPr lang="en-US" sz="1050" dirty="0">
                <a:solidFill>
                  <a:srgbClr val="1F2A37"/>
                </a:solidFill>
                <a:latin typeface="Calibri" pitchFamily="34" charset="0"/>
                <a:ea typeface="Calibri" pitchFamily="34" charset="-122"/>
                <a:cs typeface="Calibri" pitchFamily="34" charset="-120"/>
              </a:rPr>
              <a:t>Intake, sources, review comments</a:t>
            </a:r>
            <a:endParaRPr lang="en-US" sz="900" dirty="0"/>
          </a:p>
        </p:txBody>
      </p:sp>
      <p:sp>
        <p:nvSpPr>
          <p:cNvPr id="14" name="Text 11"/>
          <p:cNvSpPr txBox="1"/>
          <p:nvPr/>
        </p:nvSpPr>
        <p:spPr>
          <a:xfrm>
            <a:off x="2591257" y="4553712"/>
            <a:ext cx="1173937" cy="1042416"/>
          </a:xfrm>
          <a:prstGeom prst="rect">
            <a:avLst/>
          </a:prstGeom>
          <a:noFill/>
          <a:ln/>
        </p:spPr>
        <p:txBody>
          <a:bodyPr wrap="square" lIns="0" tIns="0" rIns="0" bIns="0" rtlCol="0" anchor="t"/>
          <a:lstStyle/>
          <a:p>
            <a:pPr indent="0" marL="0">
              <a:buNone/>
            </a:pPr>
            <a:r>
              <a:rPr lang="en-US" sz="900" b="1" dirty="0">
                <a:solidFill>
                  <a:srgbClr val="155E68"/>
                </a:solidFill>
                <a:latin typeface="Calibri" pitchFamily="34" charset="0"/>
                <a:ea typeface="Calibri" pitchFamily="34" charset="-122"/>
                <a:cs typeface="Calibri" pitchFamily="34" charset="-120"/>
              </a:rPr>
              <a:t>After</a:t>
            </a:r>
            <a:endParaRPr lang="en-US" sz="900" dirty="0"/>
          </a:p>
          <a:p>
            <a:pPr indent="0" marL="0">
              <a:buNone/>
            </a:pPr>
            <a:r>
              <a:rPr lang="en-US" sz="1050" dirty="0">
                <a:solidFill>
                  <a:srgbClr val="1F2A37"/>
                </a:solidFill>
                <a:latin typeface="Calibri" pitchFamily="34" charset="0"/>
                <a:ea typeface="Calibri" pitchFamily="34" charset="-122"/>
                <a:cs typeface="Calibri" pitchFamily="34" charset="-120"/>
              </a:rPr>
              <a:t>A Developer Ready storyboard in the locked format</a:t>
            </a:r>
            <a:endParaRPr lang="en-US" sz="900" dirty="0"/>
          </a:p>
        </p:txBody>
      </p:sp>
      <p:sp>
        <p:nvSpPr>
          <p:cNvPr id="15" name="Shape 12"/>
          <p:cNvSpPr/>
          <p:nvPr/>
        </p:nvSpPr>
        <p:spPr>
          <a:xfrm>
            <a:off x="4304690" y="1371600"/>
            <a:ext cx="3582314" cy="4572000"/>
          </a:xfrm>
          <a:prstGeom prst="roundRect">
            <a:avLst>
              <a:gd name="adj" fmla="val 3063"/>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16" name="Shape 13"/>
          <p:cNvSpPr/>
          <p:nvPr/>
        </p:nvSpPr>
        <p:spPr>
          <a:xfrm>
            <a:off x="4533290" y="1600200"/>
            <a:ext cx="640080" cy="640080"/>
          </a:xfrm>
          <a:prstGeom prst="ellipse">
            <a:avLst/>
          </a:prstGeom>
          <a:solidFill>
            <a:srgbClr val="F08A00"/>
          </a:solidFill>
          <a:ln w="12700">
            <a:solidFill>
              <a:srgbClr val="F08A00"/>
            </a:solidFill>
            <a:prstDash val="solid"/>
          </a:ln>
        </p:spPr>
      </p:sp>
      <p:pic>
        <p:nvPicPr>
          <p:cNvPr id="17" name="Image 1" descr="preencoded.png">    </p:cNvPr>
          <p:cNvPicPr>
            <a:picLocks noChangeAspect="1"/>
          </p:cNvPicPr>
          <p:nvPr/>
        </p:nvPicPr>
        <p:blipFill>
          <a:blip r:embed="rId2"/>
          <a:stretch>
            <a:fillRect/>
          </a:stretch>
        </p:blipFill>
        <p:spPr>
          <a:xfrm>
            <a:off x="4693310" y="1760220"/>
            <a:ext cx="320040" cy="320040"/>
          </a:xfrm>
          <a:prstGeom prst="rect">
            <a:avLst/>
          </a:prstGeom>
        </p:spPr>
      </p:pic>
      <p:sp>
        <p:nvSpPr>
          <p:cNvPr id="18" name="Text 14"/>
          <p:cNvSpPr txBox="1"/>
          <p:nvPr/>
        </p:nvSpPr>
        <p:spPr>
          <a:xfrm>
            <a:off x="6881165" y="1554480"/>
            <a:ext cx="777240" cy="548640"/>
          </a:xfrm>
          <a:prstGeom prst="rect">
            <a:avLst/>
          </a:prstGeom>
          <a:noFill/>
          <a:ln/>
        </p:spPr>
        <p:txBody>
          <a:bodyPr wrap="square" lIns="0" tIns="0" rIns="0" bIns="0" rtlCol="0" anchor="ctr"/>
          <a:lstStyle/>
          <a:p>
            <a:pPr algn="r" indent="0" marL="0">
              <a:buNone/>
            </a:pPr>
            <a:r>
              <a:rPr lang="en-US" sz="3000" b="1" dirty="0">
                <a:solidFill>
                  <a:srgbClr val="C9D3D0"/>
                </a:solidFill>
                <a:latin typeface="Cambria" pitchFamily="34" charset="0"/>
                <a:ea typeface="Cambria" pitchFamily="34" charset="-122"/>
                <a:cs typeface="Cambria" pitchFamily="34" charset="-120"/>
              </a:rPr>
              <a:t>02</a:t>
            </a:r>
            <a:endParaRPr lang="en-US" sz="3000" dirty="0"/>
          </a:p>
        </p:txBody>
      </p:sp>
      <p:sp>
        <p:nvSpPr>
          <p:cNvPr id="19" name="Text 15"/>
          <p:cNvSpPr txBox="1"/>
          <p:nvPr/>
        </p:nvSpPr>
        <p:spPr>
          <a:xfrm>
            <a:off x="4533290" y="2377440"/>
            <a:ext cx="3125114" cy="365760"/>
          </a:xfrm>
          <a:prstGeom prst="rect">
            <a:avLst/>
          </a:prstGeom>
          <a:noFill/>
          <a:ln/>
        </p:spPr>
        <p:txBody>
          <a:bodyPr wrap="square" lIns="0" tIns="0" rIns="0" bIns="0" rtlCol="0" anchor="ctr"/>
          <a:lstStyle/>
          <a:p>
            <a:pPr indent="0" marL="0">
              <a:buNone/>
            </a:pPr>
            <a:r>
              <a:rPr lang="en-US" sz="1800" b="1" dirty="0">
                <a:solidFill>
                  <a:srgbClr val="1F2A37"/>
                </a:solidFill>
                <a:latin typeface="Calibri" pitchFamily="34" charset="0"/>
                <a:ea typeface="Calibri" pitchFamily="34" charset="-122"/>
                <a:cs typeface="Calibri" pitchFamily="34" charset="-120"/>
              </a:rPr>
              <a:t>Standardize</a:t>
            </a:r>
            <a:endParaRPr lang="en-US" sz="1800" dirty="0"/>
          </a:p>
        </p:txBody>
      </p:sp>
      <p:sp>
        <p:nvSpPr>
          <p:cNvPr id="20" name="Text 16"/>
          <p:cNvSpPr txBox="1"/>
          <p:nvPr/>
        </p:nvSpPr>
        <p:spPr>
          <a:xfrm>
            <a:off x="4533290" y="2788920"/>
            <a:ext cx="3125114" cy="1600200"/>
          </a:xfrm>
          <a:prstGeom prst="rect">
            <a:avLst/>
          </a:prstGeom>
          <a:noFill/>
          <a:ln/>
        </p:spPr>
        <p:txBody>
          <a:bodyPr wrap="square" lIns="0" tIns="0" rIns="0" bIns="0" rtlCol="0" anchor="t"/>
          <a:lstStyle/>
          <a:p>
            <a:pPr indent="0" marL="0">
              <a:buNone/>
            </a:pPr>
            <a:r>
              <a:rPr lang="en-US" sz="1250" dirty="0">
                <a:solidFill>
                  <a:srgbClr val="1F2A37"/>
                </a:solidFill>
                <a:latin typeface="Calibri" pitchFamily="34" charset="0"/>
                <a:ea typeface="Calibri" pitchFamily="34" charset="-122"/>
                <a:cs typeface="Calibri" pitchFamily="34" charset="-120"/>
              </a:rPr>
              <a:t>The template and the writing standard are built into every run. Nobody has to remember to follow the format; it is already there. Individual judgement stays where it belongs: in the design decisions, not in the shape of the document.</a:t>
            </a:r>
            <a:endParaRPr lang="en-US" sz="1250" dirty="0"/>
          </a:p>
        </p:txBody>
      </p:sp>
      <p:sp>
        <p:nvSpPr>
          <p:cNvPr id="21" name="Shape 17"/>
          <p:cNvSpPr/>
          <p:nvPr/>
        </p:nvSpPr>
        <p:spPr>
          <a:xfrm>
            <a:off x="4533290" y="4480560"/>
            <a:ext cx="1356817" cy="1188720"/>
          </a:xfrm>
          <a:prstGeom prst="roundRect">
            <a:avLst>
              <a:gd name="adj" fmla="val 4615"/>
            </a:avLst>
          </a:prstGeom>
          <a:solidFill>
            <a:srgbClr val="FFFFFF"/>
          </a:solidFill>
          <a:ln w="9525">
            <a:solidFill>
              <a:srgbClr val="D9DDD6"/>
            </a:solidFill>
            <a:prstDash val="solid"/>
          </a:ln>
        </p:spPr>
      </p:sp>
      <p:sp>
        <p:nvSpPr>
          <p:cNvPr id="22" name="Shape 18"/>
          <p:cNvSpPr/>
          <p:nvPr/>
        </p:nvSpPr>
        <p:spPr>
          <a:xfrm>
            <a:off x="6301588" y="4480560"/>
            <a:ext cx="1356817" cy="1188720"/>
          </a:xfrm>
          <a:prstGeom prst="roundRect">
            <a:avLst>
              <a:gd name="adj" fmla="val 4615"/>
            </a:avLst>
          </a:prstGeom>
          <a:solidFill>
            <a:srgbClr val="DCE7E3"/>
          </a:solidFill>
          <a:ln w="12700">
            <a:solidFill>
              <a:srgbClr val="DCE7E3"/>
            </a:solidFill>
            <a:prstDash val="solid"/>
          </a:ln>
        </p:spPr>
      </p:sp>
      <p:sp>
        <p:nvSpPr>
          <p:cNvPr id="23" name="Shape 19"/>
          <p:cNvSpPr/>
          <p:nvPr/>
        </p:nvSpPr>
        <p:spPr>
          <a:xfrm>
            <a:off x="5963260" y="4965192"/>
            <a:ext cx="265176" cy="219456"/>
          </a:xfrm>
          <a:prstGeom prst="rightArrow">
            <a:avLst/>
          </a:prstGeom>
          <a:solidFill>
            <a:srgbClr val="1B6B78"/>
          </a:solidFill>
          <a:ln w="12700">
            <a:solidFill>
              <a:srgbClr val="1B6B78"/>
            </a:solidFill>
            <a:prstDash val="solid"/>
          </a:ln>
        </p:spPr>
      </p:sp>
      <p:sp>
        <p:nvSpPr>
          <p:cNvPr id="24" name="Text 20"/>
          <p:cNvSpPr txBox="1"/>
          <p:nvPr/>
        </p:nvSpPr>
        <p:spPr>
          <a:xfrm>
            <a:off x="4624730" y="4553712"/>
            <a:ext cx="1173937" cy="1042416"/>
          </a:xfrm>
          <a:prstGeom prst="rect">
            <a:avLst/>
          </a:prstGeom>
          <a:noFill/>
          <a:ln/>
        </p:spPr>
        <p:txBody>
          <a:bodyPr wrap="square" lIns="0" tIns="0" rIns="0" bIns="0" rtlCol="0" anchor="t"/>
          <a:lstStyle/>
          <a:p>
            <a:pPr indent="0" marL="0">
              <a:buNone/>
            </a:pPr>
            <a:r>
              <a:rPr lang="en-US" sz="900" b="1" dirty="0">
                <a:solidFill>
                  <a:srgbClr val="5B6770"/>
                </a:solidFill>
                <a:latin typeface="Calibri" pitchFamily="34" charset="0"/>
                <a:ea typeface="Calibri" pitchFamily="34" charset="-122"/>
                <a:cs typeface="Calibri" pitchFamily="34" charset="-120"/>
              </a:rPr>
              <a:t>Before</a:t>
            </a:r>
            <a:endParaRPr lang="en-US" sz="900" dirty="0"/>
          </a:p>
          <a:p>
            <a:pPr indent="0" marL="0">
              <a:buNone/>
            </a:pPr>
            <a:r>
              <a:rPr lang="en-US" sz="1050" dirty="0">
                <a:solidFill>
                  <a:srgbClr val="1F2A37"/>
                </a:solidFill>
                <a:latin typeface="Calibri" pitchFamily="34" charset="0"/>
                <a:ea typeface="Calibri" pitchFamily="34" charset="-122"/>
                <a:cs typeface="Calibri" pitchFamily="34" charset="-120"/>
              </a:rPr>
              <a:t>Six personal templates, uneven compliance</a:t>
            </a:r>
            <a:endParaRPr lang="en-US" sz="900" dirty="0"/>
          </a:p>
        </p:txBody>
      </p:sp>
      <p:sp>
        <p:nvSpPr>
          <p:cNvPr id="25" name="Text 21"/>
          <p:cNvSpPr txBox="1"/>
          <p:nvPr/>
        </p:nvSpPr>
        <p:spPr>
          <a:xfrm>
            <a:off x="6393028" y="4553712"/>
            <a:ext cx="1173937" cy="1042416"/>
          </a:xfrm>
          <a:prstGeom prst="rect">
            <a:avLst/>
          </a:prstGeom>
          <a:noFill/>
          <a:ln/>
        </p:spPr>
        <p:txBody>
          <a:bodyPr wrap="square" lIns="0" tIns="0" rIns="0" bIns="0" rtlCol="0" anchor="t"/>
          <a:lstStyle/>
          <a:p>
            <a:pPr indent="0" marL="0">
              <a:buNone/>
            </a:pPr>
            <a:r>
              <a:rPr lang="en-US" sz="900" b="1" dirty="0">
                <a:solidFill>
                  <a:srgbClr val="155E68"/>
                </a:solidFill>
                <a:latin typeface="Calibri" pitchFamily="34" charset="0"/>
                <a:ea typeface="Calibri" pitchFamily="34" charset="-122"/>
                <a:cs typeface="Calibri" pitchFamily="34" charset="-120"/>
              </a:rPr>
              <a:t>After</a:t>
            </a:r>
            <a:endParaRPr lang="en-US" sz="900" dirty="0"/>
          </a:p>
          <a:p>
            <a:pPr indent="0" marL="0">
              <a:buNone/>
            </a:pPr>
            <a:r>
              <a:rPr lang="en-US" sz="1050" dirty="0">
                <a:solidFill>
                  <a:srgbClr val="1F2A37"/>
                </a:solidFill>
                <a:latin typeface="Calibri" pitchFamily="34" charset="0"/>
                <a:ea typeface="Calibri" pitchFamily="34" charset="-122"/>
                <a:cs typeface="Calibri" pitchFamily="34" charset="-120"/>
              </a:rPr>
              <a:t>One template on every storyboard, by default</a:t>
            </a:r>
            <a:endParaRPr lang="en-US" sz="900" dirty="0"/>
          </a:p>
        </p:txBody>
      </p:sp>
      <p:sp>
        <p:nvSpPr>
          <p:cNvPr id="26" name="Shape 22"/>
          <p:cNvSpPr/>
          <p:nvPr/>
        </p:nvSpPr>
        <p:spPr>
          <a:xfrm>
            <a:off x="8106461" y="1371600"/>
            <a:ext cx="3582314" cy="4572000"/>
          </a:xfrm>
          <a:prstGeom prst="roundRect">
            <a:avLst>
              <a:gd name="adj" fmla="val 3063"/>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27" name="Shape 23"/>
          <p:cNvSpPr/>
          <p:nvPr/>
        </p:nvSpPr>
        <p:spPr>
          <a:xfrm>
            <a:off x="8335061" y="1600200"/>
            <a:ext cx="640080" cy="640080"/>
          </a:xfrm>
          <a:prstGeom prst="ellipse">
            <a:avLst/>
          </a:prstGeom>
          <a:solidFill>
            <a:srgbClr val="1B6B78"/>
          </a:solidFill>
          <a:ln w="12700">
            <a:solidFill>
              <a:srgbClr val="1B6B78"/>
            </a:solidFill>
            <a:prstDash val="solid"/>
          </a:ln>
        </p:spPr>
      </p:sp>
      <p:pic>
        <p:nvPicPr>
          <p:cNvPr id="28" name="Image 2" descr="preencoded.png">    </p:cNvPr>
          <p:cNvPicPr>
            <a:picLocks noChangeAspect="1"/>
          </p:cNvPicPr>
          <p:nvPr/>
        </p:nvPicPr>
        <p:blipFill>
          <a:blip r:embed="rId3"/>
          <a:stretch>
            <a:fillRect/>
          </a:stretch>
        </p:blipFill>
        <p:spPr>
          <a:xfrm>
            <a:off x="8495081" y="1760220"/>
            <a:ext cx="320040" cy="320040"/>
          </a:xfrm>
          <a:prstGeom prst="rect">
            <a:avLst/>
          </a:prstGeom>
        </p:spPr>
      </p:pic>
      <p:sp>
        <p:nvSpPr>
          <p:cNvPr id="29" name="Text 24"/>
          <p:cNvSpPr txBox="1"/>
          <p:nvPr/>
        </p:nvSpPr>
        <p:spPr>
          <a:xfrm>
            <a:off x="10682935" y="1554480"/>
            <a:ext cx="777240" cy="548640"/>
          </a:xfrm>
          <a:prstGeom prst="rect">
            <a:avLst/>
          </a:prstGeom>
          <a:noFill/>
          <a:ln/>
        </p:spPr>
        <p:txBody>
          <a:bodyPr wrap="square" lIns="0" tIns="0" rIns="0" bIns="0" rtlCol="0" anchor="ctr"/>
          <a:lstStyle/>
          <a:p>
            <a:pPr algn="r" indent="0" marL="0">
              <a:buNone/>
            </a:pPr>
            <a:r>
              <a:rPr lang="en-US" sz="3000" b="1" dirty="0">
                <a:solidFill>
                  <a:srgbClr val="C9D3D0"/>
                </a:solidFill>
                <a:latin typeface="Cambria" pitchFamily="34" charset="0"/>
                <a:ea typeface="Cambria" pitchFamily="34" charset="-122"/>
                <a:cs typeface="Cambria" pitchFamily="34" charset="-120"/>
              </a:rPr>
              <a:t>03</a:t>
            </a:r>
            <a:endParaRPr lang="en-US" sz="3000" dirty="0"/>
          </a:p>
        </p:txBody>
      </p:sp>
      <p:sp>
        <p:nvSpPr>
          <p:cNvPr id="30" name="Text 25"/>
          <p:cNvSpPr txBox="1"/>
          <p:nvPr/>
        </p:nvSpPr>
        <p:spPr>
          <a:xfrm>
            <a:off x="8335061" y="2377440"/>
            <a:ext cx="3125114" cy="365760"/>
          </a:xfrm>
          <a:prstGeom prst="rect">
            <a:avLst/>
          </a:prstGeom>
          <a:noFill/>
          <a:ln/>
        </p:spPr>
        <p:txBody>
          <a:bodyPr wrap="square" lIns="0" tIns="0" rIns="0" bIns="0" rtlCol="0" anchor="ctr"/>
          <a:lstStyle/>
          <a:p>
            <a:pPr indent="0" marL="0">
              <a:buNone/>
            </a:pPr>
            <a:r>
              <a:rPr lang="en-US" sz="1800" b="1" dirty="0">
                <a:solidFill>
                  <a:srgbClr val="1F2A37"/>
                </a:solidFill>
                <a:latin typeface="Calibri" pitchFamily="34" charset="0"/>
                <a:ea typeface="Calibri" pitchFamily="34" charset="-122"/>
                <a:cs typeface="Calibri" pitchFamily="34" charset="-120"/>
              </a:rPr>
              <a:t>Convert</a:t>
            </a:r>
            <a:endParaRPr lang="en-US" sz="1800" dirty="0"/>
          </a:p>
        </p:txBody>
      </p:sp>
      <p:sp>
        <p:nvSpPr>
          <p:cNvPr id="31" name="Text 26"/>
          <p:cNvSpPr txBox="1"/>
          <p:nvPr/>
        </p:nvSpPr>
        <p:spPr>
          <a:xfrm>
            <a:off x="8335061" y="2788920"/>
            <a:ext cx="3125114" cy="1600200"/>
          </a:xfrm>
          <a:prstGeom prst="rect">
            <a:avLst/>
          </a:prstGeom>
          <a:noFill/>
          <a:ln/>
        </p:spPr>
        <p:txBody>
          <a:bodyPr wrap="square" lIns="0" tIns="0" rIns="0" bIns="0" rtlCol="0" anchor="t"/>
          <a:lstStyle/>
          <a:p>
            <a:pPr indent="0" marL="0">
              <a:buNone/>
            </a:pPr>
            <a:r>
              <a:rPr lang="en-US" sz="1250" dirty="0">
                <a:solidFill>
                  <a:srgbClr val="1F2A37"/>
                </a:solidFill>
                <a:latin typeface="Calibri" pitchFamily="34" charset="0"/>
                <a:ea typeface="Calibri" pitchFamily="34" charset="-122"/>
                <a:cs typeface="Calibri" pitchFamily="34" charset="-120"/>
              </a:rPr>
              <a:t>A storyboard or standard from another unit, in any format, is rebuilt in the LSC format that the developers accept. The same rules apply, so a converted storyboard is checked like one of ours.</a:t>
            </a:r>
            <a:endParaRPr lang="en-US" sz="1250" dirty="0"/>
          </a:p>
        </p:txBody>
      </p:sp>
      <p:sp>
        <p:nvSpPr>
          <p:cNvPr id="32" name="Shape 27"/>
          <p:cNvSpPr/>
          <p:nvPr/>
        </p:nvSpPr>
        <p:spPr>
          <a:xfrm>
            <a:off x="8335061" y="4480560"/>
            <a:ext cx="1356817" cy="1188720"/>
          </a:xfrm>
          <a:prstGeom prst="roundRect">
            <a:avLst>
              <a:gd name="adj" fmla="val 4615"/>
            </a:avLst>
          </a:prstGeom>
          <a:solidFill>
            <a:srgbClr val="FFFFFF"/>
          </a:solidFill>
          <a:ln w="9525">
            <a:solidFill>
              <a:srgbClr val="D9DDD6"/>
            </a:solidFill>
            <a:prstDash val="solid"/>
          </a:ln>
        </p:spPr>
      </p:sp>
      <p:sp>
        <p:nvSpPr>
          <p:cNvPr id="33" name="Shape 28"/>
          <p:cNvSpPr/>
          <p:nvPr/>
        </p:nvSpPr>
        <p:spPr>
          <a:xfrm>
            <a:off x="10103358" y="4480560"/>
            <a:ext cx="1356817" cy="1188720"/>
          </a:xfrm>
          <a:prstGeom prst="roundRect">
            <a:avLst>
              <a:gd name="adj" fmla="val 4615"/>
            </a:avLst>
          </a:prstGeom>
          <a:solidFill>
            <a:srgbClr val="DCE7E3"/>
          </a:solidFill>
          <a:ln w="12700">
            <a:solidFill>
              <a:srgbClr val="DCE7E3"/>
            </a:solidFill>
            <a:prstDash val="solid"/>
          </a:ln>
        </p:spPr>
      </p:sp>
      <p:sp>
        <p:nvSpPr>
          <p:cNvPr id="34" name="Shape 29"/>
          <p:cNvSpPr/>
          <p:nvPr/>
        </p:nvSpPr>
        <p:spPr>
          <a:xfrm>
            <a:off x="9765030" y="4965192"/>
            <a:ext cx="265176" cy="219456"/>
          </a:xfrm>
          <a:prstGeom prst="rightArrow">
            <a:avLst/>
          </a:prstGeom>
          <a:solidFill>
            <a:srgbClr val="1B6B78"/>
          </a:solidFill>
          <a:ln w="12700">
            <a:solidFill>
              <a:srgbClr val="1B6B78"/>
            </a:solidFill>
            <a:prstDash val="solid"/>
          </a:ln>
        </p:spPr>
      </p:sp>
      <p:sp>
        <p:nvSpPr>
          <p:cNvPr id="35" name="Text 30"/>
          <p:cNvSpPr txBox="1"/>
          <p:nvPr/>
        </p:nvSpPr>
        <p:spPr>
          <a:xfrm>
            <a:off x="8426501" y="4553712"/>
            <a:ext cx="1173937" cy="1042416"/>
          </a:xfrm>
          <a:prstGeom prst="rect">
            <a:avLst/>
          </a:prstGeom>
          <a:noFill/>
          <a:ln/>
        </p:spPr>
        <p:txBody>
          <a:bodyPr wrap="square" lIns="0" tIns="0" rIns="0" bIns="0" rtlCol="0" anchor="t"/>
          <a:lstStyle/>
          <a:p>
            <a:pPr indent="0" marL="0">
              <a:buNone/>
            </a:pPr>
            <a:r>
              <a:rPr lang="en-US" sz="900" b="1" dirty="0">
                <a:solidFill>
                  <a:srgbClr val="5B6770"/>
                </a:solidFill>
                <a:latin typeface="Calibri" pitchFamily="34" charset="0"/>
                <a:ea typeface="Calibri" pitchFamily="34" charset="-122"/>
                <a:cs typeface="Calibri" pitchFamily="34" charset="-120"/>
              </a:rPr>
              <a:t>Before</a:t>
            </a:r>
            <a:endParaRPr lang="en-US" sz="900" dirty="0"/>
          </a:p>
          <a:p>
            <a:pPr indent="0" marL="0">
              <a:buNone/>
            </a:pPr>
            <a:r>
              <a:rPr lang="en-US" sz="1050" dirty="0">
                <a:solidFill>
                  <a:srgbClr val="1F2A37"/>
                </a:solidFill>
                <a:latin typeface="Calibri" pitchFamily="34" charset="0"/>
                <a:ea typeface="Calibri" pitchFamily="34" charset="-122"/>
                <a:cs typeface="Calibri" pitchFamily="34" charset="-120"/>
              </a:rPr>
              <a:t>A partner unit's storyboard in its own format</a:t>
            </a:r>
            <a:endParaRPr lang="en-US" sz="900" dirty="0"/>
          </a:p>
        </p:txBody>
      </p:sp>
      <p:sp>
        <p:nvSpPr>
          <p:cNvPr id="36" name="Text 31"/>
          <p:cNvSpPr txBox="1"/>
          <p:nvPr/>
        </p:nvSpPr>
        <p:spPr>
          <a:xfrm>
            <a:off x="10194798" y="4553712"/>
            <a:ext cx="1173937" cy="1042416"/>
          </a:xfrm>
          <a:prstGeom prst="rect">
            <a:avLst/>
          </a:prstGeom>
          <a:noFill/>
          <a:ln/>
        </p:spPr>
        <p:txBody>
          <a:bodyPr wrap="square" lIns="0" tIns="0" rIns="0" bIns="0" rtlCol="0" anchor="t"/>
          <a:lstStyle/>
          <a:p>
            <a:pPr indent="0" marL="0">
              <a:buNone/>
            </a:pPr>
            <a:r>
              <a:rPr lang="en-US" sz="900" b="1" dirty="0">
                <a:solidFill>
                  <a:srgbClr val="155E68"/>
                </a:solidFill>
                <a:latin typeface="Calibri" pitchFamily="34" charset="0"/>
                <a:ea typeface="Calibri" pitchFamily="34" charset="-122"/>
                <a:cs typeface="Calibri" pitchFamily="34" charset="-120"/>
              </a:rPr>
              <a:t>After</a:t>
            </a:r>
            <a:endParaRPr lang="en-US" sz="900" dirty="0"/>
          </a:p>
          <a:p>
            <a:pPr indent="0" marL="0">
              <a:buNone/>
            </a:pPr>
            <a:r>
              <a:rPr lang="en-US" sz="1050" dirty="0">
                <a:solidFill>
                  <a:srgbClr val="1F2A37"/>
                </a:solidFill>
                <a:latin typeface="Calibri" pitchFamily="34" charset="0"/>
                <a:ea typeface="Calibri" pitchFamily="34" charset="-122"/>
                <a:cs typeface="Calibri" pitchFamily="34" charset="-120"/>
              </a:rPr>
              <a:t>The LSC storyboard the developers can build from</a:t>
            </a:r>
            <a:endParaRPr lang="en-US" sz="900" dirty="0"/>
          </a:p>
        </p:txBody>
      </p:sp>
      <p:sp>
        <p:nvSpPr>
          <p:cNvPr id="37" name="Text 32"/>
          <p:cNvSpPr txBox="1"/>
          <p:nvPr/>
        </p:nvSpPr>
        <p:spPr>
          <a:xfrm>
            <a:off x="502920" y="6455664"/>
            <a:ext cx="5486400" cy="237744"/>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LSC Learning Engineering Team  ·  AI Storyboarding</a:t>
            </a:r>
            <a:endParaRPr lang="en-US" sz="900" dirty="0"/>
          </a:p>
        </p:txBody>
      </p:sp>
      <p:sp>
        <p:nvSpPr>
          <p:cNvPr id="38" name="Text 33"/>
          <p:cNvSpPr txBox="1"/>
          <p:nvPr/>
        </p:nvSpPr>
        <p:spPr>
          <a:xfrm>
            <a:off x="11140135" y="6455664"/>
            <a:ext cx="548640" cy="237744"/>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658368"/>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Quality is governed by the people who review</a:t>
            </a:r>
            <a:endParaRPr lang="en-US" sz="3000" dirty="0"/>
          </a:p>
        </p:txBody>
      </p:sp>
      <p:sp>
        <p:nvSpPr>
          <p:cNvPr id="3" name="Text 1"/>
          <p:cNvSpPr txBox="1"/>
          <p:nvPr/>
        </p:nvSpPr>
        <p:spPr>
          <a:xfrm>
            <a:off x="502920" y="932688"/>
            <a:ext cx="11185855" cy="310896"/>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A polished sentence is not evidence of sound design. Failures must be observable, classified, and correctable.</a:t>
            </a:r>
            <a:endParaRPr lang="en-US" sz="1300" dirty="0"/>
          </a:p>
        </p:txBody>
      </p:sp>
      <p:sp>
        <p:nvSpPr>
          <p:cNvPr id="4" name="Shape 2"/>
          <p:cNvSpPr/>
          <p:nvPr/>
        </p:nvSpPr>
        <p:spPr>
          <a:xfrm>
            <a:off x="1371600" y="2103120"/>
            <a:ext cx="3383280" cy="3383280"/>
          </a:xfrm>
          <a:prstGeom prst="ellipse">
            <a:avLst/>
          </a:prstGeom>
          <a:solidFill>
            <a:srgbClr val="FCFCFA"/>
          </a:solidFill>
          <a:ln w="38100">
            <a:solidFill>
              <a:srgbClr val="B9C6C2"/>
            </a:solidFill>
            <a:prstDash val="solid"/>
          </a:ln>
        </p:spPr>
      </p:sp>
      <p:sp>
        <p:nvSpPr>
          <p:cNvPr id="5" name="Shape 3"/>
          <p:cNvSpPr/>
          <p:nvPr/>
        </p:nvSpPr>
        <p:spPr>
          <a:xfrm>
            <a:off x="2679192" y="3136392"/>
            <a:ext cx="768096" cy="768096"/>
          </a:xfrm>
          <a:prstGeom prst="ellipse">
            <a:avLst/>
          </a:prstGeom>
          <a:solidFill>
            <a:srgbClr val="DCE7E3"/>
          </a:solidFill>
          <a:ln w="12700">
            <a:solidFill>
              <a:srgbClr val="DCE7E3"/>
            </a:solidFill>
            <a:prstDash val="solid"/>
          </a:ln>
        </p:spPr>
      </p:sp>
      <p:pic>
        <p:nvPicPr>
          <p:cNvPr id="6" name="Image 0" descr="preencoded.png">    </p:cNvPr>
          <p:cNvPicPr>
            <a:picLocks noChangeAspect="1"/>
          </p:cNvPicPr>
          <p:nvPr/>
        </p:nvPicPr>
        <p:blipFill>
          <a:blip r:embed="rId1"/>
          <a:stretch>
            <a:fillRect/>
          </a:stretch>
        </p:blipFill>
        <p:spPr>
          <a:xfrm>
            <a:off x="2871216" y="3328416"/>
            <a:ext cx="384048" cy="384048"/>
          </a:xfrm>
          <a:prstGeom prst="rect">
            <a:avLst/>
          </a:prstGeom>
        </p:spPr>
      </p:pic>
      <p:sp>
        <p:nvSpPr>
          <p:cNvPr id="7" name="Text 4"/>
          <p:cNvSpPr txBox="1"/>
          <p:nvPr/>
        </p:nvSpPr>
        <p:spPr>
          <a:xfrm>
            <a:off x="2148840" y="3977640"/>
            <a:ext cx="1828800" cy="548640"/>
          </a:xfrm>
          <a:prstGeom prst="rect">
            <a:avLst/>
          </a:prstGeom>
          <a:noFill/>
          <a:ln/>
        </p:spPr>
        <p:txBody>
          <a:bodyPr wrap="square" lIns="0" tIns="0" rIns="0" bIns="0" rtlCol="0" anchor="ctr"/>
          <a:lstStyle/>
          <a:p>
            <a:pPr algn="ctr" indent="0" marL="0">
              <a:buNone/>
            </a:pPr>
            <a:r>
              <a:rPr lang="en-US" sz="1050" i="1" dirty="0">
                <a:solidFill>
                  <a:srgbClr val="5B6770"/>
                </a:solidFill>
                <a:latin typeface="Calibri" pitchFamily="34" charset="0"/>
                <a:ea typeface="Calibri" pitchFamily="34" charset="-122"/>
                <a:cs typeface="Calibri" pitchFamily="34" charset="-120"/>
              </a:rPr>
              <a:t>continuous</a:t>
            </a:r>
            <a:endParaRPr lang="en-US" sz="1050" dirty="0"/>
          </a:p>
          <a:p>
            <a:pPr algn="ctr" indent="0" marL="0">
              <a:buNone/>
            </a:pPr>
            <a:r>
              <a:rPr lang="en-US" sz="1050" i="1" dirty="0">
                <a:solidFill>
                  <a:srgbClr val="5B6770"/>
                </a:solidFill>
                <a:latin typeface="Calibri" pitchFamily="34" charset="0"/>
                <a:ea typeface="Calibri" pitchFamily="34" charset="-122"/>
                <a:cs typeface="Calibri" pitchFamily="34" charset="-120"/>
              </a:rPr>
              <a:t>improvement</a:t>
            </a:r>
            <a:endParaRPr lang="en-US" sz="1050" dirty="0"/>
          </a:p>
        </p:txBody>
      </p:sp>
      <p:sp>
        <p:nvSpPr>
          <p:cNvPr id="8" name="Shape 5"/>
          <p:cNvSpPr/>
          <p:nvPr/>
        </p:nvSpPr>
        <p:spPr>
          <a:xfrm>
            <a:off x="2286000" y="1819656"/>
            <a:ext cx="1554480" cy="566928"/>
          </a:xfrm>
          <a:prstGeom prst="roundRect">
            <a:avLst>
              <a:gd name="adj" fmla="val 16129"/>
            </a:avLst>
          </a:prstGeom>
          <a:solidFill>
            <a:srgbClr val="F08A00"/>
          </a:solidFill>
          <a:ln w="12700">
            <a:solidFill>
              <a:srgbClr val="F08A00"/>
            </a:solidFill>
            <a:prstDash val="solid"/>
          </a:ln>
          <a:effectLst>
            <a:outerShdw sx="100000" sy="100000" kx="0" ky="0" algn="bl" rotWithShape="0" blurRad="76200" dist="25400" dir="2700000">
              <a:srgbClr val="000000">
                <a:alpha val="16000"/>
              </a:srgbClr>
            </a:outerShdw>
          </a:effectLst>
        </p:spPr>
      </p:sp>
      <p:sp>
        <p:nvSpPr>
          <p:cNvPr id="9" name="Text 6"/>
          <p:cNvSpPr txBox="1"/>
          <p:nvPr/>
        </p:nvSpPr>
        <p:spPr>
          <a:xfrm>
            <a:off x="2359152" y="1819656"/>
            <a:ext cx="1408176"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a:t>
            </a:r>
            <a:pPr algn="ctr" indent="0" marL="0">
              <a:buNone/>
            </a:pPr>
            <a:r>
              <a:rPr lang="en-US" sz="1050" dirty="0">
                <a:solidFill>
                  <a:srgbClr val="FFFFFF"/>
                </a:solidFill>
                <a:latin typeface="Calibri" pitchFamily="34" charset="0"/>
                <a:ea typeface="Calibri" pitchFamily="34" charset="-122"/>
                <a:cs typeface="Calibri" pitchFamily="34" charset="-120"/>
              </a:rPr>
              <a:t>Reviewer comment</a:t>
            </a:r>
            <a:endParaRPr lang="en-US" sz="1050" dirty="0"/>
          </a:p>
        </p:txBody>
      </p:sp>
      <p:sp>
        <p:nvSpPr>
          <p:cNvPr id="10" name="Shape 7"/>
          <p:cNvSpPr/>
          <p:nvPr/>
        </p:nvSpPr>
        <p:spPr>
          <a:xfrm>
            <a:off x="3894845" y="2988550"/>
            <a:ext cx="1554480" cy="566928"/>
          </a:xfrm>
          <a:prstGeom prst="roundRect">
            <a:avLst>
              <a:gd name="adj" fmla="val 16129"/>
            </a:avLst>
          </a:prstGeom>
          <a:solidFill>
            <a:srgbClr val="1B6B78"/>
          </a:solidFill>
          <a:ln w="12700">
            <a:solidFill>
              <a:srgbClr val="1B6B78"/>
            </a:solidFill>
            <a:prstDash val="solid"/>
          </a:ln>
          <a:effectLst>
            <a:outerShdw sx="100000" sy="100000" kx="0" ky="0" algn="bl" rotWithShape="0" blurRad="76200" dist="25400" dir="2700000">
              <a:srgbClr val="000000">
                <a:alpha val="16000"/>
              </a:srgbClr>
            </a:outerShdw>
          </a:effectLst>
        </p:spPr>
      </p:sp>
      <p:sp>
        <p:nvSpPr>
          <p:cNvPr id="11" name="Text 8"/>
          <p:cNvSpPr txBox="1"/>
          <p:nvPr/>
        </p:nvSpPr>
        <p:spPr>
          <a:xfrm>
            <a:off x="3967997" y="2988550"/>
            <a:ext cx="1408176"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a:t>
            </a:r>
            <a:pPr algn="ctr" indent="0" marL="0">
              <a:buNone/>
            </a:pPr>
            <a:r>
              <a:rPr lang="en-US" sz="1050" dirty="0">
                <a:solidFill>
                  <a:srgbClr val="FFFFFF"/>
                </a:solidFill>
                <a:latin typeface="Calibri" pitchFamily="34" charset="0"/>
                <a:ea typeface="Calibri" pitchFamily="34" charset="-122"/>
                <a:cs typeface="Calibri" pitchFamily="34" charset="-120"/>
              </a:rPr>
              <a:t>Defect classified</a:t>
            </a:r>
            <a:endParaRPr lang="en-US" sz="1050" dirty="0"/>
          </a:p>
        </p:txBody>
      </p:sp>
      <p:sp>
        <p:nvSpPr>
          <p:cNvPr id="12" name="Shape 9"/>
          <p:cNvSpPr/>
          <p:nvPr/>
        </p:nvSpPr>
        <p:spPr>
          <a:xfrm>
            <a:off x="3280321" y="4879862"/>
            <a:ext cx="1554480" cy="566928"/>
          </a:xfrm>
          <a:prstGeom prst="roundRect">
            <a:avLst>
              <a:gd name="adj" fmla="val 16129"/>
            </a:avLst>
          </a:prstGeom>
          <a:solidFill>
            <a:srgbClr val="0B2A3B"/>
          </a:solidFill>
          <a:ln w="12700">
            <a:solidFill>
              <a:srgbClr val="0B2A3B"/>
            </a:solidFill>
            <a:prstDash val="solid"/>
          </a:ln>
          <a:effectLst>
            <a:outerShdw sx="100000" sy="100000" kx="0" ky="0" algn="bl" rotWithShape="0" blurRad="76200" dist="25400" dir="2700000">
              <a:srgbClr val="000000">
                <a:alpha val="16000"/>
              </a:srgbClr>
            </a:outerShdw>
          </a:effectLst>
        </p:spPr>
      </p:sp>
      <p:sp>
        <p:nvSpPr>
          <p:cNvPr id="13" name="Text 10"/>
          <p:cNvSpPr txBox="1"/>
          <p:nvPr/>
        </p:nvSpPr>
        <p:spPr>
          <a:xfrm>
            <a:off x="3353473" y="4879862"/>
            <a:ext cx="1408176" cy="566928"/>
          </a:xfrm>
          <a:prstGeom prst="rect">
            <a:avLst/>
          </a:prstGeom>
          <a:noFill/>
          <a:ln/>
        </p:spPr>
        <p:txBody>
          <a:bodyPr wrap="square" lIns="0" tIns="0" rIns="0" bIns="0" rtlCol="0" anchor="ctr"/>
          <a:lstStyle/>
          <a:p>
            <a:pPr algn="ctr" indent="0" marL="0">
              <a:buNone/>
            </a:pPr>
            <a:r>
              <a:rPr lang="en-US" sz="1050" b="1" dirty="0">
                <a:solidFill>
                  <a:srgbClr val="F5C518"/>
                </a:solidFill>
                <a:latin typeface="Calibri" pitchFamily="34" charset="0"/>
                <a:ea typeface="Calibri" pitchFamily="34" charset="-122"/>
                <a:cs typeface="Calibri" pitchFamily="34" charset="-120"/>
              </a:rPr>
              <a:t>3  </a:t>
            </a:r>
            <a:pPr algn="ctr" indent="0" marL="0">
              <a:buNone/>
            </a:pPr>
            <a:r>
              <a:rPr lang="en-US" sz="1050" dirty="0">
                <a:solidFill>
                  <a:srgbClr val="FFFFFF"/>
                </a:solidFill>
                <a:latin typeface="Calibri" pitchFamily="34" charset="0"/>
                <a:ea typeface="Calibri" pitchFamily="34" charset="-122"/>
                <a:cs typeface="Calibri" pitchFamily="34" charset="-120"/>
              </a:rPr>
              <a:t>Rule written into the prompt</a:t>
            </a:r>
            <a:endParaRPr lang="en-US" sz="1050" dirty="0"/>
          </a:p>
        </p:txBody>
      </p:sp>
      <p:sp>
        <p:nvSpPr>
          <p:cNvPr id="14" name="Shape 11"/>
          <p:cNvSpPr/>
          <p:nvPr/>
        </p:nvSpPr>
        <p:spPr>
          <a:xfrm>
            <a:off x="1291679" y="4879862"/>
            <a:ext cx="1554480" cy="566928"/>
          </a:xfrm>
          <a:prstGeom prst="roundRect">
            <a:avLst>
              <a:gd name="adj" fmla="val 16129"/>
            </a:avLst>
          </a:prstGeom>
          <a:solidFill>
            <a:srgbClr val="1B6B78"/>
          </a:solidFill>
          <a:ln w="12700">
            <a:solidFill>
              <a:srgbClr val="1B6B78"/>
            </a:solidFill>
            <a:prstDash val="solid"/>
          </a:ln>
          <a:effectLst>
            <a:outerShdw sx="100000" sy="100000" kx="0" ky="0" algn="bl" rotWithShape="0" blurRad="76200" dist="25400" dir="2700000">
              <a:srgbClr val="000000">
                <a:alpha val="16000"/>
              </a:srgbClr>
            </a:outerShdw>
          </a:effectLst>
        </p:spPr>
      </p:sp>
      <p:sp>
        <p:nvSpPr>
          <p:cNvPr id="15" name="Text 12"/>
          <p:cNvSpPr txBox="1"/>
          <p:nvPr/>
        </p:nvSpPr>
        <p:spPr>
          <a:xfrm>
            <a:off x="1364831" y="4879862"/>
            <a:ext cx="1408176"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  </a:t>
            </a:r>
            <a:pPr algn="ctr" indent="0" marL="0">
              <a:buNone/>
            </a:pPr>
            <a:r>
              <a:rPr lang="en-US" sz="1050" dirty="0">
                <a:solidFill>
                  <a:srgbClr val="FFFFFF"/>
                </a:solidFill>
                <a:latin typeface="Calibri" pitchFamily="34" charset="0"/>
                <a:ea typeface="Calibri" pitchFamily="34" charset="-122"/>
                <a:cs typeface="Calibri" pitchFamily="34" charset="-120"/>
              </a:rPr>
              <a:t>Acceptance check added</a:t>
            </a:r>
            <a:endParaRPr lang="en-US" sz="1050" dirty="0"/>
          </a:p>
        </p:txBody>
      </p:sp>
      <p:sp>
        <p:nvSpPr>
          <p:cNvPr id="16" name="Shape 13"/>
          <p:cNvSpPr/>
          <p:nvPr/>
        </p:nvSpPr>
        <p:spPr>
          <a:xfrm>
            <a:off x="677155" y="2988550"/>
            <a:ext cx="1554480" cy="566928"/>
          </a:xfrm>
          <a:prstGeom prst="roundRect">
            <a:avLst>
              <a:gd name="adj" fmla="val 16129"/>
            </a:avLst>
          </a:prstGeom>
          <a:solidFill>
            <a:srgbClr val="1B6B78"/>
          </a:solidFill>
          <a:ln w="12700">
            <a:solidFill>
              <a:srgbClr val="1B6B78"/>
            </a:solidFill>
            <a:prstDash val="solid"/>
          </a:ln>
          <a:effectLst>
            <a:outerShdw sx="100000" sy="100000" kx="0" ky="0" algn="bl" rotWithShape="0" blurRad="76200" dist="25400" dir="2700000">
              <a:srgbClr val="000000">
                <a:alpha val="16000"/>
              </a:srgbClr>
            </a:outerShdw>
          </a:effectLst>
        </p:spPr>
      </p:sp>
      <p:sp>
        <p:nvSpPr>
          <p:cNvPr id="17" name="Text 14"/>
          <p:cNvSpPr txBox="1"/>
          <p:nvPr/>
        </p:nvSpPr>
        <p:spPr>
          <a:xfrm>
            <a:off x="750307" y="2988550"/>
            <a:ext cx="1408176"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  </a:t>
            </a:r>
            <a:pPr algn="ctr" indent="0" marL="0">
              <a:buNone/>
            </a:pPr>
            <a:r>
              <a:rPr lang="en-US" sz="1050" dirty="0">
                <a:solidFill>
                  <a:srgbClr val="FFFFFF"/>
                </a:solidFill>
                <a:latin typeface="Calibri" pitchFamily="34" charset="0"/>
                <a:ea typeface="Calibri" pitchFamily="34" charset="-122"/>
                <a:cs typeface="Calibri" pitchFamily="34" charset="-120"/>
              </a:rPr>
              <a:t>Next storyboard, checked</a:t>
            </a:r>
            <a:endParaRPr lang="en-US" sz="1050" dirty="0"/>
          </a:p>
        </p:txBody>
      </p:sp>
      <p:sp>
        <p:nvSpPr>
          <p:cNvPr id="18" name="Text 15"/>
          <p:cNvSpPr txBox="1"/>
          <p:nvPr/>
        </p:nvSpPr>
        <p:spPr>
          <a:xfrm>
            <a:off x="5669280" y="1371600"/>
            <a:ext cx="2651760" cy="292608"/>
          </a:xfrm>
          <a:prstGeom prst="rect">
            <a:avLst/>
          </a:prstGeom>
          <a:noFill/>
          <a:ln/>
        </p:spPr>
        <p:txBody>
          <a:bodyPr wrap="square" lIns="0" tIns="0" rIns="0" bIns="0" rtlCol="0" anchor="ctr"/>
          <a:lstStyle/>
          <a:p>
            <a:pPr indent="0" marL="0">
              <a:buNone/>
            </a:pPr>
            <a:r>
              <a:rPr lang="en-US" sz="1200" b="1" dirty="0">
                <a:solidFill>
                  <a:srgbClr val="5B6770"/>
                </a:solidFill>
                <a:latin typeface="Calibri" pitchFamily="34" charset="0"/>
                <a:ea typeface="Calibri" pitchFamily="34" charset="-122"/>
                <a:cs typeface="Calibri" pitchFamily="34" charset="-120"/>
              </a:rPr>
              <a:t>Reviewer said</a:t>
            </a:r>
            <a:endParaRPr lang="en-US" sz="1200" dirty="0"/>
          </a:p>
        </p:txBody>
      </p:sp>
      <p:sp>
        <p:nvSpPr>
          <p:cNvPr id="19" name="Text 16"/>
          <p:cNvSpPr txBox="1"/>
          <p:nvPr/>
        </p:nvSpPr>
        <p:spPr>
          <a:xfrm>
            <a:off x="8458200" y="1371600"/>
            <a:ext cx="3230575" cy="292608"/>
          </a:xfrm>
          <a:prstGeom prst="rect">
            <a:avLst/>
          </a:prstGeom>
          <a:noFill/>
          <a:ln/>
        </p:spPr>
        <p:txBody>
          <a:bodyPr wrap="square" lIns="0" tIns="0" rIns="0" bIns="0" rtlCol="0" anchor="ctr"/>
          <a:lstStyle/>
          <a:p>
            <a:pPr indent="0" marL="0">
              <a:buNone/>
            </a:pPr>
            <a:r>
              <a:rPr lang="en-US" sz="1200" b="1" dirty="0">
                <a:solidFill>
                  <a:srgbClr val="5B6770"/>
                </a:solidFill>
                <a:latin typeface="Calibri" pitchFamily="34" charset="0"/>
                <a:ea typeface="Calibri" pitchFamily="34" charset="-122"/>
                <a:cs typeface="Calibri" pitchFamily="34" charset="-120"/>
              </a:rPr>
              <a:t>The prompt now requires</a:t>
            </a:r>
            <a:endParaRPr lang="en-US" sz="1200" dirty="0"/>
          </a:p>
        </p:txBody>
      </p:sp>
      <p:sp>
        <p:nvSpPr>
          <p:cNvPr id="20" name="Shape 17"/>
          <p:cNvSpPr/>
          <p:nvPr/>
        </p:nvSpPr>
        <p:spPr>
          <a:xfrm>
            <a:off x="5669280" y="1719072"/>
            <a:ext cx="6019495" cy="676656"/>
          </a:xfrm>
          <a:prstGeom prst="roundRect">
            <a:avLst>
              <a:gd name="adj" fmla="val 8108"/>
            </a:avLst>
          </a:prstGeom>
          <a:solidFill>
            <a:srgbClr val="F2F3EF"/>
          </a:solidFill>
          <a:ln w="9525">
            <a:solidFill>
              <a:srgbClr val="D9DDD6"/>
            </a:solidFill>
            <a:prstDash val="solid"/>
          </a:ln>
        </p:spPr>
      </p:sp>
      <p:sp>
        <p:nvSpPr>
          <p:cNvPr id="21" name="Text 18"/>
          <p:cNvSpPr txBox="1"/>
          <p:nvPr/>
        </p:nvSpPr>
        <p:spPr>
          <a:xfrm>
            <a:off x="5806440" y="1719072"/>
            <a:ext cx="2514600" cy="676656"/>
          </a:xfrm>
          <a:prstGeom prst="rect">
            <a:avLst/>
          </a:prstGeom>
          <a:noFill/>
          <a:ln/>
        </p:spPr>
        <p:txBody>
          <a:bodyPr wrap="square" lIns="0" tIns="0" rIns="0" bIns="0" rtlCol="0" anchor="ctr"/>
          <a:lstStyle/>
          <a:p>
            <a:pPr indent="0" marL="0">
              <a:buNone/>
            </a:pPr>
            <a:r>
              <a:rPr lang="en-US" sz="1050" i="1" dirty="0">
                <a:solidFill>
                  <a:srgbClr val="1F2A37"/>
                </a:solidFill>
                <a:latin typeface="Calibri" pitchFamily="34" charset="0"/>
                <a:ea typeface="Calibri" pitchFamily="34" charset="-122"/>
                <a:cs typeface="Calibri" pitchFamily="34" charset="-120"/>
              </a:rPr>
              <a:t>“Should use full sentences, otherwise it is difficult to connect meaning.”</a:t>
            </a:r>
            <a:endParaRPr lang="en-US" sz="1050" dirty="0"/>
          </a:p>
        </p:txBody>
      </p:sp>
      <p:sp>
        <p:nvSpPr>
          <p:cNvPr id="22" name="Shape 19"/>
          <p:cNvSpPr/>
          <p:nvPr/>
        </p:nvSpPr>
        <p:spPr>
          <a:xfrm>
            <a:off x="8366760" y="1965960"/>
            <a:ext cx="201168" cy="182880"/>
          </a:xfrm>
          <a:prstGeom prst="rightArrow">
            <a:avLst/>
          </a:prstGeom>
          <a:solidFill>
            <a:srgbClr val="1B6B78"/>
          </a:solidFill>
          <a:ln w="12700">
            <a:solidFill>
              <a:srgbClr val="1B6B78"/>
            </a:solidFill>
            <a:prstDash val="solid"/>
          </a:ln>
        </p:spPr>
      </p:sp>
      <p:sp>
        <p:nvSpPr>
          <p:cNvPr id="23" name="Text 20"/>
          <p:cNvSpPr txBox="1"/>
          <p:nvPr/>
        </p:nvSpPr>
        <p:spPr>
          <a:xfrm>
            <a:off x="8641080" y="1719072"/>
            <a:ext cx="2910535" cy="676656"/>
          </a:xfrm>
          <a:prstGeom prst="rect">
            <a:avLst/>
          </a:prstGeom>
          <a:noFill/>
          <a:ln/>
        </p:spPr>
        <p:txBody>
          <a:bodyPr wrap="square" lIns="0" tIns="0" rIns="0" bIns="0" rtlCol="0" anchor="ctr"/>
          <a:lstStyle/>
          <a:p>
            <a:pPr indent="0" marL="0">
              <a:buNone/>
            </a:pPr>
            <a:r>
              <a:rPr lang="en-US" sz="1050" dirty="0">
                <a:solidFill>
                  <a:srgbClr val="1F2A37"/>
                </a:solidFill>
                <a:latin typeface="Calibri" pitchFamily="34" charset="0"/>
                <a:ea typeface="Calibri" pitchFamily="34" charset="-122"/>
                <a:cs typeface="Calibri" pitchFamily="34" charset="-120"/>
              </a:rPr>
              <a:t>Complete sentences for any line that states a fact, rule, condition or action.</a:t>
            </a:r>
            <a:endParaRPr lang="en-US" sz="1050" dirty="0"/>
          </a:p>
        </p:txBody>
      </p:sp>
      <p:sp>
        <p:nvSpPr>
          <p:cNvPr id="24" name="Shape 21"/>
          <p:cNvSpPr/>
          <p:nvPr/>
        </p:nvSpPr>
        <p:spPr>
          <a:xfrm>
            <a:off x="5669280" y="2468880"/>
            <a:ext cx="6019495" cy="676656"/>
          </a:xfrm>
          <a:prstGeom prst="roundRect">
            <a:avLst>
              <a:gd name="adj" fmla="val 8108"/>
            </a:avLst>
          </a:prstGeom>
          <a:solidFill>
            <a:srgbClr val="FFFFFF"/>
          </a:solidFill>
          <a:ln w="9525">
            <a:solidFill>
              <a:srgbClr val="D9DDD6"/>
            </a:solidFill>
            <a:prstDash val="solid"/>
          </a:ln>
        </p:spPr>
      </p:sp>
      <p:sp>
        <p:nvSpPr>
          <p:cNvPr id="25" name="Text 22"/>
          <p:cNvSpPr txBox="1"/>
          <p:nvPr/>
        </p:nvSpPr>
        <p:spPr>
          <a:xfrm>
            <a:off x="5806440" y="2468880"/>
            <a:ext cx="2514600" cy="676656"/>
          </a:xfrm>
          <a:prstGeom prst="rect">
            <a:avLst/>
          </a:prstGeom>
          <a:noFill/>
          <a:ln/>
        </p:spPr>
        <p:txBody>
          <a:bodyPr wrap="square" lIns="0" tIns="0" rIns="0" bIns="0" rtlCol="0" anchor="ctr"/>
          <a:lstStyle/>
          <a:p>
            <a:pPr indent="0" marL="0">
              <a:buNone/>
            </a:pPr>
            <a:r>
              <a:rPr lang="en-US" sz="1050" i="1" dirty="0">
                <a:solidFill>
                  <a:srgbClr val="1F2A37"/>
                </a:solidFill>
                <a:latin typeface="Calibri" pitchFamily="34" charset="0"/>
                <a:ea typeface="Calibri" pitchFamily="34" charset="-122"/>
                <a:cs typeface="Calibri" pitchFamily="34" charset="-120"/>
              </a:rPr>
              <a:t>“You call them stages and processes. Which is it?”</a:t>
            </a:r>
            <a:endParaRPr lang="en-US" sz="1050" dirty="0"/>
          </a:p>
        </p:txBody>
      </p:sp>
      <p:sp>
        <p:nvSpPr>
          <p:cNvPr id="26" name="Shape 23"/>
          <p:cNvSpPr/>
          <p:nvPr/>
        </p:nvSpPr>
        <p:spPr>
          <a:xfrm>
            <a:off x="8366760" y="2715768"/>
            <a:ext cx="201168" cy="182880"/>
          </a:xfrm>
          <a:prstGeom prst="rightArrow">
            <a:avLst/>
          </a:prstGeom>
          <a:solidFill>
            <a:srgbClr val="1B6B78"/>
          </a:solidFill>
          <a:ln w="12700">
            <a:solidFill>
              <a:srgbClr val="1B6B78"/>
            </a:solidFill>
            <a:prstDash val="solid"/>
          </a:ln>
        </p:spPr>
      </p:sp>
      <p:sp>
        <p:nvSpPr>
          <p:cNvPr id="27" name="Text 24"/>
          <p:cNvSpPr txBox="1"/>
          <p:nvPr/>
        </p:nvSpPr>
        <p:spPr>
          <a:xfrm>
            <a:off x="8641080" y="2468880"/>
            <a:ext cx="2910535" cy="676656"/>
          </a:xfrm>
          <a:prstGeom prst="rect">
            <a:avLst/>
          </a:prstGeom>
          <a:noFill/>
          <a:ln/>
        </p:spPr>
        <p:txBody>
          <a:bodyPr wrap="square" lIns="0" tIns="0" rIns="0" bIns="0" rtlCol="0" anchor="ctr"/>
          <a:lstStyle/>
          <a:p>
            <a:pPr indent="0" marL="0">
              <a:buNone/>
            </a:pPr>
            <a:r>
              <a:rPr lang="en-US" sz="1050" dirty="0">
                <a:solidFill>
                  <a:srgbClr val="1F2A37"/>
                </a:solidFill>
                <a:latin typeface="Calibri" pitchFamily="34" charset="0"/>
                <a:ea typeface="Calibri" pitchFamily="34" charset="-122"/>
                <a:cs typeface="Calibri" pitchFamily="34" charset="-120"/>
              </a:rPr>
              <a:t>One term per thing across the title, every column and the narration.</a:t>
            </a:r>
            <a:endParaRPr lang="en-US" sz="1050" dirty="0"/>
          </a:p>
        </p:txBody>
      </p:sp>
      <p:sp>
        <p:nvSpPr>
          <p:cNvPr id="28" name="Shape 25"/>
          <p:cNvSpPr/>
          <p:nvPr/>
        </p:nvSpPr>
        <p:spPr>
          <a:xfrm>
            <a:off x="5669280" y="3218688"/>
            <a:ext cx="6019495" cy="676656"/>
          </a:xfrm>
          <a:prstGeom prst="roundRect">
            <a:avLst>
              <a:gd name="adj" fmla="val 8108"/>
            </a:avLst>
          </a:prstGeom>
          <a:solidFill>
            <a:srgbClr val="F2F3EF"/>
          </a:solidFill>
          <a:ln w="9525">
            <a:solidFill>
              <a:srgbClr val="D9DDD6"/>
            </a:solidFill>
            <a:prstDash val="solid"/>
          </a:ln>
        </p:spPr>
      </p:sp>
      <p:sp>
        <p:nvSpPr>
          <p:cNvPr id="29" name="Text 26"/>
          <p:cNvSpPr txBox="1"/>
          <p:nvPr/>
        </p:nvSpPr>
        <p:spPr>
          <a:xfrm>
            <a:off x="5806440" y="3218688"/>
            <a:ext cx="2514600" cy="676656"/>
          </a:xfrm>
          <a:prstGeom prst="rect">
            <a:avLst/>
          </a:prstGeom>
          <a:noFill/>
          <a:ln/>
        </p:spPr>
        <p:txBody>
          <a:bodyPr wrap="square" lIns="0" tIns="0" rIns="0" bIns="0" rtlCol="0" anchor="ctr"/>
          <a:lstStyle/>
          <a:p>
            <a:pPr indent="0" marL="0">
              <a:buNone/>
            </a:pPr>
            <a:r>
              <a:rPr lang="en-US" sz="1050" i="1" dirty="0">
                <a:solidFill>
                  <a:srgbClr val="1F2A37"/>
                </a:solidFill>
                <a:latin typeface="Calibri" pitchFamily="34" charset="0"/>
                <a:ea typeface="Calibri" pitchFamily="34" charset="-122"/>
                <a:cs typeface="Calibri" pitchFamily="34" charset="-120"/>
              </a:rPr>
              <a:t>“What is the actual question stem?”</a:t>
            </a:r>
            <a:endParaRPr lang="en-US" sz="1050" dirty="0"/>
          </a:p>
        </p:txBody>
      </p:sp>
      <p:sp>
        <p:nvSpPr>
          <p:cNvPr id="30" name="Shape 27"/>
          <p:cNvSpPr/>
          <p:nvPr/>
        </p:nvSpPr>
        <p:spPr>
          <a:xfrm>
            <a:off x="8366760" y="3465576"/>
            <a:ext cx="201168" cy="182880"/>
          </a:xfrm>
          <a:prstGeom prst="rightArrow">
            <a:avLst/>
          </a:prstGeom>
          <a:solidFill>
            <a:srgbClr val="1B6B78"/>
          </a:solidFill>
          <a:ln w="12700">
            <a:solidFill>
              <a:srgbClr val="1B6B78"/>
            </a:solidFill>
            <a:prstDash val="solid"/>
          </a:ln>
        </p:spPr>
      </p:sp>
      <p:sp>
        <p:nvSpPr>
          <p:cNvPr id="31" name="Text 28"/>
          <p:cNvSpPr txBox="1"/>
          <p:nvPr/>
        </p:nvSpPr>
        <p:spPr>
          <a:xfrm>
            <a:off x="8641080" y="3218688"/>
            <a:ext cx="2910535" cy="676656"/>
          </a:xfrm>
          <a:prstGeom prst="rect">
            <a:avLst/>
          </a:prstGeom>
          <a:noFill/>
          <a:ln/>
        </p:spPr>
        <p:txBody>
          <a:bodyPr wrap="square" lIns="0" tIns="0" rIns="0" bIns="0" rtlCol="0" anchor="ctr"/>
          <a:lstStyle/>
          <a:p>
            <a:pPr indent="0" marL="0">
              <a:buNone/>
            </a:pPr>
            <a:r>
              <a:rPr lang="en-US" sz="1050" dirty="0">
                <a:solidFill>
                  <a:srgbClr val="1F2A37"/>
                </a:solidFill>
                <a:latin typeface="Calibri" pitchFamily="34" charset="0"/>
                <a:ea typeface="Calibri" pitchFamily="34" charset="-122"/>
                <a:cs typeface="Calibri" pitchFamily="34" charset="-120"/>
              </a:rPr>
              <a:t>A stem before every practice or assessment activity.</a:t>
            </a:r>
            <a:endParaRPr lang="en-US" sz="1050" dirty="0"/>
          </a:p>
        </p:txBody>
      </p:sp>
      <p:sp>
        <p:nvSpPr>
          <p:cNvPr id="32" name="Shape 29"/>
          <p:cNvSpPr/>
          <p:nvPr/>
        </p:nvSpPr>
        <p:spPr>
          <a:xfrm>
            <a:off x="5669280" y="3968496"/>
            <a:ext cx="6019495" cy="676656"/>
          </a:xfrm>
          <a:prstGeom prst="roundRect">
            <a:avLst>
              <a:gd name="adj" fmla="val 8108"/>
            </a:avLst>
          </a:prstGeom>
          <a:solidFill>
            <a:srgbClr val="FFFFFF"/>
          </a:solidFill>
          <a:ln w="9525">
            <a:solidFill>
              <a:srgbClr val="D9DDD6"/>
            </a:solidFill>
            <a:prstDash val="solid"/>
          </a:ln>
        </p:spPr>
      </p:sp>
      <p:sp>
        <p:nvSpPr>
          <p:cNvPr id="33" name="Text 30"/>
          <p:cNvSpPr txBox="1"/>
          <p:nvPr/>
        </p:nvSpPr>
        <p:spPr>
          <a:xfrm>
            <a:off x="5806440" y="3968496"/>
            <a:ext cx="2514600" cy="676656"/>
          </a:xfrm>
          <a:prstGeom prst="rect">
            <a:avLst/>
          </a:prstGeom>
          <a:noFill/>
          <a:ln/>
        </p:spPr>
        <p:txBody>
          <a:bodyPr wrap="square" lIns="0" tIns="0" rIns="0" bIns="0" rtlCol="0" anchor="ctr"/>
          <a:lstStyle/>
          <a:p>
            <a:pPr indent="0" marL="0">
              <a:buNone/>
            </a:pPr>
            <a:r>
              <a:rPr lang="en-US" sz="1050" i="1" dirty="0">
                <a:solidFill>
                  <a:srgbClr val="1F2A37"/>
                </a:solidFill>
                <a:latin typeface="Calibri" pitchFamily="34" charset="0"/>
                <a:ea typeface="Calibri" pitchFamily="34" charset="-122"/>
                <a:cs typeface="Calibri" pitchFamily="34" charset="-120"/>
              </a:rPr>
              <a:t>“Devs don't program this. Delete.”</a:t>
            </a:r>
            <a:endParaRPr lang="en-US" sz="1050" dirty="0"/>
          </a:p>
        </p:txBody>
      </p:sp>
      <p:sp>
        <p:nvSpPr>
          <p:cNvPr id="34" name="Shape 31"/>
          <p:cNvSpPr/>
          <p:nvPr/>
        </p:nvSpPr>
        <p:spPr>
          <a:xfrm>
            <a:off x="8366760" y="4215384"/>
            <a:ext cx="201168" cy="182880"/>
          </a:xfrm>
          <a:prstGeom prst="rightArrow">
            <a:avLst/>
          </a:prstGeom>
          <a:solidFill>
            <a:srgbClr val="1B6B78"/>
          </a:solidFill>
          <a:ln w="12700">
            <a:solidFill>
              <a:srgbClr val="1B6B78"/>
            </a:solidFill>
            <a:prstDash val="solid"/>
          </a:ln>
        </p:spPr>
      </p:sp>
      <p:sp>
        <p:nvSpPr>
          <p:cNvPr id="35" name="Text 32"/>
          <p:cNvSpPr txBox="1"/>
          <p:nvPr/>
        </p:nvSpPr>
        <p:spPr>
          <a:xfrm>
            <a:off x="8641080" y="3968496"/>
            <a:ext cx="2910535" cy="676656"/>
          </a:xfrm>
          <a:prstGeom prst="rect">
            <a:avLst/>
          </a:prstGeom>
          <a:noFill/>
          <a:ln/>
        </p:spPr>
        <p:txBody>
          <a:bodyPr wrap="square" lIns="0" tIns="0" rIns="0" bIns="0" rtlCol="0" anchor="ctr"/>
          <a:lstStyle/>
          <a:p>
            <a:pPr indent="0" marL="0">
              <a:buNone/>
            </a:pPr>
            <a:r>
              <a:rPr lang="en-US" sz="1050" dirty="0">
                <a:solidFill>
                  <a:srgbClr val="1F2A37"/>
                </a:solidFill>
                <a:latin typeface="Calibri" pitchFamily="34" charset="0"/>
                <a:ea typeface="Calibri" pitchFamily="34" charset="-122"/>
                <a:cs typeface="Calibri" pitchFamily="34" charset="-120"/>
              </a:rPr>
              <a:t>Platform behaviour stays out of the rows; Development owns it.</a:t>
            </a:r>
            <a:endParaRPr lang="en-US" sz="1050" dirty="0"/>
          </a:p>
        </p:txBody>
      </p:sp>
      <p:sp>
        <p:nvSpPr>
          <p:cNvPr id="36" name="Shape 33"/>
          <p:cNvSpPr/>
          <p:nvPr/>
        </p:nvSpPr>
        <p:spPr>
          <a:xfrm>
            <a:off x="5669280" y="4718304"/>
            <a:ext cx="6019495" cy="676656"/>
          </a:xfrm>
          <a:prstGeom prst="roundRect">
            <a:avLst>
              <a:gd name="adj" fmla="val 8108"/>
            </a:avLst>
          </a:prstGeom>
          <a:solidFill>
            <a:srgbClr val="F2F3EF"/>
          </a:solidFill>
          <a:ln w="9525">
            <a:solidFill>
              <a:srgbClr val="D9DDD6"/>
            </a:solidFill>
            <a:prstDash val="solid"/>
          </a:ln>
        </p:spPr>
      </p:sp>
      <p:sp>
        <p:nvSpPr>
          <p:cNvPr id="37" name="Text 34"/>
          <p:cNvSpPr txBox="1"/>
          <p:nvPr/>
        </p:nvSpPr>
        <p:spPr>
          <a:xfrm>
            <a:off x="5806440" y="4718304"/>
            <a:ext cx="2514600" cy="676656"/>
          </a:xfrm>
          <a:prstGeom prst="rect">
            <a:avLst/>
          </a:prstGeom>
          <a:noFill/>
          <a:ln/>
        </p:spPr>
        <p:txBody>
          <a:bodyPr wrap="square" lIns="0" tIns="0" rIns="0" bIns="0" rtlCol="0" anchor="ctr"/>
          <a:lstStyle/>
          <a:p>
            <a:pPr indent="0" marL="0">
              <a:buNone/>
            </a:pPr>
            <a:r>
              <a:rPr lang="en-US" sz="1050" i="1" dirty="0">
                <a:solidFill>
                  <a:srgbClr val="1F2A37"/>
                </a:solidFill>
                <a:latin typeface="Calibri" pitchFamily="34" charset="0"/>
                <a:ea typeface="Calibri" pitchFamily="34" charset="-122"/>
                <a:cs typeface="Calibri" pitchFamily="34" charset="-120"/>
              </a:rPr>
              <a:t>“The distractors are not plausible.”</a:t>
            </a:r>
            <a:endParaRPr lang="en-US" sz="1050" dirty="0"/>
          </a:p>
        </p:txBody>
      </p:sp>
      <p:sp>
        <p:nvSpPr>
          <p:cNvPr id="38" name="Shape 35"/>
          <p:cNvSpPr/>
          <p:nvPr/>
        </p:nvSpPr>
        <p:spPr>
          <a:xfrm>
            <a:off x="8366760" y="4965192"/>
            <a:ext cx="201168" cy="182880"/>
          </a:xfrm>
          <a:prstGeom prst="rightArrow">
            <a:avLst/>
          </a:prstGeom>
          <a:solidFill>
            <a:srgbClr val="1B6B78"/>
          </a:solidFill>
          <a:ln w="12700">
            <a:solidFill>
              <a:srgbClr val="1B6B78"/>
            </a:solidFill>
            <a:prstDash val="solid"/>
          </a:ln>
        </p:spPr>
      </p:sp>
      <p:sp>
        <p:nvSpPr>
          <p:cNvPr id="39" name="Text 36"/>
          <p:cNvSpPr txBox="1"/>
          <p:nvPr/>
        </p:nvSpPr>
        <p:spPr>
          <a:xfrm>
            <a:off x="8641080" y="4718304"/>
            <a:ext cx="2910535" cy="676656"/>
          </a:xfrm>
          <a:prstGeom prst="rect">
            <a:avLst/>
          </a:prstGeom>
          <a:noFill/>
          <a:ln/>
        </p:spPr>
        <p:txBody>
          <a:bodyPr wrap="square" lIns="0" tIns="0" rIns="0" bIns="0" rtlCol="0" anchor="ctr"/>
          <a:lstStyle/>
          <a:p>
            <a:pPr indent="0" marL="0">
              <a:buNone/>
            </a:pPr>
            <a:r>
              <a:rPr lang="en-US" sz="1050" dirty="0">
                <a:solidFill>
                  <a:srgbClr val="1F2A37"/>
                </a:solidFill>
                <a:latin typeface="Calibri" pitchFamily="34" charset="0"/>
                <a:ea typeface="Calibri" pitchFamily="34" charset="-122"/>
                <a:cs typeface="Calibri" pitchFamily="34" charset="-120"/>
              </a:rPr>
              <a:t>Item-quality rules: plausible distractors, one defensible answer.</a:t>
            </a:r>
            <a:endParaRPr lang="en-US" sz="1050" dirty="0"/>
          </a:p>
        </p:txBody>
      </p:sp>
      <p:sp>
        <p:nvSpPr>
          <p:cNvPr id="40" name="Shape 37"/>
          <p:cNvSpPr/>
          <p:nvPr/>
        </p:nvSpPr>
        <p:spPr>
          <a:xfrm>
            <a:off x="5669280" y="5577840"/>
            <a:ext cx="6019495" cy="676656"/>
          </a:xfrm>
          <a:prstGeom prst="roundRect">
            <a:avLst>
              <a:gd name="adj" fmla="val 10811"/>
            </a:avLst>
          </a:prstGeom>
          <a:solidFill>
            <a:srgbClr val="DCE7E3"/>
          </a:solidFill>
          <a:ln w="12700">
            <a:solidFill>
              <a:srgbClr val="DCE7E3"/>
            </a:solidFill>
            <a:prstDash val="solid"/>
          </a:ln>
        </p:spPr>
      </p:sp>
      <p:sp>
        <p:nvSpPr>
          <p:cNvPr id="41" name="Text 38"/>
          <p:cNvSpPr txBox="1"/>
          <p:nvPr/>
        </p:nvSpPr>
        <p:spPr>
          <a:xfrm>
            <a:off x="5852160" y="5577840"/>
            <a:ext cx="5653735" cy="676656"/>
          </a:xfrm>
          <a:prstGeom prst="rect">
            <a:avLst/>
          </a:prstGeom>
          <a:noFill/>
          <a:ln/>
        </p:spPr>
        <p:txBody>
          <a:bodyPr wrap="square" lIns="0" tIns="0" rIns="0" bIns="0" rtlCol="0" anchor="ctr"/>
          <a:lstStyle/>
          <a:p>
            <a:pPr indent="0" marL="0">
              <a:buNone/>
            </a:pPr>
            <a:r>
              <a:rPr lang="en-US" sz="1600" b="1" dirty="0">
                <a:solidFill>
                  <a:srgbClr val="155E68"/>
                </a:solidFill>
                <a:latin typeface="Calibri" pitchFamily="34" charset="0"/>
                <a:ea typeface="Calibri" pitchFamily="34" charset="-122"/>
                <a:cs typeface="Calibri" pitchFamily="34" charset="-120"/>
              </a:rPr>
              <a:t>14 </a:t>
            </a:r>
            <a:pPr indent="0" marL="0">
              <a:buNone/>
            </a:pPr>
            <a:r>
              <a:rPr lang="en-US" sz="1100" dirty="0">
                <a:solidFill>
                  <a:srgbClr val="1F2A37"/>
                </a:solidFill>
                <a:latin typeface="Calibri" pitchFamily="34" charset="0"/>
                <a:ea typeface="Calibri" pitchFamily="34" charset="-122"/>
                <a:cs typeface="Calibri" pitchFamily="34" charset="-120"/>
              </a:rPr>
              <a:t>reviewer comments on one storyboard became rules. Every rule has one home in the prompt and one line in the acceptance checks.</a:t>
            </a:r>
            <a:endParaRPr lang="en-US" sz="1600" dirty="0"/>
          </a:p>
        </p:txBody>
      </p:sp>
      <p:sp>
        <p:nvSpPr>
          <p:cNvPr id="42" name="Text 39"/>
          <p:cNvSpPr txBox="1"/>
          <p:nvPr/>
        </p:nvSpPr>
        <p:spPr>
          <a:xfrm>
            <a:off x="502920" y="6455664"/>
            <a:ext cx="5486400" cy="237744"/>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LSC Learning Engineering Team  ·  AI Storyboarding</a:t>
            </a:r>
            <a:endParaRPr lang="en-US" sz="900" dirty="0"/>
          </a:p>
        </p:txBody>
      </p:sp>
      <p:sp>
        <p:nvSpPr>
          <p:cNvPr id="43" name="Text 40"/>
          <p:cNvSpPr txBox="1"/>
          <p:nvPr/>
        </p:nvSpPr>
        <p:spPr>
          <a:xfrm>
            <a:off x="11140135" y="6455664"/>
            <a:ext cx="548640" cy="237744"/>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658368"/>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Where it still falls short</a:t>
            </a:r>
            <a:endParaRPr lang="en-US" sz="3000" dirty="0"/>
          </a:p>
        </p:txBody>
      </p:sp>
      <p:sp>
        <p:nvSpPr>
          <p:cNvPr id="3" name="Text 1"/>
          <p:cNvSpPr txBox="1"/>
          <p:nvPr/>
        </p:nvSpPr>
        <p:spPr>
          <a:xfrm>
            <a:off x="502920" y="932688"/>
            <a:ext cx="11185855" cy="310896"/>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Three limits we can see from the inside. Each is on the change log; none has a complete answer yet.</a:t>
            </a:r>
            <a:endParaRPr lang="en-US" sz="1300" dirty="0"/>
          </a:p>
        </p:txBody>
      </p:sp>
      <p:sp>
        <p:nvSpPr>
          <p:cNvPr id="4" name="Shape 2"/>
          <p:cNvSpPr/>
          <p:nvPr/>
        </p:nvSpPr>
        <p:spPr>
          <a:xfrm>
            <a:off x="502920" y="1371600"/>
            <a:ext cx="3582314" cy="3749040"/>
          </a:xfrm>
          <a:prstGeom prst="roundRect">
            <a:avLst>
              <a:gd name="adj" fmla="val 3063"/>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5" name="Shape 3"/>
          <p:cNvSpPr/>
          <p:nvPr/>
        </p:nvSpPr>
        <p:spPr>
          <a:xfrm>
            <a:off x="731520" y="1600200"/>
            <a:ext cx="603504" cy="603504"/>
          </a:xfrm>
          <a:prstGeom prst="ellipse">
            <a:avLst/>
          </a:prstGeom>
          <a:solidFill>
            <a:srgbClr val="1B6B78"/>
          </a:solidFill>
          <a:ln w="12700">
            <a:solidFill>
              <a:srgbClr val="1B6B78"/>
            </a:solidFill>
            <a:prstDash val="solid"/>
          </a:ln>
        </p:spPr>
      </p:sp>
      <p:pic>
        <p:nvPicPr>
          <p:cNvPr id="6" name="Image 0" descr="preencoded.png">    </p:cNvPr>
          <p:cNvPicPr>
            <a:picLocks noChangeAspect="1"/>
          </p:cNvPicPr>
          <p:nvPr/>
        </p:nvPicPr>
        <p:blipFill>
          <a:blip r:embed="rId1"/>
          <a:stretch>
            <a:fillRect/>
          </a:stretch>
        </p:blipFill>
        <p:spPr>
          <a:xfrm>
            <a:off x="882396" y="1751076"/>
            <a:ext cx="301752" cy="301752"/>
          </a:xfrm>
          <a:prstGeom prst="rect">
            <a:avLst/>
          </a:prstGeom>
        </p:spPr>
      </p:pic>
      <p:sp>
        <p:nvSpPr>
          <p:cNvPr id="7" name="Text 4"/>
          <p:cNvSpPr txBox="1"/>
          <p:nvPr/>
        </p:nvSpPr>
        <p:spPr>
          <a:xfrm>
            <a:off x="1463040" y="1600200"/>
            <a:ext cx="2393594" cy="603504"/>
          </a:xfrm>
          <a:prstGeom prst="rect">
            <a:avLst/>
          </a:prstGeom>
          <a:noFill/>
          <a:ln/>
        </p:spPr>
        <p:txBody>
          <a:bodyPr wrap="square" lIns="0" tIns="0" rIns="0" bIns="0" rtlCol="0" anchor="ctr"/>
          <a:lstStyle/>
          <a:p>
            <a:pPr indent="0" marL="0">
              <a:buNone/>
            </a:pPr>
            <a:r>
              <a:rPr lang="en-US" sz="1500" b="1" dirty="0">
                <a:solidFill>
                  <a:srgbClr val="1F2A37"/>
                </a:solidFill>
                <a:latin typeface="Calibri" pitchFamily="34" charset="0"/>
                <a:ea typeface="Calibri" pitchFamily="34" charset="-122"/>
                <a:cs typeface="Calibri" pitchFamily="34" charset="-120"/>
              </a:rPr>
              <a:t>Presentation of information</a:t>
            </a:r>
            <a:endParaRPr lang="en-US" sz="1500" dirty="0"/>
          </a:p>
        </p:txBody>
      </p:sp>
      <p:sp>
        <p:nvSpPr>
          <p:cNvPr id="8" name="Text 5"/>
          <p:cNvSpPr txBox="1"/>
          <p:nvPr/>
        </p:nvSpPr>
        <p:spPr>
          <a:xfrm>
            <a:off x="731520" y="2423160"/>
            <a:ext cx="3125114" cy="1325880"/>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The content is right more often than it is well presented. Layouts, visual treatment and the balance between text and media are still uneven from slide to slide.</a:t>
            </a:r>
            <a:endParaRPr lang="en-US" sz="1200" dirty="0"/>
          </a:p>
        </p:txBody>
      </p:sp>
      <p:sp>
        <p:nvSpPr>
          <p:cNvPr id="9" name="Shape 6"/>
          <p:cNvSpPr/>
          <p:nvPr/>
        </p:nvSpPr>
        <p:spPr>
          <a:xfrm>
            <a:off x="731520" y="3840480"/>
            <a:ext cx="3125114" cy="1051560"/>
          </a:xfrm>
          <a:prstGeom prst="roundRect">
            <a:avLst>
              <a:gd name="adj" fmla="val 5217"/>
            </a:avLst>
          </a:prstGeom>
          <a:solidFill>
            <a:srgbClr val="FFFFFF"/>
          </a:solidFill>
          <a:ln w="9525">
            <a:solidFill>
              <a:srgbClr val="D9DDD6"/>
            </a:solidFill>
            <a:prstDash val="solid"/>
          </a:ln>
        </p:spPr>
      </p:sp>
      <p:sp>
        <p:nvSpPr>
          <p:cNvPr id="10" name="Text 7"/>
          <p:cNvSpPr txBox="1"/>
          <p:nvPr/>
        </p:nvSpPr>
        <p:spPr>
          <a:xfrm>
            <a:off x="850392" y="3886200"/>
            <a:ext cx="2887370" cy="960120"/>
          </a:xfrm>
          <a:prstGeom prst="rect">
            <a:avLst/>
          </a:prstGeom>
          <a:noFill/>
          <a:ln/>
        </p:spPr>
        <p:txBody>
          <a:bodyPr wrap="square" lIns="0" tIns="0" rIns="0" bIns="0" rtlCol="0" anchor="ctr"/>
          <a:lstStyle/>
          <a:p>
            <a:pPr indent="0" marL="0">
              <a:buNone/>
            </a:pPr>
            <a:r>
              <a:rPr lang="en-US" sz="950" b="1" dirty="0">
                <a:solidFill>
                  <a:srgbClr val="155E68"/>
                </a:solidFill>
                <a:latin typeface="Calibri" pitchFamily="34" charset="0"/>
                <a:ea typeface="Calibri" pitchFamily="34" charset="-122"/>
                <a:cs typeface="Calibri" pitchFamily="34" charset="-120"/>
              </a:rPr>
              <a:t>Where we are  </a:t>
            </a:r>
            <a:pPr indent="0" marL="0">
              <a:buNone/>
            </a:pPr>
            <a:r>
              <a:rPr lang="en-US" sz="1050" dirty="0">
                <a:solidFill>
                  <a:srgbClr val="1F2A37"/>
                </a:solidFill>
                <a:latin typeface="Calibri" pitchFamily="34" charset="0"/>
                <a:ea typeface="Calibri" pitchFamily="34" charset="-122"/>
                <a:cs typeface="Calibri" pitchFamily="34" charset="-120"/>
              </a:rPr>
              <a:t>Mock-ups are now required for complex layouts, but a designer's eye is still needed before hand-off.</a:t>
            </a:r>
            <a:endParaRPr lang="en-US" sz="950" dirty="0"/>
          </a:p>
        </p:txBody>
      </p:sp>
      <p:sp>
        <p:nvSpPr>
          <p:cNvPr id="11" name="Shape 8"/>
          <p:cNvSpPr/>
          <p:nvPr/>
        </p:nvSpPr>
        <p:spPr>
          <a:xfrm>
            <a:off x="4304690" y="1371600"/>
            <a:ext cx="3582314" cy="3749040"/>
          </a:xfrm>
          <a:prstGeom prst="roundRect">
            <a:avLst>
              <a:gd name="adj" fmla="val 3063"/>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12" name="Shape 9"/>
          <p:cNvSpPr/>
          <p:nvPr/>
        </p:nvSpPr>
        <p:spPr>
          <a:xfrm>
            <a:off x="4533290" y="1600200"/>
            <a:ext cx="603504" cy="603504"/>
          </a:xfrm>
          <a:prstGeom prst="ellipse">
            <a:avLst/>
          </a:prstGeom>
          <a:solidFill>
            <a:srgbClr val="1B6B78"/>
          </a:solidFill>
          <a:ln w="12700">
            <a:solidFill>
              <a:srgbClr val="1B6B78"/>
            </a:solidFill>
            <a:prstDash val="solid"/>
          </a:ln>
        </p:spPr>
      </p:sp>
      <p:pic>
        <p:nvPicPr>
          <p:cNvPr id="13" name="Image 1" descr="preencoded.png">    </p:cNvPr>
          <p:cNvPicPr>
            <a:picLocks noChangeAspect="1"/>
          </p:cNvPicPr>
          <p:nvPr/>
        </p:nvPicPr>
        <p:blipFill>
          <a:blip r:embed="rId2"/>
          <a:stretch>
            <a:fillRect/>
          </a:stretch>
        </p:blipFill>
        <p:spPr>
          <a:xfrm>
            <a:off x="4684166" y="1751076"/>
            <a:ext cx="301752" cy="301752"/>
          </a:xfrm>
          <a:prstGeom prst="rect">
            <a:avLst/>
          </a:prstGeom>
        </p:spPr>
      </p:pic>
      <p:sp>
        <p:nvSpPr>
          <p:cNvPr id="14" name="Text 10"/>
          <p:cNvSpPr txBox="1"/>
          <p:nvPr/>
        </p:nvSpPr>
        <p:spPr>
          <a:xfrm>
            <a:off x="5264810" y="1600200"/>
            <a:ext cx="2393594" cy="603504"/>
          </a:xfrm>
          <a:prstGeom prst="rect">
            <a:avLst/>
          </a:prstGeom>
          <a:noFill/>
          <a:ln/>
        </p:spPr>
        <p:txBody>
          <a:bodyPr wrap="square" lIns="0" tIns="0" rIns="0" bIns="0" rtlCol="0" anchor="ctr"/>
          <a:lstStyle/>
          <a:p>
            <a:pPr indent="0" marL="0">
              <a:buNone/>
            </a:pPr>
            <a:r>
              <a:rPr lang="en-US" sz="1500" b="1" dirty="0">
                <a:solidFill>
                  <a:srgbClr val="1F2A37"/>
                </a:solidFill>
                <a:latin typeface="Calibri" pitchFamily="34" charset="0"/>
                <a:ea typeface="Calibri" pitchFamily="34" charset="-122"/>
                <a:cs typeface="Calibri" pitchFamily="34" charset="-120"/>
              </a:rPr>
              <a:t>Human review is not optional</a:t>
            </a:r>
            <a:endParaRPr lang="en-US" sz="1500" dirty="0"/>
          </a:p>
        </p:txBody>
      </p:sp>
      <p:sp>
        <p:nvSpPr>
          <p:cNvPr id="15" name="Text 11"/>
          <p:cNvSpPr txBox="1"/>
          <p:nvPr/>
        </p:nvSpPr>
        <p:spPr>
          <a:xfrm>
            <a:off x="4533290" y="2423160"/>
            <a:ext cx="3125114" cy="1325880"/>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The generator drafts; people decide. A storyboard still needs a subject-matter expert to confirm accuracy and a learning designer to read it as a learner would.</a:t>
            </a:r>
            <a:endParaRPr lang="en-US" sz="1200" dirty="0"/>
          </a:p>
        </p:txBody>
      </p:sp>
      <p:sp>
        <p:nvSpPr>
          <p:cNvPr id="16" name="Shape 12"/>
          <p:cNvSpPr/>
          <p:nvPr/>
        </p:nvSpPr>
        <p:spPr>
          <a:xfrm>
            <a:off x="4533290" y="3840480"/>
            <a:ext cx="3125114" cy="1051560"/>
          </a:xfrm>
          <a:prstGeom prst="roundRect">
            <a:avLst>
              <a:gd name="adj" fmla="val 5217"/>
            </a:avLst>
          </a:prstGeom>
          <a:solidFill>
            <a:srgbClr val="FFFFFF"/>
          </a:solidFill>
          <a:ln w="9525">
            <a:solidFill>
              <a:srgbClr val="D9DDD6"/>
            </a:solidFill>
            <a:prstDash val="solid"/>
          </a:ln>
        </p:spPr>
      </p:sp>
      <p:sp>
        <p:nvSpPr>
          <p:cNvPr id="17" name="Text 13"/>
          <p:cNvSpPr txBox="1"/>
          <p:nvPr/>
        </p:nvSpPr>
        <p:spPr>
          <a:xfrm>
            <a:off x="4652162" y="3886200"/>
            <a:ext cx="2887370" cy="960120"/>
          </a:xfrm>
          <a:prstGeom prst="rect">
            <a:avLst/>
          </a:prstGeom>
          <a:noFill/>
          <a:ln/>
        </p:spPr>
        <p:txBody>
          <a:bodyPr wrap="square" lIns="0" tIns="0" rIns="0" bIns="0" rtlCol="0" anchor="ctr"/>
          <a:lstStyle/>
          <a:p>
            <a:pPr indent="0" marL="0">
              <a:buNone/>
            </a:pPr>
            <a:r>
              <a:rPr lang="en-US" sz="950" b="1" dirty="0">
                <a:solidFill>
                  <a:srgbClr val="155E68"/>
                </a:solidFill>
                <a:latin typeface="Calibri" pitchFamily="34" charset="0"/>
                <a:ea typeface="Calibri" pitchFamily="34" charset="-122"/>
                <a:cs typeface="Calibri" pitchFamily="34" charset="-120"/>
              </a:rPr>
              <a:t>Where we are  </a:t>
            </a:r>
            <a:pPr indent="0" marL="0">
              <a:buNone/>
            </a:pPr>
            <a:r>
              <a:rPr lang="en-US" sz="1050" dirty="0">
                <a:solidFill>
                  <a:srgbClr val="1F2A37"/>
                </a:solidFill>
                <a:latin typeface="Calibri" pitchFamily="34" charset="0"/>
                <a:ea typeface="Calibri" pitchFamily="34" charset="-122"/>
                <a:cs typeface="Calibri" pitchFamily="34" charset="-120"/>
              </a:rPr>
              <a:t>The gap markers make that work visible and assignable, but they do not make it smaller.</a:t>
            </a:r>
            <a:endParaRPr lang="en-US" sz="950" dirty="0"/>
          </a:p>
        </p:txBody>
      </p:sp>
      <p:sp>
        <p:nvSpPr>
          <p:cNvPr id="18" name="Shape 14"/>
          <p:cNvSpPr/>
          <p:nvPr/>
        </p:nvSpPr>
        <p:spPr>
          <a:xfrm>
            <a:off x="8106461" y="1371600"/>
            <a:ext cx="3582314" cy="3749040"/>
          </a:xfrm>
          <a:prstGeom prst="roundRect">
            <a:avLst>
              <a:gd name="adj" fmla="val 3063"/>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19" name="Shape 15"/>
          <p:cNvSpPr/>
          <p:nvPr/>
        </p:nvSpPr>
        <p:spPr>
          <a:xfrm>
            <a:off x="8335061" y="1600200"/>
            <a:ext cx="603504" cy="603504"/>
          </a:xfrm>
          <a:prstGeom prst="ellipse">
            <a:avLst/>
          </a:prstGeom>
          <a:solidFill>
            <a:srgbClr val="F08A00"/>
          </a:solidFill>
          <a:ln w="12700">
            <a:solidFill>
              <a:srgbClr val="F08A00"/>
            </a:solidFill>
            <a:prstDash val="solid"/>
          </a:ln>
        </p:spPr>
      </p:sp>
      <p:pic>
        <p:nvPicPr>
          <p:cNvPr id="20" name="Image 2" descr="preencoded.png">    </p:cNvPr>
          <p:cNvPicPr>
            <a:picLocks noChangeAspect="1"/>
          </p:cNvPicPr>
          <p:nvPr/>
        </p:nvPicPr>
        <p:blipFill>
          <a:blip r:embed="rId3"/>
          <a:stretch>
            <a:fillRect/>
          </a:stretch>
        </p:blipFill>
        <p:spPr>
          <a:xfrm>
            <a:off x="8485937" y="1751076"/>
            <a:ext cx="301752" cy="301752"/>
          </a:xfrm>
          <a:prstGeom prst="rect">
            <a:avLst/>
          </a:prstGeom>
        </p:spPr>
      </p:pic>
      <p:sp>
        <p:nvSpPr>
          <p:cNvPr id="21" name="Text 16"/>
          <p:cNvSpPr txBox="1"/>
          <p:nvPr/>
        </p:nvSpPr>
        <p:spPr>
          <a:xfrm>
            <a:off x="9066581" y="1600200"/>
            <a:ext cx="2393594" cy="603504"/>
          </a:xfrm>
          <a:prstGeom prst="rect">
            <a:avLst/>
          </a:prstGeom>
          <a:noFill/>
          <a:ln/>
        </p:spPr>
        <p:txBody>
          <a:bodyPr wrap="square" lIns="0" tIns="0" rIns="0" bIns="0" rtlCol="0" anchor="ctr"/>
          <a:lstStyle/>
          <a:p>
            <a:pPr indent="0" marL="0">
              <a:buNone/>
            </a:pPr>
            <a:r>
              <a:rPr lang="en-US" sz="1500" b="1" dirty="0">
                <a:solidFill>
                  <a:srgbClr val="1F2A37"/>
                </a:solidFill>
                <a:latin typeface="Calibri" pitchFamily="34" charset="0"/>
                <a:ea typeface="Calibri" pitchFamily="34" charset="-122"/>
                <a:cs typeface="Calibri" pitchFamily="34" charset="-120"/>
              </a:rPr>
              <a:t>No outside benchmark</a:t>
            </a:r>
            <a:endParaRPr lang="en-US" sz="1500" dirty="0"/>
          </a:p>
        </p:txBody>
      </p:sp>
      <p:sp>
        <p:nvSpPr>
          <p:cNvPr id="22" name="Text 17"/>
          <p:cNvSpPr txBox="1"/>
          <p:nvPr/>
        </p:nvSpPr>
        <p:spPr>
          <a:xfrm>
            <a:off x="8335061" y="2423160"/>
            <a:ext cx="3125114" cy="1325880"/>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Every improvement came from our own reviewers. We do not know how the approach compares with how other organizations govern AI in learning design, or what we have not thought of.</a:t>
            </a:r>
            <a:endParaRPr lang="en-US" sz="1200" dirty="0"/>
          </a:p>
        </p:txBody>
      </p:sp>
      <p:sp>
        <p:nvSpPr>
          <p:cNvPr id="23" name="Shape 18"/>
          <p:cNvSpPr/>
          <p:nvPr/>
        </p:nvSpPr>
        <p:spPr>
          <a:xfrm>
            <a:off x="8335061" y="3840480"/>
            <a:ext cx="3125114" cy="1051560"/>
          </a:xfrm>
          <a:prstGeom prst="roundRect">
            <a:avLst>
              <a:gd name="adj" fmla="val 5217"/>
            </a:avLst>
          </a:prstGeom>
          <a:solidFill>
            <a:srgbClr val="FFFFFF"/>
          </a:solidFill>
          <a:ln w="9525">
            <a:solidFill>
              <a:srgbClr val="D9DDD6"/>
            </a:solidFill>
            <a:prstDash val="solid"/>
          </a:ln>
        </p:spPr>
      </p:sp>
      <p:sp>
        <p:nvSpPr>
          <p:cNvPr id="24" name="Text 19"/>
          <p:cNvSpPr txBox="1"/>
          <p:nvPr/>
        </p:nvSpPr>
        <p:spPr>
          <a:xfrm>
            <a:off x="8453933" y="3886200"/>
            <a:ext cx="2887370" cy="960120"/>
          </a:xfrm>
          <a:prstGeom prst="rect">
            <a:avLst/>
          </a:prstGeom>
          <a:noFill/>
          <a:ln/>
        </p:spPr>
        <p:txBody>
          <a:bodyPr wrap="square" lIns="0" tIns="0" rIns="0" bIns="0" rtlCol="0" anchor="ctr"/>
          <a:lstStyle/>
          <a:p>
            <a:pPr indent="0" marL="0">
              <a:buNone/>
            </a:pPr>
            <a:r>
              <a:rPr lang="en-US" sz="950" b="1" dirty="0">
                <a:solidFill>
                  <a:srgbClr val="155E68"/>
                </a:solidFill>
                <a:latin typeface="Calibri" pitchFamily="34" charset="0"/>
                <a:ea typeface="Calibri" pitchFamily="34" charset="-122"/>
                <a:cs typeface="Calibri" pitchFamily="34" charset="-120"/>
              </a:rPr>
              <a:t>Where we are  </a:t>
            </a:r>
            <a:pPr indent="0" marL="0">
              <a:buNone/>
            </a:pPr>
            <a:r>
              <a:rPr lang="en-US" sz="1050" dirty="0">
                <a:solidFill>
                  <a:srgbClr val="1F2A37"/>
                </a:solidFill>
                <a:latin typeface="Calibri" pitchFamily="34" charset="0"/>
                <a:ea typeface="Calibri" pitchFamily="34" charset="-122"/>
                <a:cs typeface="Calibri" pitchFamily="34" charset="-120"/>
              </a:rPr>
              <a:t>This is the limit we can only remove with help from outside the team.</a:t>
            </a:r>
            <a:endParaRPr lang="en-US" sz="950" dirty="0"/>
          </a:p>
        </p:txBody>
      </p:sp>
      <p:sp>
        <p:nvSpPr>
          <p:cNvPr id="25" name="Shape 20"/>
          <p:cNvSpPr/>
          <p:nvPr/>
        </p:nvSpPr>
        <p:spPr>
          <a:xfrm>
            <a:off x="502920" y="5394960"/>
            <a:ext cx="11185855" cy="640080"/>
          </a:xfrm>
          <a:prstGeom prst="roundRect">
            <a:avLst>
              <a:gd name="adj" fmla="val 11429"/>
            </a:avLst>
          </a:prstGeom>
          <a:solidFill>
            <a:srgbClr val="0B2A3B"/>
          </a:solidFill>
          <a:ln w="12700">
            <a:solidFill>
              <a:srgbClr val="0B2A3B"/>
            </a:solidFill>
            <a:prstDash val="solid"/>
          </a:ln>
        </p:spPr>
      </p:sp>
      <p:sp>
        <p:nvSpPr>
          <p:cNvPr id="26" name="Text 21"/>
          <p:cNvSpPr txBox="1"/>
          <p:nvPr/>
        </p:nvSpPr>
        <p:spPr>
          <a:xfrm>
            <a:off x="777240" y="5394960"/>
            <a:ext cx="10637215" cy="64008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We treat these as design problems, not as reasons to stop: each one is observable, classified, and assigned to someone.</a:t>
            </a:r>
            <a:endParaRPr lang="en-US" sz="1250" dirty="0"/>
          </a:p>
        </p:txBody>
      </p:sp>
      <p:sp>
        <p:nvSpPr>
          <p:cNvPr id="27" name="Text 22"/>
          <p:cNvSpPr txBox="1"/>
          <p:nvPr/>
        </p:nvSpPr>
        <p:spPr>
          <a:xfrm>
            <a:off x="502920" y="6455664"/>
            <a:ext cx="5486400" cy="237744"/>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LSC Learning Engineering Team  ·  AI Storyboarding</a:t>
            </a:r>
            <a:endParaRPr lang="en-US" sz="900" dirty="0"/>
          </a:p>
        </p:txBody>
      </p:sp>
      <p:sp>
        <p:nvSpPr>
          <p:cNvPr id="28" name="Text 23"/>
          <p:cNvSpPr txBox="1"/>
          <p:nvPr/>
        </p:nvSpPr>
        <p:spPr>
          <a:xfrm>
            <a:off x="11140135" y="6455664"/>
            <a:ext cx="548640" cy="237744"/>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A"/>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658368"/>
          </a:xfrm>
          <a:prstGeom prst="rect">
            <a:avLst/>
          </a:prstGeom>
          <a:noFill/>
          <a:ln/>
        </p:spPr>
        <p:txBody>
          <a:bodyPr wrap="square" lIns="0" tIns="0" rIns="0" bIns="0" rtlCol="0" anchor="ctr"/>
          <a:lstStyle/>
          <a:p>
            <a:pPr indent="0" marL="0">
              <a:buNone/>
            </a:pPr>
            <a:r>
              <a:rPr lang="en-US" sz="3000" b="1" dirty="0">
                <a:solidFill>
                  <a:srgbClr val="1F2A37"/>
                </a:solidFill>
                <a:latin typeface="Cambria" pitchFamily="34" charset="0"/>
                <a:ea typeface="Cambria" pitchFamily="34" charset="-122"/>
                <a:cs typeface="Cambria" pitchFamily="34" charset="-120"/>
              </a:rPr>
              <a:t>The platform, not the prompt, is now the limit</a:t>
            </a:r>
            <a:endParaRPr lang="en-US" sz="3000" dirty="0"/>
          </a:p>
        </p:txBody>
      </p:sp>
      <p:sp>
        <p:nvSpPr>
          <p:cNvPr id="3" name="Text 1"/>
          <p:cNvSpPr txBox="1"/>
          <p:nvPr/>
        </p:nvSpPr>
        <p:spPr>
          <a:xfrm>
            <a:off x="502920" y="932688"/>
            <a:ext cx="11185855" cy="310896"/>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The standard is ready to scale beyond the team. The way it runs today is not.</a:t>
            </a:r>
            <a:endParaRPr lang="en-US" sz="1300" dirty="0"/>
          </a:p>
        </p:txBody>
      </p:sp>
      <p:sp>
        <p:nvSpPr>
          <p:cNvPr id="4" name="Shape 2"/>
          <p:cNvSpPr/>
          <p:nvPr/>
        </p:nvSpPr>
        <p:spPr>
          <a:xfrm>
            <a:off x="502920" y="1371600"/>
            <a:ext cx="3931920" cy="3749040"/>
          </a:xfrm>
          <a:prstGeom prst="roundRect">
            <a:avLst>
              <a:gd name="adj" fmla="val 2927"/>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5" name="Shape 3"/>
          <p:cNvSpPr/>
          <p:nvPr/>
        </p:nvSpPr>
        <p:spPr>
          <a:xfrm>
            <a:off x="731520" y="1600200"/>
            <a:ext cx="566928" cy="566928"/>
          </a:xfrm>
          <a:prstGeom prst="ellipse">
            <a:avLst/>
          </a:prstGeom>
          <a:solidFill>
            <a:srgbClr val="5B6770"/>
          </a:solidFill>
          <a:ln w="12700">
            <a:solidFill>
              <a:srgbClr val="5B6770"/>
            </a:solidFill>
            <a:prstDash val="solid"/>
          </a:ln>
        </p:spPr>
      </p:sp>
      <p:pic>
        <p:nvPicPr>
          <p:cNvPr id="6" name="Image 0" descr="preencoded.png">    </p:cNvPr>
          <p:cNvPicPr>
            <a:picLocks noChangeAspect="1"/>
          </p:cNvPicPr>
          <p:nvPr/>
        </p:nvPicPr>
        <p:blipFill>
          <a:blip r:embed="rId1"/>
          <a:stretch>
            <a:fillRect/>
          </a:stretch>
        </p:blipFill>
        <p:spPr>
          <a:xfrm>
            <a:off x="873252" y="1741932"/>
            <a:ext cx="283464" cy="283464"/>
          </a:xfrm>
          <a:prstGeom prst="rect">
            <a:avLst/>
          </a:prstGeom>
        </p:spPr>
      </p:pic>
      <p:sp>
        <p:nvSpPr>
          <p:cNvPr id="7" name="Text 4"/>
          <p:cNvSpPr txBox="1"/>
          <p:nvPr/>
        </p:nvSpPr>
        <p:spPr>
          <a:xfrm>
            <a:off x="1417320" y="1600200"/>
            <a:ext cx="2834640" cy="566928"/>
          </a:xfrm>
          <a:prstGeom prst="rect">
            <a:avLst/>
          </a:prstGeom>
          <a:noFill/>
          <a:ln/>
        </p:spPr>
        <p:txBody>
          <a:bodyPr wrap="square" lIns="0" tIns="0" rIns="0" bIns="0" rtlCol="0" anchor="ctr"/>
          <a:lstStyle/>
          <a:p>
            <a:pPr indent="0" marL="0">
              <a:buNone/>
            </a:pPr>
            <a:r>
              <a:rPr lang="en-US" sz="1500" b="1" dirty="0">
                <a:solidFill>
                  <a:srgbClr val="1F2A37"/>
                </a:solidFill>
                <a:latin typeface="Calibri" pitchFamily="34" charset="0"/>
                <a:ea typeface="Calibri" pitchFamily="34" charset="-122"/>
                <a:cs typeface="Calibri" pitchFamily="34" charset="-120"/>
              </a:rPr>
              <a:t>Today: a document and a link</a:t>
            </a:r>
            <a:endParaRPr lang="en-US" sz="1500" dirty="0"/>
          </a:p>
        </p:txBody>
      </p:sp>
      <p:sp>
        <p:nvSpPr>
          <p:cNvPr id="8" name="Text 5"/>
          <p:cNvSpPr txBox="1"/>
          <p:nvPr/>
        </p:nvSpPr>
        <p:spPr>
          <a:xfrm>
            <a:off x="731520" y="2377440"/>
            <a:ext cx="3474720" cy="256032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1F2A37"/>
                </a:solidFill>
                <a:latin typeface="Calibri" pitchFamily="34" charset="0"/>
                <a:ea typeface="Calibri" pitchFamily="34" charset="-122"/>
                <a:cs typeface="Calibri" pitchFamily="34" charset="-120"/>
              </a:rPr>
              <a:t>The prompt runs in a general-purpose AI chat; each run starts with a manual paste of the standard.</a:t>
            </a:r>
            <a:endParaRPr lang="en-US" sz="1150" dirty="0"/>
          </a:p>
          <a:p>
            <a:pPr marL="152400" indent="-152400">
              <a:spcAft>
                <a:spcPts val="700"/>
              </a:spcAft>
              <a:buSzPct val="100000"/>
              <a:buChar char="•"/>
            </a:pPr>
            <a:r>
              <a:rPr lang="en-US" sz="1150" dirty="0">
                <a:solidFill>
                  <a:srgbClr val="1F2A37"/>
                </a:solidFill>
                <a:latin typeface="Calibri" pitchFamily="34" charset="0"/>
                <a:ea typeface="Calibri" pitchFamily="34" charset="-122"/>
                <a:cs typeface="Calibri" pitchFamily="34" charset="-120"/>
              </a:rPr>
              <a:t>Upload and context limits cap how much of a source set one run can read.</a:t>
            </a:r>
            <a:endParaRPr lang="en-US" sz="1150" dirty="0"/>
          </a:p>
          <a:p>
            <a:pPr marL="152400" indent="-152400">
              <a:spcAft>
                <a:spcPts val="700"/>
              </a:spcAft>
              <a:buSzPct val="100000"/>
              <a:buChar char="•"/>
            </a:pPr>
            <a:r>
              <a:rPr lang="en-US" sz="1150" dirty="0">
                <a:solidFill>
                  <a:srgbClr val="1F2A37"/>
                </a:solidFill>
                <a:latin typeface="Calibri" pitchFamily="34" charset="0"/>
                <a:ea typeface="Calibri" pitchFamily="34" charset="-122"/>
                <a:cs typeface="Calibri" pitchFamily="34" charset="-120"/>
              </a:rPr>
              <a:t>No shared workspace: versions, usage and results are not tracked, and only one person runs it at a time.</a:t>
            </a:r>
            <a:endParaRPr lang="en-US" sz="1150" dirty="0"/>
          </a:p>
        </p:txBody>
      </p:sp>
      <p:sp>
        <p:nvSpPr>
          <p:cNvPr id="9" name="Shape 6"/>
          <p:cNvSpPr/>
          <p:nvPr/>
        </p:nvSpPr>
        <p:spPr>
          <a:xfrm>
            <a:off x="7756855" y="1371600"/>
            <a:ext cx="3931920" cy="3749040"/>
          </a:xfrm>
          <a:prstGeom prst="roundRect">
            <a:avLst>
              <a:gd name="adj" fmla="val 2927"/>
            </a:avLst>
          </a:prstGeom>
          <a:solidFill>
            <a:srgbClr val="F2F3EF"/>
          </a:solidFill>
          <a:ln w="9525">
            <a:solidFill>
              <a:srgbClr val="D9DDD6"/>
            </a:solidFill>
            <a:prstDash val="solid"/>
          </a:ln>
          <a:effectLst>
            <a:outerShdw sx="100000" sy="100000" kx="0" ky="0" algn="bl" rotWithShape="0" blurRad="76200" dist="25400" dir="2700000">
              <a:srgbClr val="000000">
                <a:alpha val="16000"/>
              </a:srgbClr>
            </a:outerShdw>
          </a:effectLst>
        </p:spPr>
      </p:sp>
      <p:sp>
        <p:nvSpPr>
          <p:cNvPr id="10" name="Shape 7"/>
          <p:cNvSpPr/>
          <p:nvPr/>
        </p:nvSpPr>
        <p:spPr>
          <a:xfrm>
            <a:off x="7985455" y="1600200"/>
            <a:ext cx="566928" cy="566928"/>
          </a:xfrm>
          <a:prstGeom prst="ellipse">
            <a:avLst/>
          </a:prstGeom>
          <a:solidFill>
            <a:srgbClr val="1B6B78"/>
          </a:solidFill>
          <a:ln w="12700">
            <a:solidFill>
              <a:srgbClr val="1B6B78"/>
            </a:solidFill>
            <a:prstDash val="solid"/>
          </a:ln>
        </p:spPr>
      </p:sp>
      <p:pic>
        <p:nvPicPr>
          <p:cNvPr id="11" name="Image 1" descr="preencoded.png">    </p:cNvPr>
          <p:cNvPicPr>
            <a:picLocks noChangeAspect="1"/>
          </p:cNvPicPr>
          <p:nvPr/>
        </p:nvPicPr>
        <p:blipFill>
          <a:blip r:embed="rId2"/>
          <a:stretch>
            <a:fillRect/>
          </a:stretch>
        </p:blipFill>
        <p:spPr>
          <a:xfrm>
            <a:off x="8127187" y="1741932"/>
            <a:ext cx="283464" cy="283464"/>
          </a:xfrm>
          <a:prstGeom prst="rect">
            <a:avLst/>
          </a:prstGeom>
        </p:spPr>
      </p:pic>
      <p:sp>
        <p:nvSpPr>
          <p:cNvPr id="12" name="Text 8"/>
          <p:cNvSpPr txBox="1"/>
          <p:nvPr/>
        </p:nvSpPr>
        <p:spPr>
          <a:xfrm>
            <a:off x="8671255" y="1600200"/>
            <a:ext cx="2834640" cy="566928"/>
          </a:xfrm>
          <a:prstGeom prst="rect">
            <a:avLst/>
          </a:prstGeom>
          <a:noFill/>
          <a:ln/>
        </p:spPr>
        <p:txBody>
          <a:bodyPr wrap="square" lIns="0" tIns="0" rIns="0" bIns="0" rtlCol="0" anchor="ctr"/>
          <a:lstStyle/>
          <a:p>
            <a:pPr indent="0" marL="0">
              <a:buNone/>
            </a:pPr>
            <a:r>
              <a:rPr lang="en-US" sz="1500" b="1" dirty="0">
                <a:solidFill>
                  <a:srgbClr val="1F2A37"/>
                </a:solidFill>
                <a:latin typeface="Calibri" pitchFamily="34" charset="0"/>
                <a:ea typeface="Calibri" pitchFamily="34" charset="-122"/>
                <a:cs typeface="Calibri" pitchFamily="34" charset="-120"/>
              </a:rPr>
              <a:t>What scale needs: a governed team tool</a:t>
            </a:r>
            <a:endParaRPr lang="en-US" sz="1500" dirty="0"/>
          </a:p>
        </p:txBody>
      </p:sp>
      <p:sp>
        <p:nvSpPr>
          <p:cNvPr id="13" name="Text 9"/>
          <p:cNvSpPr txBox="1"/>
          <p:nvPr/>
        </p:nvSpPr>
        <p:spPr>
          <a:xfrm>
            <a:off x="7985455" y="2377440"/>
            <a:ext cx="3474720" cy="256032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1F2A37"/>
                </a:solidFill>
                <a:latin typeface="Calibri" pitchFamily="34" charset="0"/>
                <a:ea typeface="Calibri" pitchFamily="34" charset="-122"/>
                <a:cs typeface="Calibri" pitchFamily="34" charset="-120"/>
              </a:rPr>
              <a:t>The prompt, the standards and the reference libraries stored once, versioned, and updated in one place.</a:t>
            </a:r>
            <a:endParaRPr lang="en-US" sz="1150" dirty="0"/>
          </a:p>
          <a:p>
            <a:pPr marL="152400" indent="-152400">
              <a:spcAft>
                <a:spcPts val="700"/>
              </a:spcAft>
              <a:buSzPct val="100000"/>
              <a:buChar char="•"/>
            </a:pPr>
            <a:r>
              <a:rPr lang="en-US" sz="1150" dirty="0">
                <a:solidFill>
                  <a:srgbClr val="1F2A37"/>
                </a:solidFill>
                <a:latin typeface="Calibri" pitchFamily="34" charset="0"/>
                <a:ea typeface="Calibri" pitchFamily="34" charset="-122"/>
                <a:cs typeface="Calibri" pitchFamily="34" charset="-120"/>
              </a:rPr>
              <a:t>Shared by the whole team and by partner units, with usage and results tracked.</a:t>
            </a:r>
            <a:endParaRPr lang="en-US" sz="1150" dirty="0"/>
          </a:p>
          <a:p>
            <a:pPr marL="152400" indent="-152400">
              <a:spcAft>
                <a:spcPts val="700"/>
              </a:spcAft>
              <a:buSzPct val="100000"/>
              <a:buChar char="•"/>
            </a:pPr>
            <a:r>
              <a:rPr lang="en-US" sz="1150" dirty="0">
                <a:solidFill>
                  <a:srgbClr val="1F2A37"/>
                </a:solidFill>
                <a:latin typeface="Calibri" pitchFamily="34" charset="0"/>
                <a:ea typeface="Calibri" pitchFamily="34" charset="-122"/>
                <a:cs typeface="Calibri" pitchFamily="34" charset="-120"/>
              </a:rPr>
              <a:t>Enough capacity to read a full source set and return a full storyboard in one run.</a:t>
            </a:r>
            <a:endParaRPr lang="en-US" sz="1150" dirty="0"/>
          </a:p>
        </p:txBody>
      </p:sp>
      <p:sp>
        <p:nvSpPr>
          <p:cNvPr id="14" name="Shape 10"/>
          <p:cNvSpPr/>
          <p:nvPr/>
        </p:nvSpPr>
        <p:spPr>
          <a:xfrm>
            <a:off x="4892040" y="1755648"/>
            <a:ext cx="2407615" cy="457200"/>
          </a:xfrm>
          <a:prstGeom prst="rightArrow">
            <a:avLst/>
          </a:prstGeom>
          <a:solidFill>
            <a:srgbClr val="F08A00"/>
          </a:solidFill>
          <a:ln w="12700">
            <a:solidFill>
              <a:srgbClr val="F08A00"/>
            </a:solidFill>
            <a:prstDash val="solid"/>
          </a:ln>
        </p:spPr>
      </p:sp>
      <p:sp>
        <p:nvSpPr>
          <p:cNvPr id="15" name="Text 11"/>
          <p:cNvSpPr txBox="1"/>
          <p:nvPr/>
        </p:nvSpPr>
        <p:spPr>
          <a:xfrm>
            <a:off x="4709160" y="2240280"/>
            <a:ext cx="2773375" cy="274320"/>
          </a:xfrm>
          <a:prstGeom prst="rect">
            <a:avLst/>
          </a:prstGeom>
          <a:noFill/>
          <a:ln/>
        </p:spPr>
        <p:txBody>
          <a:bodyPr wrap="square" lIns="0" tIns="0" rIns="0" bIns="0" rtlCol="0" anchor="ctr"/>
          <a:lstStyle/>
          <a:p>
            <a:pPr algn="ctr" indent="0" marL="0">
              <a:buNone/>
            </a:pPr>
            <a:r>
              <a:rPr lang="en-US" sz="1100" i="1" dirty="0">
                <a:solidFill>
                  <a:srgbClr val="5B6770"/>
                </a:solidFill>
                <a:latin typeface="Calibri" pitchFamily="34" charset="0"/>
                <a:ea typeface="Calibri" pitchFamily="34" charset="-122"/>
                <a:cs typeface="Calibri" pitchFamily="34" charset="-120"/>
              </a:rPr>
              <a:t>the gap</a:t>
            </a:r>
            <a:endParaRPr lang="en-US" sz="1100" dirty="0"/>
          </a:p>
        </p:txBody>
      </p:sp>
      <p:sp>
        <p:nvSpPr>
          <p:cNvPr id="16" name="Text 12"/>
          <p:cNvSpPr txBox="1"/>
          <p:nvPr/>
        </p:nvSpPr>
        <p:spPr>
          <a:xfrm>
            <a:off x="4709160" y="2697480"/>
            <a:ext cx="2773375" cy="274320"/>
          </a:xfrm>
          <a:prstGeom prst="rect">
            <a:avLst/>
          </a:prstGeom>
          <a:noFill/>
          <a:ln/>
        </p:spPr>
        <p:txBody>
          <a:bodyPr wrap="square" lIns="0" tIns="0" rIns="0" bIns="0" rtlCol="0" anchor="ctr"/>
          <a:lstStyle/>
          <a:p>
            <a:pPr algn="ctr" indent="0" marL="0">
              <a:buNone/>
            </a:pPr>
            <a:r>
              <a:rPr lang="en-US" sz="1200" b="1" dirty="0">
                <a:solidFill>
                  <a:srgbClr val="1F2A37"/>
                </a:solidFill>
                <a:latin typeface="Calibri" pitchFamily="34" charset="0"/>
                <a:ea typeface="Calibri" pitchFamily="34" charset="-122"/>
                <a:cs typeface="Calibri" pitchFamily="34" charset="-120"/>
              </a:rPr>
              <a:t>What we have tried</a:t>
            </a:r>
            <a:endParaRPr lang="en-US" sz="1200" dirty="0"/>
          </a:p>
        </p:txBody>
      </p:sp>
      <p:sp>
        <p:nvSpPr>
          <p:cNvPr id="17" name="Shape 13"/>
          <p:cNvSpPr/>
          <p:nvPr/>
        </p:nvSpPr>
        <p:spPr>
          <a:xfrm>
            <a:off x="4709160" y="3063240"/>
            <a:ext cx="2773375" cy="914400"/>
          </a:xfrm>
          <a:prstGeom prst="roundRect">
            <a:avLst>
              <a:gd name="adj" fmla="val 6000"/>
            </a:avLst>
          </a:prstGeom>
          <a:solidFill>
            <a:srgbClr val="FFFFFF"/>
          </a:solidFill>
          <a:ln w="9525">
            <a:solidFill>
              <a:srgbClr val="D9DDD6"/>
            </a:solidFill>
            <a:prstDash val="solid"/>
          </a:ln>
        </p:spPr>
      </p:sp>
      <p:sp>
        <p:nvSpPr>
          <p:cNvPr id="18" name="Text 14"/>
          <p:cNvSpPr txBox="1"/>
          <p:nvPr/>
        </p:nvSpPr>
        <p:spPr>
          <a:xfrm>
            <a:off x="4846320" y="3118104"/>
            <a:ext cx="2499055" cy="804672"/>
          </a:xfrm>
          <a:prstGeom prst="rect">
            <a:avLst/>
          </a:prstGeom>
          <a:noFill/>
          <a:ln/>
        </p:spPr>
        <p:txBody>
          <a:bodyPr wrap="square" lIns="0" tIns="0" rIns="0" bIns="0" rtlCol="0" anchor="ctr"/>
          <a:lstStyle/>
          <a:p>
            <a:pPr indent="0" marL="0">
              <a:buNone/>
            </a:pPr>
            <a:r>
              <a:rPr lang="en-US" sz="1100" b="1" dirty="0">
                <a:solidFill>
                  <a:srgbClr val="1F2A37"/>
                </a:solidFill>
                <a:latin typeface="Calibri" pitchFamily="34" charset="0"/>
                <a:ea typeface="Calibri" pitchFamily="34" charset="-122"/>
                <a:cs typeface="Calibri" pitchFamily="34" charset="-120"/>
              </a:rPr>
              <a:t>Azure AI Foundry</a:t>
            </a:r>
            <a:endParaRPr lang="en-US" sz="1100" dirty="0"/>
          </a:p>
          <a:p>
            <a:pPr indent="0" marL="0">
              <a:buNone/>
            </a:pPr>
            <a:r>
              <a:rPr lang="en-US" sz="1000" dirty="0">
                <a:solidFill>
                  <a:srgbClr val="5B6770"/>
                </a:solidFill>
                <a:latin typeface="Calibri" pitchFamily="34" charset="0"/>
                <a:ea typeface="Calibri" pitchFamily="34" charset="-122"/>
                <a:cs typeface="Calibri" pitchFamily="34" charset="-120"/>
              </a:rPr>
              <a:t>Capacity and compute limits in our environment; too small for a full source set.</a:t>
            </a:r>
            <a:endParaRPr lang="en-US" sz="1100" dirty="0"/>
          </a:p>
        </p:txBody>
      </p:sp>
      <p:sp>
        <p:nvSpPr>
          <p:cNvPr id="19" name="Shape 15"/>
          <p:cNvSpPr/>
          <p:nvPr/>
        </p:nvSpPr>
        <p:spPr>
          <a:xfrm>
            <a:off x="4709160" y="4069080"/>
            <a:ext cx="2773375" cy="914400"/>
          </a:xfrm>
          <a:prstGeom prst="roundRect">
            <a:avLst>
              <a:gd name="adj" fmla="val 6000"/>
            </a:avLst>
          </a:prstGeom>
          <a:solidFill>
            <a:srgbClr val="FFFFFF"/>
          </a:solidFill>
          <a:ln w="9525">
            <a:solidFill>
              <a:srgbClr val="D9DDD6"/>
            </a:solidFill>
            <a:prstDash val="solid"/>
          </a:ln>
        </p:spPr>
      </p:sp>
      <p:sp>
        <p:nvSpPr>
          <p:cNvPr id="20" name="Text 16"/>
          <p:cNvSpPr txBox="1"/>
          <p:nvPr/>
        </p:nvSpPr>
        <p:spPr>
          <a:xfrm>
            <a:off x="4846320" y="4123944"/>
            <a:ext cx="2499055" cy="804672"/>
          </a:xfrm>
          <a:prstGeom prst="rect">
            <a:avLst/>
          </a:prstGeom>
          <a:noFill/>
          <a:ln/>
        </p:spPr>
        <p:txBody>
          <a:bodyPr wrap="square" lIns="0" tIns="0" rIns="0" bIns="0" rtlCol="0" anchor="ctr"/>
          <a:lstStyle/>
          <a:p>
            <a:pPr indent="0" marL="0">
              <a:buNone/>
            </a:pPr>
            <a:r>
              <a:rPr lang="en-US" sz="1100" b="1" dirty="0">
                <a:solidFill>
                  <a:srgbClr val="1F2A37"/>
                </a:solidFill>
                <a:latin typeface="Calibri" pitchFamily="34" charset="0"/>
                <a:ea typeface="Calibri" pitchFamily="34" charset="-122"/>
                <a:cs typeface="Calibri" pitchFamily="34" charset="-120"/>
              </a:rPr>
              <a:t>Copilot agent, current tier</a:t>
            </a:r>
            <a:endParaRPr lang="en-US" sz="1100" dirty="0"/>
          </a:p>
          <a:p>
            <a:pPr indent="0" marL="0">
              <a:buNone/>
            </a:pPr>
            <a:r>
              <a:rPr lang="en-US" sz="1000" dirty="0">
                <a:solidFill>
                  <a:srgbClr val="5B6770"/>
                </a:solidFill>
                <a:latin typeface="Calibri" pitchFamily="34" charset="0"/>
                <a:ea typeface="Calibri" pitchFamily="34" charset="-122"/>
                <a:cs typeface="Calibri" pitchFamily="34" charset="-120"/>
              </a:rPr>
              <a:t>Feature and upload limits; the standard cannot be stored and shared as an agent.</a:t>
            </a:r>
            <a:endParaRPr lang="en-US" sz="1100" dirty="0"/>
          </a:p>
        </p:txBody>
      </p:sp>
      <p:sp>
        <p:nvSpPr>
          <p:cNvPr id="21" name="Shape 17"/>
          <p:cNvSpPr/>
          <p:nvPr/>
        </p:nvSpPr>
        <p:spPr>
          <a:xfrm>
            <a:off x="502920" y="5349240"/>
            <a:ext cx="11185855" cy="868680"/>
          </a:xfrm>
          <a:prstGeom prst="roundRect">
            <a:avLst>
              <a:gd name="adj" fmla="val 8421"/>
            </a:avLst>
          </a:prstGeom>
          <a:solidFill>
            <a:srgbClr val="DCE7E3"/>
          </a:solidFill>
          <a:ln w="12700">
            <a:solidFill>
              <a:srgbClr val="DCE7E3"/>
            </a:solidFill>
            <a:prstDash val="solid"/>
          </a:ln>
        </p:spPr>
      </p:sp>
      <p:sp>
        <p:nvSpPr>
          <p:cNvPr id="22" name="Text 18"/>
          <p:cNvSpPr txBox="1"/>
          <p:nvPr/>
        </p:nvSpPr>
        <p:spPr>
          <a:xfrm>
            <a:off x="777240" y="5349240"/>
            <a:ext cx="10637215" cy="868680"/>
          </a:xfrm>
          <a:prstGeom prst="rect">
            <a:avLst/>
          </a:prstGeom>
          <a:noFill/>
          <a:ln/>
        </p:spPr>
        <p:txBody>
          <a:bodyPr wrap="square" lIns="0" tIns="0" rIns="0" bIns="0" rtlCol="0" anchor="ctr"/>
          <a:lstStyle/>
          <a:p>
            <a:pPr indent="0" marL="0">
              <a:buNone/>
            </a:pPr>
            <a:r>
              <a:rPr lang="en-US" sz="1200" b="1" dirty="0">
                <a:solidFill>
                  <a:srgbClr val="155E68"/>
                </a:solidFill>
                <a:latin typeface="Calibri" pitchFamily="34" charset="0"/>
                <a:ea typeface="Calibri" pitchFamily="34" charset="-122"/>
                <a:cs typeface="Calibri" pitchFamily="34" charset="-120"/>
              </a:rPr>
              <a:t>The question we cannot answer alone:  </a:t>
            </a:r>
            <a:pPr indent="0" marL="0">
              <a:buNone/>
            </a:pPr>
            <a:r>
              <a:rPr lang="en-US" sz="1200" dirty="0">
                <a:solidFill>
                  <a:srgbClr val="1F2A37"/>
                </a:solidFill>
                <a:latin typeface="Calibri" pitchFamily="34" charset="0"/>
                <a:ea typeface="Calibri" pitchFamily="34" charset="-122"/>
                <a:cs typeface="Calibri" pitchFamily="34" charset="-120"/>
              </a:rPr>
              <a:t>which platform, and which hosting approach, lets a practitioner-governed prompt run as a shared, governed tool inside a Government of Canada environment?</a:t>
            </a:r>
            <a:endParaRPr lang="en-US" sz="1200" dirty="0"/>
          </a:p>
        </p:txBody>
      </p:sp>
      <p:sp>
        <p:nvSpPr>
          <p:cNvPr id="23" name="Text 19"/>
          <p:cNvSpPr txBox="1"/>
          <p:nvPr/>
        </p:nvSpPr>
        <p:spPr>
          <a:xfrm>
            <a:off x="502920" y="6455664"/>
            <a:ext cx="5486400" cy="237744"/>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LSC Learning Engineering Team  ·  AI Storyboarding</a:t>
            </a:r>
            <a:endParaRPr lang="en-US" sz="900" dirty="0"/>
          </a:p>
        </p:txBody>
      </p:sp>
      <p:sp>
        <p:nvSpPr>
          <p:cNvPr id="24" name="Text 20"/>
          <p:cNvSpPr txBox="1"/>
          <p:nvPr/>
        </p:nvSpPr>
        <p:spPr>
          <a:xfrm>
            <a:off x="11140135" y="6455664"/>
            <a:ext cx="548640" cy="237744"/>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A3B"/>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we would welcome your expertise</a:t>
            </a:r>
            <a:endParaRPr lang="en-US" sz="3000" dirty="0"/>
          </a:p>
        </p:txBody>
      </p:sp>
      <p:sp>
        <p:nvSpPr>
          <p:cNvPr id="3" name="Text 1"/>
          <p:cNvSpPr txBox="1"/>
          <p:nvPr/>
        </p:nvSpPr>
        <p:spPr>
          <a:xfrm>
            <a:off x="502920" y="932688"/>
            <a:ext cx="11185855" cy="310896"/>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We can describe the problem precisely. We do not have the capacity to solve it alone.</a:t>
            </a:r>
            <a:endParaRPr lang="en-US" sz="1300" dirty="0"/>
          </a:p>
        </p:txBody>
      </p:sp>
      <p:sp>
        <p:nvSpPr>
          <p:cNvPr id="4" name="Shape 2"/>
          <p:cNvSpPr/>
          <p:nvPr/>
        </p:nvSpPr>
        <p:spPr>
          <a:xfrm>
            <a:off x="502920" y="1554480"/>
            <a:ext cx="3545738" cy="3063240"/>
          </a:xfrm>
          <a:prstGeom prst="roundRect">
            <a:avLst>
              <a:gd name="adj" fmla="val 3582"/>
            </a:avLst>
          </a:prstGeom>
          <a:solidFill>
            <a:srgbClr val="123A4E"/>
          </a:solidFill>
          <a:ln w="9525">
            <a:solidFill>
              <a:srgbClr val="1E4D63"/>
            </a:solidFill>
            <a:prstDash val="solid"/>
          </a:ln>
        </p:spPr>
      </p:sp>
      <p:sp>
        <p:nvSpPr>
          <p:cNvPr id="5" name="Shape 3"/>
          <p:cNvSpPr/>
          <p:nvPr/>
        </p:nvSpPr>
        <p:spPr>
          <a:xfrm>
            <a:off x="1864309" y="1874520"/>
            <a:ext cx="822960" cy="822960"/>
          </a:xfrm>
          <a:prstGeom prst="ellipse">
            <a:avLst/>
          </a:prstGeom>
          <a:solidFill>
            <a:srgbClr val="1B6B78"/>
          </a:solidFill>
          <a:ln w="12700">
            <a:solidFill>
              <a:srgbClr val="1B6B78"/>
            </a:solidFill>
            <a:prstDash val="solid"/>
          </a:ln>
        </p:spPr>
      </p:sp>
      <p:pic>
        <p:nvPicPr>
          <p:cNvPr id="6" name="Image 0" descr="preencoded.png">    </p:cNvPr>
          <p:cNvPicPr>
            <a:picLocks noChangeAspect="1"/>
          </p:cNvPicPr>
          <p:nvPr/>
        </p:nvPicPr>
        <p:blipFill>
          <a:blip r:embed="rId1"/>
          <a:stretch>
            <a:fillRect/>
          </a:stretch>
        </p:blipFill>
        <p:spPr>
          <a:xfrm>
            <a:off x="2070049" y="2080260"/>
            <a:ext cx="411480" cy="411480"/>
          </a:xfrm>
          <a:prstGeom prst="rect">
            <a:avLst/>
          </a:prstGeom>
        </p:spPr>
      </p:pic>
      <p:sp>
        <p:nvSpPr>
          <p:cNvPr id="7" name="Text 4"/>
          <p:cNvSpPr txBox="1"/>
          <p:nvPr/>
        </p:nvSpPr>
        <p:spPr>
          <a:xfrm>
            <a:off x="685800" y="2834640"/>
            <a:ext cx="3179978" cy="384048"/>
          </a:xfrm>
          <a:prstGeom prst="rect">
            <a:avLst/>
          </a:prstGeom>
          <a:noFill/>
          <a:ln/>
        </p:spPr>
        <p:txBody>
          <a:bodyPr wrap="square" lIns="0" tIns="0" rIns="0" bIns="0" rtlCol="0" anchor="ctr"/>
          <a:lstStyle/>
          <a:p>
            <a:pPr algn="ctr" indent="0" marL="0">
              <a:buNone/>
            </a:pPr>
            <a:r>
              <a:rPr lang="en-US" sz="1800" b="1" dirty="0">
                <a:solidFill>
                  <a:srgbClr val="F5C518"/>
                </a:solidFill>
                <a:latin typeface="Calibri" pitchFamily="34" charset="0"/>
                <a:ea typeface="Calibri" pitchFamily="34" charset="-122"/>
                <a:cs typeface="Calibri" pitchFamily="34" charset="-120"/>
              </a:rPr>
              <a:t>A benchmark</a:t>
            </a:r>
            <a:endParaRPr lang="en-US" sz="1800" dirty="0"/>
          </a:p>
        </p:txBody>
      </p:sp>
      <p:sp>
        <p:nvSpPr>
          <p:cNvPr id="8" name="Text 5"/>
          <p:cNvSpPr txBox="1"/>
          <p:nvPr/>
        </p:nvSpPr>
        <p:spPr>
          <a:xfrm>
            <a:off x="822960" y="3291840"/>
            <a:ext cx="2905658" cy="155448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Tell us how this compares with your own practice: what is strong, what you would change, and what we have not seen yet.</a:t>
            </a:r>
            <a:endParaRPr lang="en-US" sz="1200" dirty="0"/>
          </a:p>
        </p:txBody>
      </p:sp>
      <p:sp>
        <p:nvSpPr>
          <p:cNvPr id="9" name="Shape 6"/>
          <p:cNvSpPr/>
          <p:nvPr/>
        </p:nvSpPr>
        <p:spPr>
          <a:xfrm>
            <a:off x="4322978" y="1554480"/>
            <a:ext cx="3545738" cy="3063240"/>
          </a:xfrm>
          <a:prstGeom prst="roundRect">
            <a:avLst>
              <a:gd name="adj" fmla="val 3582"/>
            </a:avLst>
          </a:prstGeom>
          <a:solidFill>
            <a:srgbClr val="123A4E"/>
          </a:solidFill>
          <a:ln w="9525">
            <a:solidFill>
              <a:srgbClr val="1E4D63"/>
            </a:solidFill>
            <a:prstDash val="solid"/>
          </a:ln>
        </p:spPr>
      </p:sp>
      <p:sp>
        <p:nvSpPr>
          <p:cNvPr id="10" name="Shape 7"/>
          <p:cNvSpPr/>
          <p:nvPr/>
        </p:nvSpPr>
        <p:spPr>
          <a:xfrm>
            <a:off x="5684368" y="1874520"/>
            <a:ext cx="822960" cy="822960"/>
          </a:xfrm>
          <a:prstGeom prst="ellipse">
            <a:avLst/>
          </a:prstGeom>
          <a:solidFill>
            <a:srgbClr val="F08A00"/>
          </a:solidFill>
          <a:ln w="12700">
            <a:solidFill>
              <a:srgbClr val="F08A00"/>
            </a:solidFill>
            <a:prstDash val="solid"/>
          </a:ln>
        </p:spPr>
      </p:sp>
      <p:pic>
        <p:nvPicPr>
          <p:cNvPr id="11" name="Image 1" descr="preencoded.png">    </p:cNvPr>
          <p:cNvPicPr>
            <a:picLocks noChangeAspect="1"/>
          </p:cNvPicPr>
          <p:nvPr/>
        </p:nvPicPr>
        <p:blipFill>
          <a:blip r:embed="rId2"/>
          <a:stretch>
            <a:fillRect/>
          </a:stretch>
        </p:blipFill>
        <p:spPr>
          <a:xfrm>
            <a:off x="5890108" y="2080260"/>
            <a:ext cx="411480" cy="411480"/>
          </a:xfrm>
          <a:prstGeom prst="rect">
            <a:avLst/>
          </a:prstGeom>
        </p:spPr>
      </p:pic>
      <p:sp>
        <p:nvSpPr>
          <p:cNvPr id="12" name="Text 8"/>
          <p:cNvSpPr txBox="1"/>
          <p:nvPr/>
        </p:nvSpPr>
        <p:spPr>
          <a:xfrm>
            <a:off x="4505858" y="2834640"/>
            <a:ext cx="3179978" cy="384048"/>
          </a:xfrm>
          <a:prstGeom prst="rect">
            <a:avLst/>
          </a:prstGeom>
          <a:noFill/>
          <a:ln/>
        </p:spPr>
        <p:txBody>
          <a:bodyPr wrap="square" lIns="0" tIns="0" rIns="0" bIns="0" rtlCol="0" anchor="ctr"/>
          <a:lstStyle/>
          <a:p>
            <a:pPr algn="ctr" indent="0" marL="0">
              <a:buNone/>
            </a:pPr>
            <a:r>
              <a:rPr lang="en-US" sz="1800" b="1" dirty="0">
                <a:solidFill>
                  <a:srgbClr val="F5C518"/>
                </a:solidFill>
                <a:latin typeface="Calibri" pitchFamily="34" charset="0"/>
                <a:ea typeface="Calibri" pitchFamily="34" charset="-122"/>
                <a:cs typeface="Calibri" pitchFamily="34" charset="-120"/>
              </a:rPr>
              <a:t>A path to scale</a:t>
            </a:r>
            <a:endParaRPr lang="en-US" sz="1800" dirty="0"/>
          </a:p>
        </p:txBody>
      </p:sp>
      <p:sp>
        <p:nvSpPr>
          <p:cNvPr id="13" name="Text 9"/>
          <p:cNvSpPr txBox="1"/>
          <p:nvPr/>
        </p:nvSpPr>
        <p:spPr>
          <a:xfrm>
            <a:off x="4643018" y="3291840"/>
            <a:ext cx="2905658" cy="155448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A platform, a person, or an approach that lets the prompt run as a governed, shared tool: any of the three would move us forward.</a:t>
            </a:r>
            <a:endParaRPr lang="en-US" sz="1200" dirty="0"/>
          </a:p>
        </p:txBody>
      </p:sp>
      <p:sp>
        <p:nvSpPr>
          <p:cNvPr id="14" name="Shape 10"/>
          <p:cNvSpPr/>
          <p:nvPr/>
        </p:nvSpPr>
        <p:spPr>
          <a:xfrm>
            <a:off x="8143037" y="1554480"/>
            <a:ext cx="3545738" cy="3063240"/>
          </a:xfrm>
          <a:prstGeom prst="roundRect">
            <a:avLst>
              <a:gd name="adj" fmla="val 3582"/>
            </a:avLst>
          </a:prstGeom>
          <a:solidFill>
            <a:srgbClr val="123A4E"/>
          </a:solidFill>
          <a:ln w="9525">
            <a:solidFill>
              <a:srgbClr val="1E4D63"/>
            </a:solidFill>
            <a:prstDash val="solid"/>
          </a:ln>
        </p:spPr>
      </p:sp>
      <p:sp>
        <p:nvSpPr>
          <p:cNvPr id="15" name="Shape 11"/>
          <p:cNvSpPr/>
          <p:nvPr/>
        </p:nvSpPr>
        <p:spPr>
          <a:xfrm>
            <a:off x="9504426" y="1874520"/>
            <a:ext cx="822960" cy="822960"/>
          </a:xfrm>
          <a:prstGeom prst="ellipse">
            <a:avLst/>
          </a:prstGeom>
          <a:solidFill>
            <a:srgbClr val="1B6B78"/>
          </a:solidFill>
          <a:ln w="12700">
            <a:solidFill>
              <a:srgbClr val="1B6B78"/>
            </a:solidFill>
            <a:prstDash val="solid"/>
          </a:ln>
        </p:spPr>
      </p:sp>
      <p:pic>
        <p:nvPicPr>
          <p:cNvPr id="16" name="Image 2" descr="preencoded.png">    </p:cNvPr>
          <p:cNvPicPr>
            <a:picLocks noChangeAspect="1"/>
          </p:cNvPicPr>
          <p:nvPr/>
        </p:nvPicPr>
        <p:blipFill>
          <a:blip r:embed="rId3"/>
          <a:stretch>
            <a:fillRect/>
          </a:stretch>
        </p:blipFill>
        <p:spPr>
          <a:xfrm>
            <a:off x="9710166" y="2080260"/>
            <a:ext cx="411480" cy="411480"/>
          </a:xfrm>
          <a:prstGeom prst="rect">
            <a:avLst/>
          </a:prstGeom>
        </p:spPr>
      </p:pic>
      <p:sp>
        <p:nvSpPr>
          <p:cNvPr id="17" name="Text 12"/>
          <p:cNvSpPr txBox="1"/>
          <p:nvPr/>
        </p:nvSpPr>
        <p:spPr>
          <a:xfrm>
            <a:off x="8325917" y="2834640"/>
            <a:ext cx="3179978" cy="384048"/>
          </a:xfrm>
          <a:prstGeom prst="rect">
            <a:avLst/>
          </a:prstGeom>
          <a:noFill/>
          <a:ln/>
        </p:spPr>
        <p:txBody>
          <a:bodyPr wrap="square" lIns="0" tIns="0" rIns="0" bIns="0" rtlCol="0" anchor="ctr"/>
          <a:lstStyle/>
          <a:p>
            <a:pPr algn="ctr" indent="0" marL="0">
              <a:buNone/>
            </a:pPr>
            <a:r>
              <a:rPr lang="en-US" sz="1800" b="1" dirty="0">
                <a:solidFill>
                  <a:srgbClr val="F5C518"/>
                </a:solidFill>
                <a:latin typeface="Calibri" pitchFamily="34" charset="0"/>
                <a:ea typeface="Calibri" pitchFamily="34" charset="-122"/>
                <a:cs typeface="Calibri" pitchFamily="34" charset="-120"/>
              </a:rPr>
              <a:t>An exchange</a:t>
            </a:r>
            <a:endParaRPr lang="en-US" sz="1800" dirty="0"/>
          </a:p>
        </p:txBody>
      </p:sp>
      <p:sp>
        <p:nvSpPr>
          <p:cNvPr id="18" name="Text 13"/>
          <p:cNvSpPr txBox="1"/>
          <p:nvPr/>
        </p:nvSpPr>
        <p:spPr>
          <a:xfrm>
            <a:off x="8463077" y="3291840"/>
            <a:ext cx="2905658" cy="155448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We will share the standard, the change log and the review method. We would like to learn how others govern AI in learning design.</a:t>
            </a:r>
            <a:endParaRPr lang="en-US" sz="1200" dirty="0"/>
          </a:p>
        </p:txBody>
      </p:sp>
      <p:sp>
        <p:nvSpPr>
          <p:cNvPr id="19" name="Text 14"/>
          <p:cNvSpPr txBox="1"/>
          <p:nvPr/>
        </p:nvSpPr>
        <p:spPr>
          <a:xfrm>
            <a:off x="502920" y="4983480"/>
            <a:ext cx="11185855"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20" name="Text 15"/>
          <p:cNvSpPr txBox="1"/>
          <p:nvPr/>
        </p:nvSpPr>
        <p:spPr>
          <a:xfrm>
            <a:off x="502920" y="5504688"/>
            <a:ext cx="11185855" cy="310896"/>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LSC Learning Engineering Team  ·  Learning Support Centre  /  Centre de soutien à l’apprentissage</a:t>
            </a:r>
            <a:endParaRPr lang="en-US" sz="1200" dirty="0"/>
          </a:p>
        </p:txBody>
      </p:sp>
      <p:sp>
        <p:nvSpPr>
          <p:cNvPr id="21" name="Text 16"/>
          <p:cNvSpPr txBox="1"/>
          <p:nvPr/>
        </p:nvSpPr>
        <p:spPr>
          <a:xfrm>
            <a:off x="502920" y="6455664"/>
            <a:ext cx="5486400" cy="237744"/>
          </a:xfrm>
          <a:prstGeom prst="rect">
            <a:avLst/>
          </a:prstGeom>
          <a:noFill/>
          <a:ln/>
        </p:spPr>
        <p:txBody>
          <a:bodyPr wrap="square" lIns="0" tIns="0" rIns="0" bIns="0" rtlCol="0" anchor="ctr"/>
          <a:lstStyle/>
          <a:p>
            <a:pPr indent="0" marL="0">
              <a:buNone/>
            </a:pPr>
            <a:r>
              <a:rPr lang="en-US" sz="900" dirty="0">
                <a:solidFill>
                  <a:srgbClr val="9DB4C0"/>
                </a:solidFill>
                <a:latin typeface="Calibri" pitchFamily="34" charset="0"/>
                <a:ea typeface="Calibri" pitchFamily="34" charset="-122"/>
                <a:cs typeface="Calibri" pitchFamily="34" charset="-120"/>
              </a:rPr>
              <a:t>LSC Learning Engineering Team  ·  AI Storyboarding</a:t>
            </a:r>
            <a:endParaRPr lang="en-US" sz="900" dirty="0"/>
          </a:p>
        </p:txBody>
      </p:sp>
      <p:sp>
        <p:nvSpPr>
          <p:cNvPr id="22" name="Text 17"/>
          <p:cNvSpPr txBox="1"/>
          <p:nvPr/>
        </p:nvSpPr>
        <p:spPr>
          <a:xfrm>
            <a:off x="11140135" y="6455664"/>
            <a:ext cx="548640" cy="237744"/>
          </a:xfrm>
          <a:prstGeom prst="rect">
            <a:avLst/>
          </a:prstGeom>
          <a:noFill/>
          <a:ln/>
        </p:spPr>
        <p:txBody>
          <a:bodyPr wrap="square" lIns="0" tIns="0" rIns="0" bIns="0" rtlCol="0" anchor="ctr"/>
          <a:lstStyle/>
          <a:p>
            <a:pPr algn="r" indent="0" marL="0">
              <a:buNone/>
            </a:pPr>
            <a:r>
              <a:rPr lang="en-US" sz="900" dirty="0">
                <a:solidFill>
                  <a:srgbClr val="9DB4C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Transforming Learning Design at Scale</dc:title>
  <dc:subject>PptxGenJS Presentation</dc:subject>
  <dc:creator>LSC Learning Engineering Team</dc:creator>
  <cp:lastModifiedBy>LSC Learning Engineering Team</cp:lastModifiedBy>
  <cp:revision>1</cp:revision>
  <dcterms:created xsi:type="dcterms:W3CDTF">2026-09-25T16:17:50Z</dcterms:created>
  <dcterms:modified xsi:type="dcterms:W3CDTF">2026-09-25T16:17:50Z</dcterms:modified>
</cp:coreProperties>
</file>